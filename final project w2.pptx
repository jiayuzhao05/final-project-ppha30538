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0" r:id="rId1"/>
    <p:sldMasterId id="2147483671" r:id="rId2"/>
  </p:sldMasterIdLst>
  <p:notesMasterIdLst>
    <p:notesMasterId r:id="rId11"/>
  </p:notesMasterIdLst>
  <p:sldIdLst>
    <p:sldId id="256" r:id="rId3"/>
    <p:sldId id="257" r:id="rId4"/>
    <p:sldId id="258" r:id="rId5"/>
    <p:sldId id="259" r:id="rId6"/>
    <p:sldId id="260" r:id="rId7"/>
    <p:sldId id="261" r:id="rId8"/>
    <p:sldId id="262" r:id="rId9"/>
    <p:sldId id="263" r:id="rId1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5" d="100"/>
          <a:sy n="125" d="100"/>
        </p:scale>
        <p:origin x="226" y="-41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c4eb2d0838_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7" name="Google Shape;127;g3c4eb2d0838_2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c4eb2d0838_2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g3c4eb2d0838_2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c4eb2d0838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g3c4eb2d0838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c4eb2d0838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g3c4eb2d0838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c4eb2d0838_2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g3c4eb2d0838_2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c4eb2d0838_2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89" name="Google Shape;189;g3c4eb2d0838_2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c4eb2d0838_2_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3c4eb2d0838_2_2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c4eb2d0838_2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3c4eb2d0838_2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0"/>
        <p:cNvGrpSpPr/>
        <p:nvPr/>
      </p:nvGrpSpPr>
      <p:grpSpPr>
        <a:xfrm>
          <a:off x="0" y="0"/>
          <a:ext cx="0" cy="0"/>
          <a:chOff x="0" y="0"/>
          <a:chExt cx="0" cy="0"/>
        </a:xfrm>
      </p:grpSpPr>
      <p:sp>
        <p:nvSpPr>
          <p:cNvPr id="61" name="Google Shape;61;p1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63" name="Google Shape;63;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6"/>
        <p:cNvGrpSpPr/>
        <p:nvPr/>
      </p:nvGrpSpPr>
      <p:grpSpPr>
        <a:xfrm>
          <a:off x="0" y="0"/>
          <a:ext cx="0" cy="0"/>
          <a:chOff x="0" y="0"/>
          <a:chExt cx="0" cy="0"/>
        </a:xfrm>
      </p:grpSpPr>
      <p:sp>
        <p:nvSpPr>
          <p:cNvPr id="67" name="Google Shape;67;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9" name="Google Shape;69;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75" name="Google Shape;75;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8"/>
        <p:cNvGrpSpPr/>
        <p:nvPr/>
      </p:nvGrpSpPr>
      <p:grpSpPr>
        <a:xfrm>
          <a:off x="0" y="0"/>
          <a:ext cx="0" cy="0"/>
          <a:chOff x="0" y="0"/>
          <a:chExt cx="0" cy="0"/>
        </a:xfrm>
      </p:grpSpPr>
      <p:sp>
        <p:nvSpPr>
          <p:cNvPr id="79" name="Google Shape;79;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81" name="Google Shape;81;p1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82" name="Google Shape;82;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5"/>
        <p:cNvGrpSpPr/>
        <p:nvPr/>
      </p:nvGrpSpPr>
      <p:grpSpPr>
        <a:xfrm>
          <a:off x="0" y="0"/>
          <a:ext cx="0" cy="0"/>
          <a:chOff x="0" y="0"/>
          <a:chExt cx="0" cy="0"/>
        </a:xfrm>
      </p:grpSpPr>
      <p:sp>
        <p:nvSpPr>
          <p:cNvPr id="86" name="Google Shape;86;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1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88" name="Google Shape;88;p1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89" name="Google Shape;89;p1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90" name="Google Shape;90;p1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91" name="Google Shape;91;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1" name="Google Shape;101;p2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02" name="Google Shape;102;p2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03" name="Google Shape;103;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22"/>
          <p:cNvSpPr>
            <a:spLocks noGrp="1"/>
          </p:cNvSpPr>
          <p:nvPr>
            <p:ph type="pic" idx="2"/>
          </p:nvPr>
        </p:nvSpPr>
        <p:spPr>
          <a:xfrm>
            <a:off x="1792288" y="612775"/>
            <a:ext cx="5486400" cy="4114800"/>
          </a:xfrm>
          <a:prstGeom prst="rect">
            <a:avLst/>
          </a:prstGeom>
          <a:noFill/>
          <a:ln>
            <a:noFill/>
          </a:ln>
        </p:spPr>
      </p:sp>
      <p:sp>
        <p:nvSpPr>
          <p:cNvPr id="109" name="Google Shape;109;p2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10" name="Google Shape;110;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23"/>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16" name="Google Shape;116;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1" name="Google Shape;121;p2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22" name="Google Shape;122;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hyperlink" Target="http://localhost:8504/" TargetMode="External"/><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5"/>
          <p:cNvSpPr/>
          <p:nvPr/>
        </p:nvSpPr>
        <p:spPr>
          <a:xfrm>
            <a:off x="0" y="0"/>
            <a:ext cx="9144000" cy="502920"/>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30" name="Google Shape;130;p25" descr="1772584450591_image.png"/>
          <p:cNvPicPr preferRelativeResize="0"/>
          <p:nvPr/>
        </p:nvPicPr>
        <p:blipFill rotWithShape="1">
          <a:blip r:embed="rId3">
            <a:alphaModFix/>
          </a:blip>
          <a:srcRect/>
          <a:stretch/>
        </p:blipFill>
        <p:spPr>
          <a:xfrm>
            <a:off x="0" y="0"/>
            <a:ext cx="9144000" cy="502920"/>
          </a:xfrm>
          <a:prstGeom prst="rect">
            <a:avLst/>
          </a:prstGeom>
          <a:noFill/>
          <a:ln>
            <a:noFill/>
          </a:ln>
        </p:spPr>
      </p:pic>
      <p:sp>
        <p:nvSpPr>
          <p:cNvPr id="131" name="Google Shape;131;p25"/>
          <p:cNvSpPr txBox="1"/>
          <p:nvPr/>
        </p:nvSpPr>
        <p:spPr>
          <a:xfrm>
            <a:off x="457200" y="1097280"/>
            <a:ext cx="8229600" cy="1569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3200" b="1">
                <a:solidFill>
                  <a:srgbClr val="800000"/>
                </a:solidFill>
                <a:latin typeface="Calibri"/>
                <a:ea typeface="Calibri"/>
                <a:cs typeface="Calibri"/>
                <a:sym typeface="Calibri"/>
              </a:rPr>
              <a:t>Can LLMs Quantify Market Reactions to Financial News and Regulation? </a:t>
            </a:r>
            <a:endParaRPr sz="3200" b="1">
              <a:solidFill>
                <a:srgbClr val="800000"/>
              </a:solidFill>
              <a:latin typeface="Calibri"/>
              <a:ea typeface="Calibri"/>
              <a:cs typeface="Calibri"/>
              <a:sym typeface="Calibri"/>
            </a:endParaRPr>
          </a:p>
          <a:p>
            <a:pPr marL="0" marR="0" lvl="0" indent="0" algn="ctr" rtl="0">
              <a:spcBef>
                <a:spcPts val="0"/>
              </a:spcBef>
              <a:spcAft>
                <a:spcPts val="0"/>
              </a:spcAft>
              <a:buNone/>
            </a:pPr>
            <a:endParaRPr sz="3200" b="1">
              <a:solidFill>
                <a:srgbClr val="800000"/>
              </a:solidFill>
              <a:latin typeface="Calibri"/>
              <a:ea typeface="Calibri"/>
              <a:cs typeface="Calibri"/>
              <a:sym typeface="Calibri"/>
            </a:endParaRPr>
          </a:p>
        </p:txBody>
      </p:sp>
      <p:sp>
        <p:nvSpPr>
          <p:cNvPr id="132" name="Google Shape;132;p25"/>
          <p:cNvSpPr txBox="1"/>
          <p:nvPr/>
        </p:nvSpPr>
        <p:spPr>
          <a:xfrm>
            <a:off x="457200" y="3159775"/>
            <a:ext cx="8229600" cy="369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1800" b="1" dirty="0">
                <a:latin typeface="Calibri"/>
                <a:ea typeface="Calibri"/>
                <a:cs typeface="Calibri"/>
                <a:sym typeface="Calibri"/>
              </a:rPr>
              <a:t>Songyi Huang,  Jiayu Zhao,  Yicheng Liu</a:t>
            </a:r>
            <a:endParaRPr sz="1800" b="1" dirty="0">
              <a:latin typeface="Calibri"/>
              <a:ea typeface="Calibri"/>
              <a:cs typeface="Calibri"/>
              <a:sym typeface="Calibri"/>
            </a:endParaRPr>
          </a:p>
        </p:txBody>
      </p:sp>
      <p:sp>
        <p:nvSpPr>
          <p:cNvPr id="133" name="Google Shape;133;p25"/>
          <p:cNvSpPr txBox="1"/>
          <p:nvPr/>
        </p:nvSpPr>
        <p:spPr>
          <a:xfrm>
            <a:off x="457200" y="3589590"/>
            <a:ext cx="82296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1400" b="0" i="0" u="none" strike="noStrike" cap="none">
                <a:solidFill>
                  <a:srgbClr val="000000"/>
                </a:solidFill>
                <a:latin typeface="Calibri"/>
                <a:ea typeface="Calibri"/>
                <a:cs typeface="Calibri"/>
                <a:sym typeface="Calibri"/>
              </a:rPr>
              <a:t>Presented by </a:t>
            </a:r>
            <a:r>
              <a:rPr lang="en">
                <a:latin typeface="Calibri"/>
                <a:ea typeface="Calibri"/>
                <a:cs typeface="Calibri"/>
                <a:sym typeface="Calibri"/>
              </a:rPr>
              <a:t>Group28</a:t>
            </a:r>
            <a:endParaRPr/>
          </a:p>
        </p:txBody>
      </p:sp>
      <p:sp>
        <p:nvSpPr>
          <p:cNvPr id="134" name="Google Shape;134;p25"/>
          <p:cNvSpPr txBox="1"/>
          <p:nvPr/>
        </p:nvSpPr>
        <p:spPr>
          <a:xfrm>
            <a:off x="457200" y="4097302"/>
            <a:ext cx="8229600" cy="292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1300">
                <a:solidFill>
                  <a:srgbClr val="606060"/>
                </a:solidFill>
                <a:latin typeface="Calibri"/>
                <a:ea typeface="Calibri"/>
                <a:cs typeface="Calibri"/>
                <a:sym typeface="Calibri"/>
              </a:rPr>
              <a:t>Mar </a:t>
            </a:r>
            <a:r>
              <a:rPr lang="en" sz="1300" b="0" i="0" u="none" strike="noStrike" cap="none">
                <a:solidFill>
                  <a:srgbClr val="606060"/>
                </a:solidFill>
                <a:latin typeface="Calibri"/>
                <a:ea typeface="Calibri"/>
                <a:cs typeface="Calibri"/>
                <a:sym typeface="Calibri"/>
              </a:rPr>
              <a:t> 3, 202</a:t>
            </a:r>
            <a:r>
              <a:rPr lang="en" sz="1300">
                <a:solidFill>
                  <a:srgbClr val="606060"/>
                </a:solidFill>
                <a:latin typeface="Calibri"/>
                <a:ea typeface="Calibri"/>
                <a:cs typeface="Calibri"/>
                <a:sym typeface="Calibri"/>
              </a:rPr>
              <a:t>6</a:t>
            </a:r>
            <a:endParaRPr/>
          </a:p>
        </p:txBody>
      </p:sp>
      <p:sp>
        <p:nvSpPr>
          <p:cNvPr id="135" name="Google Shape;135;p25"/>
          <p:cNvSpPr/>
          <p:nvPr/>
        </p:nvSpPr>
        <p:spPr>
          <a:xfrm>
            <a:off x="0" y="4887468"/>
            <a:ext cx="9144000" cy="256032"/>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6" name="Google Shape;136;p25"/>
          <p:cNvSpPr txBox="1"/>
          <p:nvPr/>
        </p:nvSpPr>
        <p:spPr>
          <a:xfrm>
            <a:off x="182880" y="4887468"/>
            <a:ext cx="6400800" cy="230792"/>
          </a:xfrm>
          <a:prstGeom prst="rect">
            <a:avLst/>
          </a:prstGeom>
          <a:noFill/>
          <a:ln>
            <a:noFill/>
          </a:ln>
        </p:spPr>
        <p:txBody>
          <a:bodyPr spcFirstLastPara="1" wrap="square" lIns="91425" tIns="45700" rIns="91425" bIns="45700" anchor="t" anchorCtr="0">
            <a:spAutoFit/>
          </a:bodyPr>
          <a:lstStyle/>
          <a:p>
            <a:pPr lvl="0"/>
            <a:r>
              <a:rPr lang="en-US" sz="900" dirty="0">
                <a:solidFill>
                  <a:srgbClr val="FFFFFF"/>
                </a:solidFill>
                <a:latin typeface="Calibri"/>
                <a:ea typeface="Calibri"/>
                <a:cs typeface="Calibri"/>
                <a:sym typeface="Calibri"/>
              </a:rPr>
              <a:t>Data Analytics and Visualization for PublicPolicy</a:t>
            </a:r>
            <a:endParaRPr dirty="0"/>
          </a:p>
        </p:txBody>
      </p:sp>
      <p:sp>
        <p:nvSpPr>
          <p:cNvPr id="137" name="Google Shape;137;p25"/>
          <p:cNvSpPr txBox="1"/>
          <p:nvPr/>
        </p:nvSpPr>
        <p:spPr>
          <a:xfrm>
            <a:off x="6583680" y="4887468"/>
            <a:ext cx="2377440" cy="446236"/>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 sz="900" b="0" i="0" u="none" strike="noStrike" cap="none" dirty="0">
                <a:solidFill>
                  <a:srgbClr val="FFFFFF"/>
                </a:solidFill>
                <a:latin typeface="Calibri"/>
                <a:ea typeface="Calibri"/>
                <a:cs typeface="Calibri"/>
                <a:sym typeface="Calibri"/>
              </a:rPr>
              <a:t>1 / </a:t>
            </a:r>
            <a:r>
              <a:rPr lang="en" sz="900" dirty="0">
                <a:solidFill>
                  <a:srgbClr val="FFFFFF"/>
                </a:solidFill>
                <a:latin typeface="Calibri"/>
                <a:ea typeface="Calibri"/>
                <a:cs typeface="Calibri"/>
                <a:sym typeface="Calibri"/>
              </a:rPr>
              <a:t>8</a:t>
            </a:r>
          </a:p>
          <a:p>
            <a:pPr marL="0" marR="0" lvl="0" indent="0" algn="r" rtl="0">
              <a:spcBef>
                <a:spcPts val="0"/>
              </a:spcBef>
              <a:spcAft>
                <a:spcPts val="0"/>
              </a:spcAft>
              <a:buNone/>
            </a:pPr>
            <a:endParaRPr dirty="0"/>
          </a:p>
        </p:txBody>
      </p:sp>
      <p:pic>
        <p:nvPicPr>
          <p:cNvPr id="138" name="Google Shape;138;p25" title="uchicago.png"/>
          <p:cNvPicPr preferRelativeResize="0"/>
          <p:nvPr/>
        </p:nvPicPr>
        <p:blipFill>
          <a:blip r:embed="rId4">
            <a:alphaModFix/>
          </a:blip>
          <a:stretch>
            <a:fillRect/>
          </a:stretch>
        </p:blipFill>
        <p:spPr>
          <a:xfrm>
            <a:off x="8350949" y="502925"/>
            <a:ext cx="793051" cy="9570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6"/>
          <p:cNvSpPr/>
          <p:nvPr/>
        </p:nvSpPr>
        <p:spPr>
          <a:xfrm>
            <a:off x="0" y="0"/>
            <a:ext cx="9144000" cy="502920"/>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44" name="Google Shape;144;p26" descr="1772584450591_image.png"/>
          <p:cNvPicPr preferRelativeResize="0"/>
          <p:nvPr/>
        </p:nvPicPr>
        <p:blipFill rotWithShape="1">
          <a:blip r:embed="rId3">
            <a:alphaModFix/>
          </a:blip>
          <a:srcRect/>
          <a:stretch/>
        </p:blipFill>
        <p:spPr>
          <a:xfrm>
            <a:off x="0" y="0"/>
            <a:ext cx="9144000" cy="502920"/>
          </a:xfrm>
          <a:prstGeom prst="rect">
            <a:avLst/>
          </a:prstGeom>
          <a:noFill/>
          <a:ln>
            <a:noFill/>
          </a:ln>
        </p:spPr>
      </p:pic>
      <p:sp>
        <p:nvSpPr>
          <p:cNvPr id="145" name="Google Shape;145;p26"/>
          <p:cNvSpPr txBox="1"/>
          <p:nvPr/>
        </p:nvSpPr>
        <p:spPr>
          <a:xfrm>
            <a:off x="365760" y="548640"/>
            <a:ext cx="8412480" cy="4114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200" b="1" i="0" u="none" strike="noStrike" cap="none">
                <a:solidFill>
                  <a:srgbClr val="800000"/>
                </a:solidFill>
                <a:latin typeface="Calibri"/>
                <a:ea typeface="Calibri"/>
                <a:cs typeface="Calibri"/>
                <a:sym typeface="Calibri"/>
              </a:rPr>
              <a:t>Introduction</a:t>
            </a:r>
            <a:endParaRPr/>
          </a:p>
        </p:txBody>
      </p:sp>
      <p:sp>
        <p:nvSpPr>
          <p:cNvPr id="146" name="Google Shape;146;p26"/>
          <p:cNvSpPr txBox="1"/>
          <p:nvPr/>
        </p:nvSpPr>
        <p:spPr>
          <a:xfrm>
            <a:off x="365700" y="839276"/>
            <a:ext cx="8412600" cy="43819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450" b="1" dirty="0">
                <a:latin typeface="Times New Roman" panose="02020603050405020304" pitchFamily="18" charset="0"/>
                <a:ea typeface="Calibri"/>
                <a:cs typeface="Times New Roman" panose="02020603050405020304" pitchFamily="18" charset="0"/>
                <a:sym typeface="Calibri"/>
              </a:rPr>
              <a:t>Motivation</a:t>
            </a:r>
            <a:endParaRPr sz="900" b="1" dirty="0">
              <a:solidFill>
                <a:srgbClr val="000080"/>
              </a:solidFill>
              <a:highlight>
                <a:srgbClr val="FFFFFF"/>
              </a:highlight>
              <a:latin typeface="Times New Roman" panose="02020603050405020304" pitchFamily="18" charset="0"/>
              <a:ea typeface="Courier New"/>
              <a:cs typeface="Times New Roman" panose="02020603050405020304" pitchFamily="18" charset="0"/>
              <a:sym typeface="Courier New"/>
            </a:endParaRPr>
          </a:p>
          <a:p>
            <a:pPr marL="0" marR="0" lvl="0" indent="0" algn="l" rtl="0">
              <a:spcBef>
                <a:spcPts val="0"/>
              </a:spcBef>
              <a:spcAft>
                <a:spcPts val="0"/>
              </a:spcAft>
              <a:buNone/>
            </a:pPr>
            <a:endParaRPr sz="1450" b="1" dirty="0">
              <a:latin typeface="Times New Roman" panose="02020603050405020304" pitchFamily="18" charset="0"/>
              <a:ea typeface="Calibri"/>
              <a:cs typeface="Times New Roman" panose="02020603050405020304" pitchFamily="18" charset="0"/>
              <a:sym typeface="Calibri"/>
            </a:endParaRPr>
          </a:p>
          <a:p>
            <a:pPr marL="0" lvl="0" indent="0" algn="l" rtl="0">
              <a:lnSpc>
                <a:spcPct val="150000"/>
              </a:lnSpc>
              <a:spcBef>
                <a:spcPts val="0"/>
              </a:spcBef>
              <a:spcAft>
                <a:spcPts val="0"/>
              </a:spcAft>
              <a:buClr>
                <a:schemeClr val="dk1"/>
              </a:buClr>
              <a:buSzPts val="1100"/>
              <a:buFont typeface="Arial"/>
              <a:buNone/>
            </a:pPr>
            <a:r>
              <a:rPr lang="en" sz="1350" dirty="0">
                <a:latin typeface="Times New Roman" panose="02020603050405020304" pitchFamily="18" charset="0"/>
                <a:ea typeface="Calibri"/>
                <a:cs typeface="Times New Roman" panose="02020603050405020304" pitchFamily="18" charset="0"/>
                <a:sym typeface="Calibri"/>
              </a:rPr>
              <a:t>Financial regulators such as the SEC, FDIC, and the Federal Reserve closely monitor market stability, yet it remains difficult to measure how quickly and intensely financial markets react to regulatory announcements and news events</a:t>
            </a:r>
            <a:r>
              <a:rPr lang="en" sz="900" dirty="0">
                <a:solidFill>
                  <a:srgbClr val="3B3B3B"/>
                </a:solidFill>
                <a:highlight>
                  <a:srgbClr val="FFFFFF"/>
                </a:highlight>
                <a:latin typeface="Times New Roman" panose="02020603050405020304" pitchFamily="18" charset="0"/>
                <a:ea typeface="Courier New"/>
                <a:cs typeface="Times New Roman" panose="02020603050405020304" pitchFamily="18" charset="0"/>
                <a:sym typeface="Courier New"/>
              </a:rPr>
              <a:t>.</a:t>
            </a:r>
            <a:endParaRPr sz="900" dirty="0">
              <a:solidFill>
                <a:srgbClr val="3B3B3B"/>
              </a:solidFill>
              <a:highlight>
                <a:srgbClr val="FFFFFF"/>
              </a:highlight>
              <a:latin typeface="Times New Roman" panose="02020603050405020304" pitchFamily="18" charset="0"/>
              <a:ea typeface="Courier New"/>
              <a:cs typeface="Times New Roman" panose="02020603050405020304" pitchFamily="18" charset="0"/>
              <a:sym typeface="Courier New"/>
            </a:endParaRPr>
          </a:p>
          <a:p>
            <a:pPr marL="0" marR="0" lvl="0" indent="0" algn="l" rtl="0">
              <a:spcBef>
                <a:spcPts val="0"/>
              </a:spcBef>
              <a:spcAft>
                <a:spcPts val="0"/>
              </a:spcAft>
              <a:buNone/>
            </a:pPr>
            <a:endParaRPr sz="135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a:p>
            <a:pPr marL="0" marR="0" lvl="0" indent="0" algn="l" rtl="0">
              <a:spcBef>
                <a:spcPts val="0"/>
              </a:spcBef>
              <a:spcAft>
                <a:spcPts val="0"/>
              </a:spcAft>
              <a:buNone/>
            </a:pPr>
            <a:r>
              <a:rPr lang="en" sz="1350" b="1" dirty="0">
                <a:latin typeface="Times New Roman" panose="02020603050405020304" pitchFamily="18" charset="0"/>
                <a:ea typeface="Calibri"/>
                <a:cs typeface="Times New Roman" panose="02020603050405020304" pitchFamily="18" charset="0"/>
                <a:sym typeface="Calibri"/>
              </a:rPr>
              <a:t>We ask 3 Questions</a:t>
            </a:r>
            <a:endParaRPr sz="1350" b="1" dirty="0">
              <a:latin typeface="Times New Roman" panose="02020603050405020304" pitchFamily="18" charset="0"/>
              <a:ea typeface="Calibri"/>
              <a:cs typeface="Times New Roman" panose="02020603050405020304" pitchFamily="18" charset="0"/>
              <a:sym typeface="Calibri"/>
            </a:endParaRPr>
          </a:p>
          <a:p>
            <a:pPr marL="0" marR="0" lvl="0" indent="0" algn="l" rtl="0">
              <a:spcBef>
                <a:spcPts val="0"/>
              </a:spcBef>
              <a:spcAft>
                <a:spcPts val="0"/>
              </a:spcAft>
              <a:buNone/>
            </a:pPr>
            <a:endParaRPr sz="1350" dirty="0">
              <a:latin typeface="Times New Roman" panose="02020603050405020304" pitchFamily="18" charset="0"/>
              <a:ea typeface="Calibri"/>
              <a:cs typeface="Times New Roman" panose="02020603050405020304" pitchFamily="18" charset="0"/>
              <a:sym typeface="Calibri"/>
            </a:endParaRPr>
          </a:p>
          <a:p>
            <a:pPr marL="0" marR="0" lvl="0" indent="0" algn="l" rtl="0">
              <a:spcBef>
                <a:spcPts val="0"/>
              </a:spcBef>
              <a:spcAft>
                <a:spcPts val="0"/>
              </a:spcAft>
              <a:buNone/>
            </a:pPr>
            <a:r>
              <a:rPr lang="en" sz="1350" dirty="0">
                <a:latin typeface="Times New Roman" panose="02020603050405020304" pitchFamily="18" charset="0"/>
                <a:ea typeface="Calibri"/>
                <a:cs typeface="Times New Roman" panose="02020603050405020304" pitchFamily="18" charset="0"/>
                <a:sym typeface="Calibri"/>
              </a:rPr>
              <a:t>1. Can sentiment scores derived from Large Language Models (LLMs) applied to financial news predict short-term volatility in regional bank stocks?</a:t>
            </a:r>
            <a:endParaRPr sz="1350" dirty="0">
              <a:latin typeface="Times New Roman" panose="02020603050405020304" pitchFamily="18" charset="0"/>
              <a:ea typeface="Calibri"/>
              <a:cs typeface="Times New Roman" panose="02020603050405020304" pitchFamily="18" charset="0"/>
              <a:sym typeface="Calibri"/>
            </a:endParaRPr>
          </a:p>
          <a:p>
            <a:pPr marL="0" lvl="0" indent="0" algn="l" rtl="0">
              <a:lnSpc>
                <a:spcPct val="150000"/>
              </a:lnSpc>
              <a:spcBef>
                <a:spcPts val="0"/>
              </a:spcBef>
              <a:spcAft>
                <a:spcPts val="0"/>
              </a:spcAft>
              <a:buClr>
                <a:schemeClr val="dk1"/>
              </a:buClr>
              <a:buSzPts val="1100"/>
              <a:buFont typeface="Arial"/>
              <a:buNone/>
            </a:pPr>
            <a:r>
              <a:rPr lang="en" sz="1350" dirty="0">
                <a:latin typeface="Times New Roman" panose="02020603050405020304" pitchFamily="18" charset="0"/>
                <a:ea typeface="Calibri"/>
                <a:cs typeface="Times New Roman" panose="02020603050405020304" pitchFamily="18" charset="0"/>
                <a:sym typeface="Calibri"/>
              </a:rPr>
              <a:t>2. Do LLM-based sentiment indicators provide earlier or stronger signals of market instability than traditional market metrics such as historical volatility or trading volume?</a:t>
            </a:r>
            <a:endParaRPr sz="1350" dirty="0">
              <a:latin typeface="Times New Roman" panose="02020603050405020304" pitchFamily="18" charset="0"/>
              <a:ea typeface="Calibri"/>
              <a:cs typeface="Times New Roman" panose="02020603050405020304" pitchFamily="18" charset="0"/>
              <a:sym typeface="Calibri"/>
            </a:endParaRPr>
          </a:p>
          <a:p>
            <a:pPr marL="0" lvl="0" indent="0" algn="l" rtl="0">
              <a:lnSpc>
                <a:spcPct val="150000"/>
              </a:lnSpc>
              <a:spcBef>
                <a:spcPts val="0"/>
              </a:spcBef>
              <a:spcAft>
                <a:spcPts val="0"/>
              </a:spcAft>
              <a:buSzPts val="1100"/>
              <a:buNone/>
            </a:pPr>
            <a:r>
              <a:rPr lang="en" sz="1350" dirty="0">
                <a:latin typeface="Times New Roman" panose="02020603050405020304" pitchFamily="18" charset="0"/>
                <a:ea typeface="Calibri"/>
                <a:cs typeface="Times New Roman" panose="02020603050405020304" pitchFamily="18" charset="0"/>
                <a:sym typeface="Calibri"/>
              </a:rPr>
              <a:t>3. Are market reactions to financial news and regulation geographically concentrated, affecting certain regions more than others?</a:t>
            </a:r>
            <a:endParaRPr sz="1350" dirty="0">
              <a:latin typeface="Times New Roman" panose="02020603050405020304" pitchFamily="18" charset="0"/>
              <a:ea typeface="Calibri"/>
              <a:cs typeface="Times New Roman" panose="02020603050405020304" pitchFamily="18" charset="0"/>
              <a:sym typeface="Calibri"/>
            </a:endParaRPr>
          </a:p>
          <a:p>
            <a:pPr marL="0" lvl="0" indent="0" algn="l" rtl="0">
              <a:lnSpc>
                <a:spcPct val="150000"/>
              </a:lnSpc>
              <a:spcBef>
                <a:spcPts val="0"/>
              </a:spcBef>
              <a:spcAft>
                <a:spcPts val="0"/>
              </a:spcAft>
              <a:buSzPts val="1100"/>
              <a:buNone/>
            </a:pPr>
            <a:endParaRPr sz="1350" dirty="0">
              <a:latin typeface="Calibri"/>
              <a:ea typeface="Calibri"/>
              <a:cs typeface="Calibri"/>
              <a:sym typeface="Calibri"/>
            </a:endParaRPr>
          </a:p>
          <a:p>
            <a:pPr marL="0" lvl="0" indent="0" algn="l" rtl="0">
              <a:lnSpc>
                <a:spcPct val="150000"/>
              </a:lnSpc>
              <a:spcBef>
                <a:spcPts val="0"/>
              </a:spcBef>
              <a:spcAft>
                <a:spcPts val="0"/>
              </a:spcAft>
              <a:buSzPts val="1100"/>
              <a:buNone/>
            </a:pPr>
            <a:r>
              <a:rPr lang="en" sz="1350" b="1" dirty="0">
                <a:latin typeface="Calibri"/>
                <a:ea typeface="Calibri"/>
                <a:cs typeface="Calibri"/>
                <a:sym typeface="Calibri"/>
              </a:rPr>
              <a:t>Figure out how AI-based text analysis could support financial stability monitoring and regulatory decision-making</a:t>
            </a:r>
            <a:endParaRPr sz="1350" b="1" dirty="0">
              <a:latin typeface="Calibri"/>
              <a:ea typeface="Calibri"/>
              <a:cs typeface="Calibri"/>
              <a:sym typeface="Calibri"/>
            </a:endParaRPr>
          </a:p>
          <a:p>
            <a:pPr marL="0" lvl="0" indent="0" algn="l" rtl="0">
              <a:lnSpc>
                <a:spcPct val="150000"/>
              </a:lnSpc>
              <a:spcBef>
                <a:spcPts val="0"/>
              </a:spcBef>
              <a:spcAft>
                <a:spcPts val="0"/>
              </a:spcAft>
              <a:buSzPts val="1100"/>
              <a:buNone/>
            </a:pPr>
            <a:endParaRPr sz="1350" dirty="0">
              <a:latin typeface="Calibri"/>
              <a:ea typeface="Calibri"/>
              <a:cs typeface="Calibri"/>
              <a:sym typeface="Calibri"/>
            </a:endParaRPr>
          </a:p>
        </p:txBody>
      </p:sp>
      <p:sp>
        <p:nvSpPr>
          <p:cNvPr id="147" name="Google Shape;147;p26"/>
          <p:cNvSpPr/>
          <p:nvPr/>
        </p:nvSpPr>
        <p:spPr>
          <a:xfrm>
            <a:off x="0" y="4887468"/>
            <a:ext cx="9144000" cy="256032"/>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26"/>
          <p:cNvSpPr txBox="1"/>
          <p:nvPr/>
        </p:nvSpPr>
        <p:spPr>
          <a:xfrm>
            <a:off x="6583680" y="4887468"/>
            <a:ext cx="2377440" cy="23079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 sz="900" b="0" i="0" u="none" strike="noStrike" cap="none" dirty="0">
                <a:solidFill>
                  <a:srgbClr val="FFFFFF"/>
                </a:solidFill>
                <a:latin typeface="Calibri"/>
                <a:ea typeface="Calibri"/>
                <a:cs typeface="Calibri"/>
                <a:sym typeface="Calibri"/>
              </a:rPr>
              <a:t>2 / </a:t>
            </a:r>
            <a:r>
              <a:rPr lang="en" sz="900" dirty="0">
                <a:solidFill>
                  <a:srgbClr val="FFFFFF"/>
                </a:solidFill>
                <a:latin typeface="Calibri"/>
                <a:ea typeface="Calibri"/>
                <a:cs typeface="Calibri"/>
                <a:sym typeface="Calibri"/>
              </a:rPr>
              <a:t>8</a:t>
            </a:r>
            <a:endParaRPr dirty="0"/>
          </a:p>
        </p:txBody>
      </p:sp>
      <p:pic>
        <p:nvPicPr>
          <p:cNvPr id="150" name="Google Shape;150;p26" title="uchicago.png"/>
          <p:cNvPicPr preferRelativeResize="0"/>
          <p:nvPr/>
        </p:nvPicPr>
        <p:blipFill>
          <a:blip r:embed="rId4">
            <a:alphaModFix/>
          </a:blip>
          <a:stretch>
            <a:fillRect/>
          </a:stretch>
        </p:blipFill>
        <p:spPr>
          <a:xfrm>
            <a:off x="8350949" y="502925"/>
            <a:ext cx="793051" cy="957076"/>
          </a:xfrm>
          <a:prstGeom prst="rect">
            <a:avLst/>
          </a:prstGeom>
          <a:noFill/>
          <a:ln>
            <a:noFill/>
          </a:ln>
        </p:spPr>
      </p:pic>
      <p:sp>
        <p:nvSpPr>
          <p:cNvPr id="3" name="Google Shape;136;p25">
            <a:extLst>
              <a:ext uri="{FF2B5EF4-FFF2-40B4-BE49-F238E27FC236}">
                <a16:creationId xmlns:a16="http://schemas.microsoft.com/office/drawing/2014/main" id="{CBF99D3E-8F70-10C8-4E30-E3C2F23BDA76}"/>
              </a:ext>
            </a:extLst>
          </p:cNvPr>
          <p:cNvSpPr txBox="1"/>
          <p:nvPr/>
        </p:nvSpPr>
        <p:spPr>
          <a:xfrm>
            <a:off x="182880" y="4887468"/>
            <a:ext cx="6400800" cy="230792"/>
          </a:xfrm>
          <a:prstGeom prst="rect">
            <a:avLst/>
          </a:prstGeom>
          <a:noFill/>
          <a:ln>
            <a:noFill/>
          </a:ln>
        </p:spPr>
        <p:txBody>
          <a:bodyPr spcFirstLastPara="1" wrap="square" lIns="91425" tIns="45700" rIns="91425" bIns="45700" anchor="t" anchorCtr="0">
            <a:spAutoFit/>
          </a:bodyPr>
          <a:lstStyle/>
          <a:p>
            <a:pPr lvl="0"/>
            <a:r>
              <a:rPr lang="en-US" sz="900" dirty="0">
                <a:solidFill>
                  <a:srgbClr val="FFFFFF"/>
                </a:solidFill>
                <a:latin typeface="Calibri"/>
                <a:ea typeface="Calibri"/>
                <a:cs typeface="Calibri"/>
                <a:sym typeface="Calibri"/>
              </a:rPr>
              <a:t>Data Analytics and Visualization for PublicPolicy</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7"/>
          <p:cNvSpPr/>
          <p:nvPr/>
        </p:nvSpPr>
        <p:spPr>
          <a:xfrm>
            <a:off x="0" y="0"/>
            <a:ext cx="9144000" cy="502800"/>
          </a:xfrm>
          <a:prstGeom prst="rect">
            <a:avLst/>
          </a:prstGeom>
          <a:solidFill>
            <a:srgbClr val="800000"/>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56" name="Google Shape;156;p27" descr="1772584450591_image.png"/>
          <p:cNvPicPr preferRelativeResize="0"/>
          <p:nvPr/>
        </p:nvPicPr>
        <p:blipFill rotWithShape="1">
          <a:blip r:embed="rId3">
            <a:alphaModFix/>
          </a:blip>
          <a:srcRect/>
          <a:stretch/>
        </p:blipFill>
        <p:spPr>
          <a:xfrm>
            <a:off x="0" y="0"/>
            <a:ext cx="9144000" cy="502920"/>
          </a:xfrm>
          <a:prstGeom prst="rect">
            <a:avLst/>
          </a:prstGeom>
          <a:noFill/>
          <a:ln>
            <a:noFill/>
          </a:ln>
        </p:spPr>
      </p:pic>
      <p:sp>
        <p:nvSpPr>
          <p:cNvPr id="157" name="Google Shape;157;p27"/>
          <p:cNvSpPr txBox="1"/>
          <p:nvPr/>
        </p:nvSpPr>
        <p:spPr>
          <a:xfrm>
            <a:off x="365760" y="548640"/>
            <a:ext cx="8412600" cy="430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200" b="1">
                <a:solidFill>
                  <a:srgbClr val="800000"/>
                </a:solidFill>
                <a:latin typeface="Calibri"/>
                <a:ea typeface="Calibri"/>
                <a:cs typeface="Calibri"/>
                <a:sym typeface="Calibri"/>
              </a:rPr>
              <a:t>Data</a:t>
            </a:r>
            <a:endParaRPr/>
          </a:p>
        </p:txBody>
      </p:sp>
      <p:sp>
        <p:nvSpPr>
          <p:cNvPr id="158" name="Google Shape;158;p27"/>
          <p:cNvSpPr txBox="1"/>
          <p:nvPr/>
        </p:nvSpPr>
        <p:spPr>
          <a:xfrm>
            <a:off x="365700" y="904200"/>
            <a:ext cx="8412600" cy="36155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450" b="1" dirty="0">
                <a:latin typeface="Times New Roman" panose="02020603050405020304" pitchFamily="18" charset="0"/>
                <a:ea typeface="Calibri"/>
                <a:cs typeface="Times New Roman" panose="02020603050405020304" pitchFamily="18" charset="0"/>
                <a:sym typeface="Calibri"/>
              </a:rPr>
              <a:t>RAW DATA</a:t>
            </a:r>
            <a:endParaRPr sz="900" b="1" dirty="0">
              <a:solidFill>
                <a:srgbClr val="000080"/>
              </a:solidFill>
              <a:highlight>
                <a:srgbClr val="FFFFFF"/>
              </a:highlight>
              <a:latin typeface="Times New Roman" panose="02020603050405020304" pitchFamily="18" charset="0"/>
              <a:ea typeface="Courier New"/>
              <a:cs typeface="Times New Roman" panose="02020603050405020304" pitchFamily="18" charset="0"/>
              <a:sym typeface="Courier New"/>
            </a:endParaRPr>
          </a:p>
          <a:p>
            <a:pPr marL="0" marR="0" lvl="0" indent="0" algn="l" rtl="0">
              <a:spcBef>
                <a:spcPts val="0"/>
              </a:spcBef>
              <a:spcAft>
                <a:spcPts val="0"/>
              </a:spcAft>
              <a:buNone/>
            </a:pPr>
            <a:endParaRPr sz="1450" b="1" dirty="0">
              <a:latin typeface="Times New Roman" panose="02020603050405020304" pitchFamily="18" charset="0"/>
              <a:ea typeface="Calibri"/>
              <a:cs typeface="Times New Roman" panose="02020603050405020304" pitchFamily="18" charset="0"/>
              <a:sym typeface="Calibri"/>
            </a:endParaRPr>
          </a:p>
          <a:p>
            <a:pPr marL="0" lvl="0" indent="0" algn="l" rtl="0">
              <a:lnSpc>
                <a:spcPct val="150000"/>
              </a:lnSpc>
              <a:spcBef>
                <a:spcPts val="0"/>
              </a:spcBef>
              <a:spcAft>
                <a:spcPts val="0"/>
              </a:spcAft>
              <a:buSzPts val="1100"/>
              <a:buNone/>
            </a:pPr>
            <a:r>
              <a:rPr lang="en" sz="1350" dirty="0">
                <a:latin typeface="Times New Roman" panose="02020603050405020304" pitchFamily="18" charset="0"/>
                <a:ea typeface="Calibri"/>
                <a:cs typeface="Times New Roman" panose="02020603050405020304" pitchFamily="18" charset="0"/>
                <a:sym typeface="Calibri"/>
              </a:rPr>
              <a:t>1.</a:t>
            </a:r>
            <a:r>
              <a:rPr lang="en" sz="1350" dirty="0">
                <a:solidFill>
                  <a:schemeClr val="dk1"/>
                </a:solidFill>
                <a:latin typeface="Times New Roman" panose="02020603050405020304" pitchFamily="18" charset="0"/>
                <a:ea typeface="Calibri"/>
                <a:cs typeface="Times New Roman" panose="02020603050405020304" pitchFamily="18" charset="0"/>
                <a:sym typeface="Calibri"/>
              </a:rPr>
              <a:t>Financial News &amp; Regulatory Text Data</a:t>
            </a:r>
            <a:endParaRPr sz="1350" dirty="0">
              <a:solidFill>
                <a:schemeClr val="dk1"/>
              </a:solidFill>
              <a:latin typeface="Times New Roman" panose="02020603050405020304" pitchFamily="18" charset="0"/>
              <a:ea typeface="Calibri"/>
              <a:cs typeface="Times New Roman" panose="02020603050405020304" pitchFamily="18" charset="0"/>
              <a:sym typeface="Calibri"/>
            </a:endParaRPr>
          </a:p>
          <a:p>
            <a:pPr marL="457200" lvl="0" indent="0" algn="l" rtl="0">
              <a:lnSpc>
                <a:spcPct val="115000"/>
              </a:lnSpc>
              <a:spcBef>
                <a:spcPts val="200"/>
              </a:spcBef>
              <a:spcAft>
                <a:spcPts val="0"/>
              </a:spcAft>
              <a:buNone/>
            </a:pPr>
            <a:r>
              <a:rPr lang="en" sz="1350" dirty="0">
                <a:solidFill>
                  <a:schemeClr val="dk1"/>
                </a:solidFill>
                <a:latin typeface="Times New Roman" panose="02020603050405020304" pitchFamily="18" charset="0"/>
                <a:ea typeface="Calibri"/>
                <a:cs typeface="Times New Roman" panose="02020603050405020304" pitchFamily="18" charset="0"/>
                <a:sym typeface="Calibri"/>
              </a:rPr>
              <a:t>Daily financial headlines from Kaggle and other news partners, with timestamps and tickers.</a:t>
            </a:r>
            <a:endParaRPr sz="1350" dirty="0">
              <a:solidFill>
                <a:schemeClr val="dk1"/>
              </a:solidFill>
              <a:latin typeface="Times New Roman" panose="02020603050405020304" pitchFamily="18" charset="0"/>
              <a:ea typeface="Calibri"/>
              <a:cs typeface="Times New Roman" panose="02020603050405020304" pitchFamily="18" charset="0"/>
              <a:sym typeface="Calibri"/>
            </a:endParaRPr>
          </a:p>
          <a:p>
            <a:pPr marL="457200" lvl="0" indent="0" algn="l" rtl="0">
              <a:lnSpc>
                <a:spcPct val="115000"/>
              </a:lnSpc>
              <a:spcBef>
                <a:spcPts val="200"/>
              </a:spcBef>
              <a:spcAft>
                <a:spcPts val="0"/>
              </a:spcAft>
              <a:buNone/>
            </a:pPr>
            <a:r>
              <a:rPr lang="en" sz="1350" dirty="0">
                <a:solidFill>
                  <a:schemeClr val="dk1"/>
                </a:solidFill>
                <a:latin typeface="Times New Roman" panose="02020603050405020304" pitchFamily="18" charset="0"/>
                <a:ea typeface="Calibri"/>
                <a:cs typeface="Times New Roman" panose="02020603050405020304" pitchFamily="18" charset="0"/>
                <a:sym typeface="Calibri"/>
              </a:rPr>
              <a:t>Used to train a light sentiment classifier (positive / negative / neutral) and to build yearly indices of regulatory‑news sentiment.</a:t>
            </a:r>
            <a:endParaRPr sz="1350" dirty="0">
              <a:solidFill>
                <a:schemeClr val="dk1"/>
              </a:solidFill>
              <a:latin typeface="Times New Roman" panose="02020603050405020304" pitchFamily="18" charset="0"/>
              <a:ea typeface="Calibri"/>
              <a:cs typeface="Times New Roman" panose="02020603050405020304" pitchFamily="18" charset="0"/>
              <a:sym typeface="Calibri"/>
            </a:endParaRPr>
          </a:p>
          <a:p>
            <a:pPr marL="0" lvl="0" indent="0" algn="l" rtl="0">
              <a:lnSpc>
                <a:spcPct val="150000"/>
              </a:lnSpc>
              <a:spcBef>
                <a:spcPts val="200"/>
              </a:spcBef>
              <a:spcAft>
                <a:spcPts val="0"/>
              </a:spcAft>
              <a:buSzPts val="1100"/>
              <a:buNone/>
            </a:pPr>
            <a:r>
              <a:rPr lang="en" sz="1350" dirty="0">
                <a:solidFill>
                  <a:schemeClr val="dk1"/>
                </a:solidFill>
                <a:latin typeface="Times New Roman" panose="02020603050405020304" pitchFamily="18" charset="0"/>
                <a:ea typeface="Calibri"/>
                <a:cs typeface="Times New Roman" panose="02020603050405020304" pitchFamily="18" charset="0"/>
                <a:sym typeface="Calibri"/>
              </a:rPr>
              <a:t>2.Banking fundamentals (FDIC) Data</a:t>
            </a:r>
            <a:endParaRPr sz="1350" dirty="0">
              <a:solidFill>
                <a:schemeClr val="dk1"/>
              </a:solidFill>
              <a:latin typeface="Times New Roman" panose="02020603050405020304" pitchFamily="18" charset="0"/>
              <a:ea typeface="Calibri"/>
              <a:cs typeface="Times New Roman" panose="02020603050405020304" pitchFamily="18" charset="0"/>
              <a:sym typeface="Calibri"/>
            </a:endParaRPr>
          </a:p>
          <a:p>
            <a:pPr marL="457200" lvl="0" indent="0" algn="l" rtl="0">
              <a:lnSpc>
                <a:spcPct val="115000"/>
              </a:lnSpc>
              <a:spcBef>
                <a:spcPts val="200"/>
              </a:spcBef>
              <a:spcAft>
                <a:spcPts val="0"/>
              </a:spcAft>
              <a:buNone/>
            </a:pPr>
            <a:r>
              <a:rPr lang="en" sz="1350" dirty="0">
                <a:solidFill>
                  <a:schemeClr val="dk1"/>
                </a:solidFill>
                <a:latin typeface="Times New Roman" panose="02020603050405020304" pitchFamily="18" charset="0"/>
                <a:ea typeface="Calibri"/>
                <a:cs typeface="Times New Roman" panose="02020603050405020304" pitchFamily="18" charset="0"/>
                <a:sym typeface="Calibri"/>
              </a:rPr>
              <a:t>FDIC state‑level “Summary of Results” for commercial banks – financial.</a:t>
            </a:r>
            <a:endParaRPr sz="1350" dirty="0">
              <a:solidFill>
                <a:schemeClr val="dk1"/>
              </a:solidFill>
              <a:latin typeface="Times New Roman" panose="02020603050405020304" pitchFamily="18" charset="0"/>
              <a:ea typeface="Calibri"/>
              <a:cs typeface="Times New Roman" panose="02020603050405020304" pitchFamily="18" charset="0"/>
              <a:sym typeface="Calibri"/>
            </a:endParaRPr>
          </a:p>
          <a:p>
            <a:pPr marL="457200" lvl="0" indent="0" algn="l" rtl="0">
              <a:lnSpc>
                <a:spcPct val="115000"/>
              </a:lnSpc>
              <a:spcBef>
                <a:spcPts val="200"/>
              </a:spcBef>
              <a:spcAft>
                <a:spcPts val="0"/>
              </a:spcAft>
              <a:buNone/>
            </a:pPr>
            <a:r>
              <a:rPr lang="en" sz="1350" dirty="0">
                <a:solidFill>
                  <a:schemeClr val="dk1"/>
                </a:solidFill>
                <a:latin typeface="Times New Roman" panose="02020603050405020304" pitchFamily="18" charset="0"/>
                <a:ea typeface="Calibri"/>
                <a:cs typeface="Times New Roman" panose="02020603050405020304" pitchFamily="18" charset="0"/>
                <a:sym typeface="Calibri"/>
              </a:rPr>
              <a:t>State–year totals for assets, net income, number of banks, net interest margin (NIM), and related balance‑sheet items.</a:t>
            </a:r>
            <a:endParaRPr sz="1350" dirty="0">
              <a:solidFill>
                <a:schemeClr val="dk1"/>
              </a:solidFill>
              <a:latin typeface="Times New Roman" panose="02020603050405020304" pitchFamily="18" charset="0"/>
              <a:ea typeface="Calibri"/>
              <a:cs typeface="Times New Roman" panose="02020603050405020304" pitchFamily="18" charset="0"/>
              <a:sym typeface="Calibri"/>
            </a:endParaRPr>
          </a:p>
          <a:p>
            <a:pPr marL="0" lvl="0" indent="0" algn="l" rtl="0">
              <a:lnSpc>
                <a:spcPct val="150000"/>
              </a:lnSpc>
              <a:spcBef>
                <a:spcPts val="200"/>
              </a:spcBef>
              <a:spcAft>
                <a:spcPts val="0"/>
              </a:spcAft>
              <a:buSzPts val="1100"/>
              <a:buNone/>
            </a:pPr>
            <a:r>
              <a:rPr lang="en" sz="1350" dirty="0">
                <a:latin typeface="Times New Roman" panose="02020603050405020304" pitchFamily="18" charset="0"/>
                <a:ea typeface="Calibri"/>
                <a:cs typeface="Times New Roman" panose="02020603050405020304" pitchFamily="18" charset="0"/>
                <a:sym typeface="Calibri"/>
              </a:rPr>
              <a:t>3.Geographic Data for Banks</a:t>
            </a:r>
            <a:endParaRPr sz="1350" dirty="0">
              <a:latin typeface="Times New Roman" panose="02020603050405020304" pitchFamily="18" charset="0"/>
              <a:ea typeface="Calibri"/>
              <a:cs typeface="Times New Roman" panose="02020603050405020304" pitchFamily="18" charset="0"/>
              <a:sym typeface="Calibri"/>
            </a:endParaRPr>
          </a:p>
          <a:p>
            <a:pPr marL="457200" lvl="0" indent="0" algn="l" rtl="0">
              <a:lnSpc>
                <a:spcPct val="115000"/>
              </a:lnSpc>
              <a:spcBef>
                <a:spcPts val="200"/>
              </a:spcBef>
              <a:spcAft>
                <a:spcPts val="0"/>
              </a:spcAft>
              <a:buNone/>
            </a:pPr>
            <a:r>
              <a:rPr lang="en" sz="1350" dirty="0">
                <a:solidFill>
                  <a:schemeClr val="dk1"/>
                </a:solidFill>
                <a:latin typeface="Times New Roman" panose="02020603050405020304" pitchFamily="18" charset="0"/>
                <a:ea typeface="Calibri"/>
                <a:cs typeface="Times New Roman" panose="02020603050405020304" pitchFamily="18" charset="0"/>
                <a:sym typeface="Calibri"/>
              </a:rPr>
              <a:t>U.S. Census TIGER/Line shapefiles for U.S. states (cb_2024_us_state_20m).</a:t>
            </a:r>
            <a:endParaRPr sz="1350" dirty="0">
              <a:solidFill>
                <a:schemeClr val="dk1"/>
              </a:solidFill>
              <a:latin typeface="Times New Roman" panose="02020603050405020304" pitchFamily="18" charset="0"/>
              <a:ea typeface="Calibri"/>
              <a:cs typeface="Times New Roman" panose="02020603050405020304" pitchFamily="18" charset="0"/>
              <a:sym typeface="Calibri"/>
            </a:endParaRPr>
          </a:p>
          <a:p>
            <a:pPr marL="457200" lvl="0" indent="0" algn="l" rtl="0">
              <a:lnSpc>
                <a:spcPct val="115000"/>
              </a:lnSpc>
              <a:spcBef>
                <a:spcPts val="200"/>
              </a:spcBef>
              <a:spcAft>
                <a:spcPts val="200"/>
              </a:spcAft>
              <a:buNone/>
            </a:pPr>
            <a:r>
              <a:rPr lang="en" sz="1350" dirty="0">
                <a:solidFill>
                  <a:schemeClr val="dk1"/>
                </a:solidFill>
                <a:latin typeface="Times New Roman" panose="02020603050405020304" pitchFamily="18" charset="0"/>
                <a:ea typeface="Calibri"/>
                <a:cs typeface="Times New Roman" panose="02020603050405020304" pitchFamily="18" charset="0"/>
                <a:sym typeface="Calibri"/>
              </a:rPr>
              <a:t>Provides state boundaries used to draw choropleth maps of banking stress.</a:t>
            </a:r>
            <a:endParaRPr sz="1350" dirty="0">
              <a:latin typeface="Times New Roman" panose="02020603050405020304" pitchFamily="18" charset="0"/>
              <a:ea typeface="Calibri"/>
              <a:cs typeface="Times New Roman" panose="02020603050405020304" pitchFamily="18" charset="0"/>
              <a:sym typeface="Calibri"/>
            </a:endParaRPr>
          </a:p>
        </p:txBody>
      </p:sp>
      <p:sp>
        <p:nvSpPr>
          <p:cNvPr id="159" name="Google Shape;159;p27"/>
          <p:cNvSpPr/>
          <p:nvPr/>
        </p:nvSpPr>
        <p:spPr>
          <a:xfrm>
            <a:off x="0" y="4887468"/>
            <a:ext cx="9144000" cy="255900"/>
          </a:xfrm>
          <a:prstGeom prst="rect">
            <a:avLst/>
          </a:prstGeom>
          <a:solidFill>
            <a:srgbClr val="800000"/>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1" name="Google Shape;161;p27"/>
          <p:cNvSpPr txBox="1"/>
          <p:nvPr/>
        </p:nvSpPr>
        <p:spPr>
          <a:xfrm>
            <a:off x="6583680" y="4887468"/>
            <a:ext cx="2377500" cy="2307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 sz="900" dirty="0">
                <a:solidFill>
                  <a:srgbClr val="FFFFFF"/>
                </a:solidFill>
                <a:latin typeface="Calibri"/>
                <a:ea typeface="Calibri"/>
                <a:cs typeface="Calibri"/>
                <a:sym typeface="Calibri"/>
              </a:rPr>
              <a:t>3</a:t>
            </a:r>
            <a:r>
              <a:rPr lang="en" sz="900" b="0" i="0" u="none" strike="noStrike" cap="none" dirty="0">
                <a:solidFill>
                  <a:srgbClr val="FFFFFF"/>
                </a:solidFill>
                <a:latin typeface="Calibri"/>
                <a:ea typeface="Calibri"/>
                <a:cs typeface="Calibri"/>
                <a:sym typeface="Calibri"/>
              </a:rPr>
              <a:t> / </a:t>
            </a:r>
            <a:r>
              <a:rPr lang="en" sz="900" dirty="0">
                <a:solidFill>
                  <a:srgbClr val="FFFFFF"/>
                </a:solidFill>
                <a:latin typeface="Calibri"/>
                <a:ea typeface="Calibri"/>
                <a:cs typeface="Calibri"/>
                <a:sym typeface="Calibri"/>
              </a:rPr>
              <a:t>8</a:t>
            </a:r>
            <a:endParaRPr dirty="0"/>
          </a:p>
        </p:txBody>
      </p:sp>
      <p:pic>
        <p:nvPicPr>
          <p:cNvPr id="162" name="Google Shape;162;p27" title="uchicago.png"/>
          <p:cNvPicPr preferRelativeResize="0"/>
          <p:nvPr/>
        </p:nvPicPr>
        <p:blipFill>
          <a:blip r:embed="rId4">
            <a:alphaModFix/>
          </a:blip>
          <a:stretch>
            <a:fillRect/>
          </a:stretch>
        </p:blipFill>
        <p:spPr>
          <a:xfrm>
            <a:off x="8350949" y="502925"/>
            <a:ext cx="793051" cy="957076"/>
          </a:xfrm>
          <a:prstGeom prst="rect">
            <a:avLst/>
          </a:prstGeom>
          <a:noFill/>
          <a:ln>
            <a:noFill/>
          </a:ln>
        </p:spPr>
      </p:pic>
      <p:sp>
        <p:nvSpPr>
          <p:cNvPr id="2" name="Google Shape;136;p25">
            <a:extLst>
              <a:ext uri="{FF2B5EF4-FFF2-40B4-BE49-F238E27FC236}">
                <a16:creationId xmlns:a16="http://schemas.microsoft.com/office/drawing/2014/main" id="{9D80B8A8-4F63-ADE7-F6E6-D804A2E05D50}"/>
              </a:ext>
            </a:extLst>
          </p:cNvPr>
          <p:cNvSpPr txBox="1"/>
          <p:nvPr/>
        </p:nvSpPr>
        <p:spPr>
          <a:xfrm>
            <a:off x="182880" y="4887468"/>
            <a:ext cx="6400800" cy="230792"/>
          </a:xfrm>
          <a:prstGeom prst="rect">
            <a:avLst/>
          </a:prstGeom>
          <a:noFill/>
          <a:ln>
            <a:noFill/>
          </a:ln>
        </p:spPr>
        <p:txBody>
          <a:bodyPr spcFirstLastPara="1" wrap="square" lIns="91425" tIns="45700" rIns="91425" bIns="45700" anchor="t" anchorCtr="0">
            <a:spAutoFit/>
          </a:bodyPr>
          <a:lstStyle/>
          <a:p>
            <a:pPr lvl="0"/>
            <a:r>
              <a:rPr lang="en-US" sz="900" dirty="0">
                <a:solidFill>
                  <a:srgbClr val="FFFFFF"/>
                </a:solidFill>
                <a:latin typeface="Calibri"/>
                <a:ea typeface="Calibri"/>
                <a:cs typeface="Calibri"/>
                <a:sym typeface="Calibri"/>
              </a:rPr>
              <a:t>Data Analytics and Visualization for Public Policy</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8"/>
          <p:cNvSpPr/>
          <p:nvPr/>
        </p:nvSpPr>
        <p:spPr>
          <a:xfrm>
            <a:off x="0" y="0"/>
            <a:ext cx="9144000" cy="502800"/>
          </a:xfrm>
          <a:prstGeom prst="rect">
            <a:avLst/>
          </a:prstGeom>
          <a:solidFill>
            <a:srgbClr val="800000"/>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68" name="Google Shape;168;p28" descr="1772584450591_image.png"/>
          <p:cNvPicPr preferRelativeResize="0"/>
          <p:nvPr/>
        </p:nvPicPr>
        <p:blipFill rotWithShape="1">
          <a:blip r:embed="rId3">
            <a:alphaModFix/>
          </a:blip>
          <a:srcRect/>
          <a:stretch/>
        </p:blipFill>
        <p:spPr>
          <a:xfrm>
            <a:off x="0" y="0"/>
            <a:ext cx="9144000" cy="502920"/>
          </a:xfrm>
          <a:prstGeom prst="rect">
            <a:avLst/>
          </a:prstGeom>
          <a:noFill/>
          <a:ln>
            <a:noFill/>
          </a:ln>
        </p:spPr>
      </p:pic>
      <p:sp>
        <p:nvSpPr>
          <p:cNvPr id="169" name="Google Shape;169;p28"/>
          <p:cNvSpPr txBox="1"/>
          <p:nvPr/>
        </p:nvSpPr>
        <p:spPr>
          <a:xfrm>
            <a:off x="365760" y="548640"/>
            <a:ext cx="8412600" cy="430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200" b="1">
                <a:solidFill>
                  <a:srgbClr val="800000"/>
                </a:solidFill>
                <a:latin typeface="Times New Roman" panose="02020603050405020304" pitchFamily="18" charset="0"/>
                <a:ea typeface="Calibri"/>
                <a:cs typeface="Times New Roman" panose="02020603050405020304" pitchFamily="18" charset="0"/>
                <a:sym typeface="Calibri"/>
              </a:rPr>
              <a:t>Data</a:t>
            </a:r>
            <a:endParaRPr>
              <a:latin typeface="Times New Roman" panose="02020603050405020304" pitchFamily="18" charset="0"/>
              <a:cs typeface="Times New Roman" panose="02020603050405020304" pitchFamily="18" charset="0"/>
            </a:endParaRPr>
          </a:p>
        </p:txBody>
      </p:sp>
      <p:sp>
        <p:nvSpPr>
          <p:cNvPr id="170" name="Google Shape;170;p28"/>
          <p:cNvSpPr txBox="1"/>
          <p:nvPr/>
        </p:nvSpPr>
        <p:spPr>
          <a:xfrm>
            <a:off x="365700" y="3501096"/>
            <a:ext cx="8412600" cy="1248891"/>
          </a:xfrm>
          <a:prstGeom prst="rect">
            <a:avLst/>
          </a:prstGeom>
          <a:noFill/>
          <a:ln>
            <a:noFill/>
          </a:ln>
        </p:spPr>
        <p:txBody>
          <a:bodyPr spcFirstLastPara="1" wrap="square" lIns="91425" tIns="45700" rIns="91425" bIns="45700" anchor="t" anchorCtr="0">
            <a:spAutoFit/>
          </a:bodyPr>
          <a:lstStyle/>
          <a:p>
            <a:pPr marL="457200" lvl="0" indent="0" algn="l" rtl="0">
              <a:lnSpc>
                <a:spcPct val="115000"/>
              </a:lnSpc>
              <a:spcBef>
                <a:spcPts val="200"/>
              </a:spcBef>
              <a:spcAft>
                <a:spcPts val="0"/>
              </a:spcAft>
              <a:buNone/>
            </a:pPr>
            <a:endParaRPr sz="1350" dirty="0">
              <a:solidFill>
                <a:schemeClr val="dk1"/>
              </a:solidFill>
              <a:latin typeface="Times New Roman" panose="02020603050405020304" pitchFamily="18" charset="0"/>
              <a:ea typeface="Calibri"/>
              <a:cs typeface="Times New Roman" panose="02020603050405020304" pitchFamily="18" charset="0"/>
              <a:sym typeface="Calibri"/>
            </a:endParaRPr>
          </a:p>
          <a:p>
            <a:pPr marL="0" lvl="0" indent="0" algn="l" rtl="0">
              <a:lnSpc>
                <a:spcPct val="150000"/>
              </a:lnSpc>
              <a:spcBef>
                <a:spcPts val="200"/>
              </a:spcBef>
              <a:spcAft>
                <a:spcPts val="0"/>
              </a:spcAft>
              <a:buSzPts val="1100"/>
              <a:buNone/>
            </a:pPr>
            <a:r>
              <a:rPr lang="en" sz="1350" dirty="0">
                <a:solidFill>
                  <a:schemeClr val="dk1"/>
                </a:solidFill>
                <a:latin typeface="Times New Roman" panose="02020603050405020304" pitchFamily="18" charset="0"/>
                <a:ea typeface="Calibri"/>
                <a:cs typeface="Times New Roman" panose="02020603050405020304" pitchFamily="18" charset="0"/>
                <a:sym typeface="Calibri"/>
              </a:rPr>
              <a:t>2.Visualization Outputs</a:t>
            </a:r>
            <a:endParaRPr sz="1350" dirty="0">
              <a:solidFill>
                <a:schemeClr val="dk1"/>
              </a:solidFill>
              <a:latin typeface="Times New Roman" panose="02020603050405020304" pitchFamily="18" charset="0"/>
              <a:ea typeface="Calibri"/>
              <a:cs typeface="Times New Roman" panose="02020603050405020304" pitchFamily="18" charset="0"/>
              <a:sym typeface="Calibri"/>
            </a:endParaRPr>
          </a:p>
          <a:p>
            <a:pPr marL="457200" lvl="0" indent="0" algn="l" rtl="0">
              <a:lnSpc>
                <a:spcPct val="115000"/>
              </a:lnSpc>
              <a:spcBef>
                <a:spcPts val="200"/>
              </a:spcBef>
              <a:spcAft>
                <a:spcPts val="0"/>
              </a:spcAft>
              <a:buNone/>
            </a:pPr>
            <a:r>
              <a:rPr lang="en" sz="1350" dirty="0">
                <a:solidFill>
                  <a:schemeClr val="dk1"/>
                </a:solidFill>
                <a:latin typeface="Times New Roman" panose="02020603050405020304" pitchFamily="18" charset="0"/>
                <a:ea typeface="Calibri"/>
                <a:cs typeface="Times New Roman" panose="02020603050405020304" pitchFamily="18" charset="0"/>
                <a:sym typeface="Calibri"/>
              </a:rPr>
              <a:t>Static scatter: regulatory‑news negativity vs. ΔROA across state–years.</a:t>
            </a:r>
            <a:endParaRPr sz="1350" dirty="0">
              <a:solidFill>
                <a:schemeClr val="dk1"/>
              </a:solidFill>
              <a:latin typeface="Times New Roman" panose="02020603050405020304" pitchFamily="18" charset="0"/>
              <a:ea typeface="Calibri"/>
              <a:cs typeface="Times New Roman" panose="02020603050405020304" pitchFamily="18" charset="0"/>
              <a:sym typeface="Calibri"/>
            </a:endParaRPr>
          </a:p>
          <a:p>
            <a:pPr marL="457200" lvl="0" indent="0" algn="l" rtl="0">
              <a:lnSpc>
                <a:spcPct val="115000"/>
              </a:lnSpc>
              <a:spcBef>
                <a:spcPts val="200"/>
              </a:spcBef>
              <a:spcAft>
                <a:spcPts val="200"/>
              </a:spcAft>
              <a:buNone/>
            </a:pPr>
            <a:r>
              <a:rPr lang="en" sz="1350" dirty="0">
                <a:solidFill>
                  <a:schemeClr val="dk1"/>
                </a:solidFill>
                <a:latin typeface="Times New Roman" panose="02020603050405020304" pitchFamily="18" charset="0"/>
                <a:ea typeface="Calibri"/>
                <a:cs typeface="Times New Roman" panose="02020603050405020304" pitchFamily="18" charset="0"/>
                <a:sym typeface="Calibri"/>
              </a:rPr>
              <a:t>Static map: state‑level StressScore</a:t>
            </a:r>
            <a:endParaRPr sz="1350" dirty="0">
              <a:latin typeface="Times New Roman" panose="02020603050405020304" pitchFamily="18" charset="0"/>
              <a:ea typeface="Calibri"/>
              <a:cs typeface="Times New Roman" panose="02020603050405020304" pitchFamily="18" charset="0"/>
              <a:sym typeface="Calibri"/>
            </a:endParaRPr>
          </a:p>
        </p:txBody>
      </p:sp>
      <p:sp>
        <p:nvSpPr>
          <p:cNvPr id="171" name="Google Shape;171;p28"/>
          <p:cNvSpPr/>
          <p:nvPr/>
        </p:nvSpPr>
        <p:spPr>
          <a:xfrm>
            <a:off x="0" y="4887468"/>
            <a:ext cx="9144000" cy="255900"/>
          </a:xfrm>
          <a:prstGeom prst="rect">
            <a:avLst/>
          </a:prstGeom>
          <a:solidFill>
            <a:srgbClr val="800000"/>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3" name="Google Shape;173;p28"/>
          <p:cNvSpPr txBox="1"/>
          <p:nvPr/>
        </p:nvSpPr>
        <p:spPr>
          <a:xfrm>
            <a:off x="6583680" y="4887468"/>
            <a:ext cx="2377500" cy="2307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 sz="900" dirty="0">
                <a:solidFill>
                  <a:srgbClr val="FFFFFF"/>
                </a:solidFill>
                <a:latin typeface="Calibri"/>
                <a:ea typeface="Calibri"/>
                <a:cs typeface="Calibri"/>
                <a:sym typeface="Calibri"/>
              </a:rPr>
              <a:t>4</a:t>
            </a:r>
            <a:r>
              <a:rPr lang="en" sz="900" b="0" i="0" u="none" strike="noStrike" cap="none" dirty="0">
                <a:solidFill>
                  <a:srgbClr val="FFFFFF"/>
                </a:solidFill>
                <a:latin typeface="Calibri"/>
                <a:ea typeface="Calibri"/>
                <a:cs typeface="Calibri"/>
                <a:sym typeface="Calibri"/>
              </a:rPr>
              <a:t> / </a:t>
            </a:r>
            <a:r>
              <a:rPr lang="en" sz="900" dirty="0">
                <a:solidFill>
                  <a:srgbClr val="FFFFFF"/>
                </a:solidFill>
                <a:latin typeface="Calibri"/>
                <a:ea typeface="Calibri"/>
                <a:cs typeface="Calibri"/>
                <a:sym typeface="Calibri"/>
              </a:rPr>
              <a:t>8</a:t>
            </a:r>
            <a:endParaRPr dirty="0"/>
          </a:p>
        </p:txBody>
      </p:sp>
      <p:pic>
        <p:nvPicPr>
          <p:cNvPr id="174" name="Google Shape;174;p28" title="uchicago.png"/>
          <p:cNvPicPr preferRelativeResize="0"/>
          <p:nvPr/>
        </p:nvPicPr>
        <p:blipFill>
          <a:blip r:embed="rId4">
            <a:alphaModFix/>
          </a:blip>
          <a:stretch>
            <a:fillRect/>
          </a:stretch>
        </p:blipFill>
        <p:spPr>
          <a:xfrm>
            <a:off x="8350949" y="502925"/>
            <a:ext cx="793051" cy="957076"/>
          </a:xfrm>
          <a:prstGeom prst="rect">
            <a:avLst/>
          </a:prstGeom>
          <a:noFill/>
          <a:ln>
            <a:noFill/>
          </a:ln>
        </p:spPr>
      </p:pic>
      <p:sp>
        <p:nvSpPr>
          <p:cNvPr id="2" name="Google Shape;136;p25">
            <a:extLst>
              <a:ext uri="{FF2B5EF4-FFF2-40B4-BE49-F238E27FC236}">
                <a16:creationId xmlns:a16="http://schemas.microsoft.com/office/drawing/2014/main" id="{7E22E3FB-0626-C33A-FC00-3F70C24D6A42}"/>
              </a:ext>
            </a:extLst>
          </p:cNvPr>
          <p:cNvSpPr txBox="1"/>
          <p:nvPr/>
        </p:nvSpPr>
        <p:spPr>
          <a:xfrm>
            <a:off x="182880" y="4887468"/>
            <a:ext cx="6400800" cy="230792"/>
          </a:xfrm>
          <a:prstGeom prst="rect">
            <a:avLst/>
          </a:prstGeom>
          <a:noFill/>
          <a:ln>
            <a:noFill/>
          </a:ln>
        </p:spPr>
        <p:txBody>
          <a:bodyPr spcFirstLastPara="1" wrap="square" lIns="91425" tIns="45700" rIns="91425" bIns="45700" anchor="t" anchorCtr="0">
            <a:spAutoFit/>
          </a:bodyPr>
          <a:lstStyle/>
          <a:p>
            <a:pPr lvl="0"/>
            <a:r>
              <a:rPr lang="en-US" sz="900" dirty="0">
                <a:solidFill>
                  <a:srgbClr val="FFFFFF"/>
                </a:solidFill>
                <a:latin typeface="Calibri"/>
                <a:ea typeface="Calibri"/>
                <a:cs typeface="Calibri"/>
                <a:sym typeface="Calibri"/>
              </a:rPr>
              <a:t>Data Analytics and Visualization for Public Policy</a:t>
            </a:r>
            <a:endParaRPr dirty="0"/>
          </a:p>
        </p:txBody>
      </p:sp>
      <p:sp>
        <p:nvSpPr>
          <p:cNvPr id="32" name="文本框 31">
            <a:extLst>
              <a:ext uri="{FF2B5EF4-FFF2-40B4-BE49-F238E27FC236}">
                <a16:creationId xmlns:a16="http://schemas.microsoft.com/office/drawing/2014/main" id="{15F30CC6-AF1E-9997-A142-FDADFB50A5D9}"/>
              </a:ext>
            </a:extLst>
          </p:cNvPr>
          <p:cNvSpPr txBox="1"/>
          <p:nvPr/>
        </p:nvSpPr>
        <p:spPr>
          <a:xfrm>
            <a:off x="527019" y="1479585"/>
            <a:ext cx="7662672" cy="307777"/>
          </a:xfrm>
          <a:prstGeom prst="rect">
            <a:avLst/>
          </a:prstGeom>
          <a:solidFill>
            <a:srgbClr val="92D050"/>
          </a:solidFill>
        </p:spPr>
        <p:txBody>
          <a:bodyPr wrap="square">
            <a:spAutoFit/>
          </a:bodyPr>
          <a:lstStyle/>
          <a:p>
            <a:r>
              <a:rPr lang="en-US" altLang="zh-CN"/>
              <a:t>1. Merge </a:t>
            </a:r>
            <a:r>
              <a:rPr lang="en-US" altLang="zh-CN" dirty="0"/>
              <a:t>FDIC </a:t>
            </a:r>
            <a:r>
              <a:rPr lang="en-US" altLang="zh-CN" b="1" i="1" dirty="0"/>
              <a:t>state-year banking fundamentals </a:t>
            </a:r>
            <a:r>
              <a:rPr lang="en-US" altLang="zh-CN" dirty="0"/>
              <a:t>with</a:t>
            </a:r>
            <a:r>
              <a:rPr lang="en-US" altLang="zh-CN" b="1" i="1" dirty="0"/>
              <a:t> yearly regulatory-news sentiment</a:t>
            </a:r>
            <a:r>
              <a:rPr lang="en-US" altLang="zh-CN" dirty="0"/>
              <a:t>.</a:t>
            </a:r>
            <a:endParaRPr lang="zh-CN" altLang="en-US" dirty="0"/>
          </a:p>
        </p:txBody>
      </p:sp>
      <p:sp>
        <p:nvSpPr>
          <p:cNvPr id="34" name="文本框 33">
            <a:extLst>
              <a:ext uri="{FF2B5EF4-FFF2-40B4-BE49-F238E27FC236}">
                <a16:creationId xmlns:a16="http://schemas.microsoft.com/office/drawing/2014/main" id="{0097601C-2C9B-4FC6-EF9F-5D07FEC31A83}"/>
              </a:ext>
            </a:extLst>
          </p:cNvPr>
          <p:cNvSpPr txBox="1"/>
          <p:nvPr/>
        </p:nvSpPr>
        <p:spPr>
          <a:xfrm>
            <a:off x="527019" y="925070"/>
            <a:ext cx="3364992" cy="246221"/>
          </a:xfrm>
          <a:prstGeom prst="rect">
            <a:avLst/>
          </a:prstGeom>
          <a:noFill/>
          <a:ln>
            <a:solidFill>
              <a:schemeClr val="tx1"/>
            </a:solidFill>
          </a:ln>
        </p:spPr>
        <p:txBody>
          <a:bodyPr wrap="square">
            <a:spAutoFit/>
          </a:bodyPr>
          <a:lstStyle/>
          <a:p>
            <a:r>
              <a:rPr lang="en-US" altLang="zh-CN" sz="1000" b="1" dirty="0">
                <a:latin typeface="Times New Roman" panose="02020603050405020304" pitchFamily="18" charset="0"/>
                <a:cs typeface="Times New Roman" panose="02020603050405020304" pitchFamily="18" charset="0"/>
              </a:rPr>
              <a:t>FDIC </a:t>
            </a:r>
            <a:r>
              <a:rPr lang="en-US" altLang="zh-CN" sz="1000" b="1" i="1" dirty="0">
                <a:latin typeface="Times New Roman" panose="02020603050405020304" pitchFamily="18" charset="0"/>
                <a:cs typeface="Times New Roman" panose="02020603050405020304" pitchFamily="18" charset="0"/>
              </a:rPr>
              <a:t>banking fundamentals data : ROA, ROE, Deposits</a:t>
            </a:r>
            <a:r>
              <a:rPr lang="en-US" altLang="zh-CN" sz="1000" dirty="0"/>
              <a:t> </a:t>
            </a:r>
            <a:r>
              <a:rPr lang="en-US" altLang="zh-CN" sz="1000" b="1" i="1" dirty="0" err="1">
                <a:latin typeface="Times New Roman" panose="02020603050405020304" pitchFamily="18" charset="0"/>
                <a:cs typeface="Times New Roman" panose="02020603050405020304" pitchFamily="18" charset="0"/>
              </a:rPr>
              <a:t>etc</a:t>
            </a:r>
            <a:endParaRPr lang="zh-CN" altLang="en-US" sz="1000" dirty="0">
              <a:latin typeface="Times New Roman" panose="02020603050405020304" pitchFamily="18" charset="0"/>
              <a:cs typeface="Times New Roman" panose="02020603050405020304" pitchFamily="18" charset="0"/>
            </a:endParaRPr>
          </a:p>
        </p:txBody>
      </p:sp>
      <p:sp>
        <p:nvSpPr>
          <p:cNvPr id="35" name="文本框 34">
            <a:extLst>
              <a:ext uri="{FF2B5EF4-FFF2-40B4-BE49-F238E27FC236}">
                <a16:creationId xmlns:a16="http://schemas.microsoft.com/office/drawing/2014/main" id="{851C72EC-98FF-D4AF-B82C-343791DD1C2A}"/>
              </a:ext>
            </a:extLst>
          </p:cNvPr>
          <p:cNvSpPr txBox="1"/>
          <p:nvPr/>
        </p:nvSpPr>
        <p:spPr>
          <a:xfrm>
            <a:off x="4199575" y="919832"/>
            <a:ext cx="3932038" cy="246221"/>
          </a:xfrm>
          <a:prstGeom prst="rect">
            <a:avLst/>
          </a:prstGeom>
          <a:noFill/>
          <a:ln>
            <a:solidFill>
              <a:schemeClr val="tx1"/>
            </a:solidFill>
          </a:ln>
        </p:spPr>
        <p:txBody>
          <a:bodyPr wrap="square">
            <a:spAutoFit/>
          </a:bodyPr>
          <a:lstStyle/>
          <a:p>
            <a:r>
              <a:rPr lang="en-US" altLang="zh-CN" sz="1000" dirty="0">
                <a:latin typeface="Times New Roman" panose="02020603050405020304" pitchFamily="18" charset="0"/>
                <a:cs typeface="Times New Roman" panose="02020603050405020304" pitchFamily="18" charset="0"/>
              </a:rPr>
              <a:t>negative regulatory/banking regulation news </a:t>
            </a:r>
            <a:r>
              <a:rPr lang="zh-CN" altLang="en-US" sz="1000" dirty="0">
                <a:latin typeface="Times New Roman" panose="02020603050405020304" pitchFamily="18" charset="0"/>
                <a:cs typeface="Times New Roman" panose="02020603050405020304" pitchFamily="18" charset="0"/>
              </a:rPr>
              <a:t>⮕</a:t>
            </a:r>
            <a:r>
              <a:rPr lang="en-US" altLang="zh-CN" sz="1000" dirty="0">
                <a:latin typeface="Times New Roman" panose="02020603050405020304" pitchFamily="18" charset="0"/>
                <a:cs typeface="Times New Roman" panose="02020603050405020304" pitchFamily="18" charset="0"/>
              </a:rPr>
              <a:t>NLP</a:t>
            </a:r>
            <a:r>
              <a:rPr lang="zh-CN" altLang="en-US" sz="1000" dirty="0">
                <a:latin typeface="Times New Roman" panose="02020603050405020304" pitchFamily="18" charset="0"/>
                <a:cs typeface="Times New Roman" panose="02020603050405020304" pitchFamily="18" charset="0"/>
              </a:rPr>
              <a:t>⮕</a:t>
            </a:r>
            <a:r>
              <a:rPr lang="en-US" altLang="zh-CN" sz="1000" dirty="0">
                <a:latin typeface="Times New Roman" panose="02020603050405020304" pitchFamily="18" charset="0"/>
                <a:cs typeface="Times New Roman" panose="02020603050405020304" pitchFamily="18" charset="0"/>
              </a:rPr>
              <a:t>sentiment index</a:t>
            </a:r>
            <a:endParaRPr lang="zh-CN" altLang="en-US" sz="1000" dirty="0">
              <a:latin typeface="Times New Roman" panose="02020603050405020304" pitchFamily="18" charset="0"/>
              <a:cs typeface="Times New Roman" panose="02020603050405020304" pitchFamily="18" charset="0"/>
            </a:endParaRPr>
          </a:p>
        </p:txBody>
      </p:sp>
      <p:sp>
        <p:nvSpPr>
          <p:cNvPr id="37" name="右大括号 36">
            <a:extLst>
              <a:ext uri="{FF2B5EF4-FFF2-40B4-BE49-F238E27FC236}">
                <a16:creationId xmlns:a16="http://schemas.microsoft.com/office/drawing/2014/main" id="{B1D663AC-855B-6B45-74E0-AF42EA47422D}"/>
              </a:ext>
            </a:extLst>
          </p:cNvPr>
          <p:cNvSpPr/>
          <p:nvPr/>
        </p:nvSpPr>
        <p:spPr>
          <a:xfrm rot="5400000">
            <a:off x="3907536" y="538930"/>
            <a:ext cx="298704" cy="167656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0A9CC273-0595-AB1D-C5EC-2FC0D57A9ED0}"/>
              </a:ext>
            </a:extLst>
          </p:cNvPr>
          <p:cNvSpPr txBox="1"/>
          <p:nvPr/>
        </p:nvSpPr>
        <p:spPr>
          <a:xfrm>
            <a:off x="615411" y="2044064"/>
            <a:ext cx="3276600" cy="400110"/>
          </a:xfrm>
          <a:prstGeom prst="rect">
            <a:avLst/>
          </a:prstGeom>
          <a:noFill/>
        </p:spPr>
        <p:txBody>
          <a:bodyPr wrap="square">
            <a:spAutoFit/>
          </a:bodyPr>
          <a:lstStyle/>
          <a:p>
            <a:pPr>
              <a:buNone/>
            </a:pPr>
            <a:r>
              <a:rPr lang="en-US" altLang="zh-CN" sz="1000" b="1" dirty="0">
                <a:latin typeface="Times New Roman" panose="02020603050405020304" pitchFamily="18" charset="0"/>
                <a:cs typeface="Times New Roman" panose="02020603050405020304" pitchFamily="18" charset="0"/>
              </a:rPr>
              <a:t>❶ ΔROA (Profitability Change)</a:t>
            </a:r>
          </a:p>
          <a:p>
            <a:pPr>
              <a:buNone/>
            </a:pPr>
            <a:r>
              <a:rPr lang="en-US" altLang="zh-CN" sz="1000" b="1" dirty="0">
                <a:latin typeface="Times New Roman" panose="02020603050405020304" pitchFamily="18" charset="0"/>
                <a:cs typeface="Times New Roman" panose="02020603050405020304" pitchFamily="18" charset="0"/>
              </a:rPr>
              <a:t>Change in return on assets for state s from year t to t+1</a:t>
            </a:r>
            <a:endParaRPr lang="en-US" altLang="zh-CN" sz="1000" dirty="0">
              <a:latin typeface="Times New Roman" panose="02020603050405020304" pitchFamily="18" charset="0"/>
              <a:cs typeface="Times New Roman" panose="02020603050405020304" pitchFamily="18" charset="0"/>
            </a:endParaRPr>
          </a:p>
        </p:txBody>
      </p:sp>
      <p:pic>
        <p:nvPicPr>
          <p:cNvPr id="41" name="图片 40">
            <a:extLst>
              <a:ext uri="{FF2B5EF4-FFF2-40B4-BE49-F238E27FC236}">
                <a16:creationId xmlns:a16="http://schemas.microsoft.com/office/drawing/2014/main" id="{F8D47400-78DF-EC76-DCFB-F1560C96927C}"/>
              </a:ext>
            </a:extLst>
          </p:cNvPr>
          <p:cNvPicPr>
            <a:picLocks noChangeAspect="1"/>
          </p:cNvPicPr>
          <p:nvPr/>
        </p:nvPicPr>
        <p:blipFill>
          <a:blip r:embed="rId5"/>
          <a:stretch>
            <a:fillRect/>
          </a:stretch>
        </p:blipFill>
        <p:spPr>
          <a:xfrm>
            <a:off x="713232" y="2377603"/>
            <a:ext cx="2335650" cy="266626"/>
          </a:xfrm>
          <a:prstGeom prst="rect">
            <a:avLst/>
          </a:prstGeom>
        </p:spPr>
      </p:pic>
      <p:sp>
        <p:nvSpPr>
          <p:cNvPr id="43" name="文本框 42">
            <a:extLst>
              <a:ext uri="{FF2B5EF4-FFF2-40B4-BE49-F238E27FC236}">
                <a16:creationId xmlns:a16="http://schemas.microsoft.com/office/drawing/2014/main" id="{42063683-598A-135A-21E6-968EDB0D269B}"/>
              </a:ext>
            </a:extLst>
          </p:cNvPr>
          <p:cNvSpPr txBox="1"/>
          <p:nvPr/>
        </p:nvSpPr>
        <p:spPr>
          <a:xfrm>
            <a:off x="4468368" y="2051664"/>
            <a:ext cx="4614672" cy="553998"/>
          </a:xfrm>
          <a:prstGeom prst="rect">
            <a:avLst/>
          </a:prstGeom>
          <a:noFill/>
        </p:spPr>
        <p:txBody>
          <a:bodyPr wrap="square">
            <a:spAutoFit/>
          </a:bodyPr>
          <a:lstStyle/>
          <a:p>
            <a:pPr>
              <a:buNone/>
            </a:pPr>
            <a:r>
              <a:rPr lang="en-US" altLang="zh-CN" sz="1000" b="1" dirty="0">
                <a:latin typeface="Times New Roman" panose="02020603050405020304" pitchFamily="18" charset="0"/>
                <a:cs typeface="Times New Roman" panose="02020603050405020304" pitchFamily="18" charset="0"/>
              </a:rPr>
              <a:t>❷ </a:t>
            </a:r>
            <a:r>
              <a:rPr lang="en-US" altLang="zh-CN" sz="1000" b="1" dirty="0" err="1">
                <a:latin typeface="Times New Roman" panose="02020603050405020304" pitchFamily="18" charset="0"/>
                <a:cs typeface="Times New Roman" panose="02020603050405020304" pitchFamily="18" charset="0"/>
              </a:rPr>
              <a:t>bad_year</a:t>
            </a:r>
            <a:r>
              <a:rPr lang="en-US" altLang="zh-CN" sz="1000" b="1" dirty="0">
                <a:latin typeface="Times New Roman" panose="02020603050405020304" pitchFamily="18" charset="0"/>
                <a:cs typeface="Times New Roman" panose="02020603050405020304" pitchFamily="18" charset="0"/>
              </a:rPr>
              <a:t> (Stress Indicator)</a:t>
            </a:r>
          </a:p>
          <a:p>
            <a:pPr>
              <a:buNone/>
            </a:pPr>
            <a:r>
              <a:rPr lang="en-US" altLang="zh-CN" sz="1000" b="1" dirty="0">
                <a:latin typeface="Times New Roman" panose="02020603050405020304" pitchFamily="18" charset="0"/>
                <a:cs typeface="Times New Roman" panose="02020603050405020304" pitchFamily="18" charset="0"/>
              </a:rPr>
              <a:t>Binary indicator equal to 1 if ΔROA is unusually low</a:t>
            </a:r>
          </a:p>
          <a:p>
            <a:pPr>
              <a:buNone/>
            </a:pPr>
            <a:r>
              <a:rPr lang="en-US" altLang="zh-CN" sz="1000" b="1" dirty="0">
                <a:latin typeface="Times New Roman" panose="02020603050405020304" pitchFamily="18" charset="0"/>
                <a:cs typeface="Times New Roman" panose="02020603050405020304" pitchFamily="18" charset="0"/>
              </a:rPr>
              <a:t>If </a:t>
            </a:r>
            <a:r>
              <a:rPr lang="el-GR" altLang="zh-CN" sz="1000" dirty="0">
                <a:latin typeface="Times New Roman" panose="02020603050405020304" pitchFamily="18" charset="0"/>
                <a:cs typeface="Times New Roman" panose="02020603050405020304" pitchFamily="18" charset="0"/>
              </a:rPr>
              <a:t>Δ</a:t>
            </a:r>
            <a:r>
              <a:rPr lang="en-US" altLang="zh-CN" sz="1000" dirty="0">
                <a:latin typeface="Times New Roman" panose="02020603050405020304" pitchFamily="18" charset="0"/>
                <a:cs typeface="Times New Roman" panose="02020603050405020304" pitchFamily="18" charset="0"/>
              </a:rPr>
              <a:t>ROA very</a:t>
            </a:r>
            <a:r>
              <a:rPr lang="zh-CN" altLang="en-US" sz="1000" dirty="0">
                <a:latin typeface="Times New Roman" panose="02020603050405020304" pitchFamily="18" charset="0"/>
                <a:cs typeface="Times New Roman" panose="02020603050405020304" pitchFamily="18" charset="0"/>
              </a:rPr>
              <a:t> </a:t>
            </a:r>
            <a:r>
              <a:rPr lang="en-US" altLang="zh-CN" sz="1000" dirty="0">
                <a:latin typeface="Times New Roman" panose="02020603050405020304" pitchFamily="18" charset="0"/>
                <a:cs typeface="Times New Roman" panose="02020603050405020304" pitchFamily="18" charset="0"/>
              </a:rPr>
              <a:t>low, </a:t>
            </a:r>
            <a:r>
              <a:rPr lang="en-US" altLang="zh-CN" sz="1000" dirty="0" err="1">
                <a:latin typeface="Times New Roman" panose="02020603050405020304" pitchFamily="18" charset="0"/>
                <a:cs typeface="Times New Roman" panose="02020603050405020304" pitchFamily="18" charset="0"/>
              </a:rPr>
              <a:t>bad_year</a:t>
            </a:r>
            <a:r>
              <a:rPr lang="en-US" altLang="zh-CN" sz="1000" dirty="0">
                <a:latin typeface="Times New Roman" panose="02020603050405020304" pitchFamily="18" charset="0"/>
                <a:cs typeface="Times New Roman" panose="02020603050405020304" pitchFamily="18" charset="0"/>
              </a:rPr>
              <a:t> = 1</a:t>
            </a:r>
          </a:p>
        </p:txBody>
      </p:sp>
      <p:sp>
        <p:nvSpPr>
          <p:cNvPr id="45" name="文本框 44">
            <a:extLst>
              <a:ext uri="{FF2B5EF4-FFF2-40B4-BE49-F238E27FC236}">
                <a16:creationId xmlns:a16="http://schemas.microsoft.com/office/drawing/2014/main" id="{9CFCFDD3-FCE2-3B46-2A60-86AC002FE219}"/>
              </a:ext>
            </a:extLst>
          </p:cNvPr>
          <p:cNvSpPr txBox="1"/>
          <p:nvPr/>
        </p:nvSpPr>
        <p:spPr>
          <a:xfrm>
            <a:off x="648796" y="2963302"/>
            <a:ext cx="3121437" cy="553998"/>
          </a:xfrm>
          <a:prstGeom prst="rect">
            <a:avLst/>
          </a:prstGeom>
          <a:noFill/>
        </p:spPr>
        <p:txBody>
          <a:bodyPr wrap="square">
            <a:spAutoFit/>
          </a:bodyPr>
          <a:lstStyle/>
          <a:p>
            <a:pPr>
              <a:buNone/>
            </a:pPr>
            <a:r>
              <a:rPr lang="en-US" altLang="zh-CN" sz="1000" b="1" dirty="0">
                <a:latin typeface="Times New Roman" panose="02020603050405020304" pitchFamily="18" charset="0"/>
                <a:cs typeface="Times New Roman" panose="02020603050405020304" pitchFamily="18" charset="0"/>
              </a:rPr>
              <a:t>❸ severity (Magnitude of Deterioration)</a:t>
            </a:r>
          </a:p>
          <a:p>
            <a:pPr>
              <a:buNone/>
            </a:pPr>
            <a:r>
              <a:rPr lang="en-US" altLang="zh-CN" sz="1000" b="1" dirty="0">
                <a:latin typeface="Times New Roman" panose="02020603050405020304" pitchFamily="18" charset="0"/>
                <a:cs typeface="Times New Roman" panose="02020603050405020304" pitchFamily="18" charset="0"/>
              </a:rPr>
              <a:t>Continuous measure capturing how severe the profitability decline is (HOW bad it was)</a:t>
            </a:r>
            <a:endParaRPr lang="en-US" altLang="zh-CN" sz="1000" dirty="0">
              <a:latin typeface="Times New Roman" panose="02020603050405020304" pitchFamily="18" charset="0"/>
              <a:cs typeface="Times New Roman" panose="02020603050405020304" pitchFamily="18" charset="0"/>
            </a:endParaRPr>
          </a:p>
        </p:txBody>
      </p:sp>
      <p:sp>
        <p:nvSpPr>
          <p:cNvPr id="49" name="文本框 48">
            <a:extLst>
              <a:ext uri="{FF2B5EF4-FFF2-40B4-BE49-F238E27FC236}">
                <a16:creationId xmlns:a16="http://schemas.microsoft.com/office/drawing/2014/main" id="{925FF842-8FB7-EAE1-C53D-84FC25DD9833}"/>
              </a:ext>
            </a:extLst>
          </p:cNvPr>
          <p:cNvSpPr txBox="1"/>
          <p:nvPr/>
        </p:nvSpPr>
        <p:spPr>
          <a:xfrm>
            <a:off x="4468368" y="2963302"/>
            <a:ext cx="4614672" cy="400110"/>
          </a:xfrm>
          <a:prstGeom prst="rect">
            <a:avLst/>
          </a:prstGeom>
          <a:noFill/>
        </p:spPr>
        <p:txBody>
          <a:bodyPr wrap="square">
            <a:spAutoFit/>
          </a:bodyPr>
          <a:lstStyle/>
          <a:p>
            <a:r>
              <a:rPr lang="en-US" altLang="zh-CN" sz="1000" dirty="0">
                <a:latin typeface="Times New Roman" panose="02020603050405020304" pitchFamily="18" charset="0"/>
                <a:cs typeface="Times New Roman" panose="02020603050405020304" pitchFamily="18" charset="0"/>
              </a:rPr>
              <a:t>❹ </a:t>
            </a:r>
            <a:r>
              <a:rPr lang="en-US" altLang="zh-CN" sz="1000" dirty="0" err="1">
                <a:latin typeface="Times New Roman" panose="02020603050405020304" pitchFamily="18" charset="0"/>
                <a:cs typeface="Times New Roman" panose="02020603050405020304" pitchFamily="18" charset="0"/>
              </a:rPr>
              <a:t>StressScore</a:t>
            </a:r>
            <a:r>
              <a:rPr lang="en-US" altLang="zh-CN" sz="1000" dirty="0">
                <a:latin typeface="Times New Roman" panose="02020603050405020304" pitchFamily="18" charset="0"/>
                <a:cs typeface="Times New Roman" panose="02020603050405020304" pitchFamily="18" charset="0"/>
              </a:rPr>
              <a:t> (Composite Stress Index)</a:t>
            </a:r>
          </a:p>
          <a:p>
            <a:r>
              <a:rPr lang="en-US" altLang="zh-CN" sz="1000" b="1" dirty="0" err="1">
                <a:latin typeface="Times New Roman" panose="02020603050405020304" pitchFamily="18" charset="0"/>
                <a:cs typeface="Times New Roman" panose="02020603050405020304" pitchFamily="18" charset="0"/>
              </a:rPr>
              <a:t>StressScore</a:t>
            </a:r>
            <a:r>
              <a:rPr lang="en-US" altLang="zh-CN" sz="1000" b="1" dirty="0">
                <a:latin typeface="Times New Roman" panose="02020603050405020304" pitchFamily="18" charset="0"/>
                <a:cs typeface="Times New Roman" panose="02020603050405020304" pitchFamily="18" charset="0"/>
              </a:rPr>
              <a:t> = Probability of Distress × Severity of Distress</a:t>
            </a:r>
            <a:endParaRPr lang="zh-CN" altLang="en-US" sz="1000" dirty="0">
              <a:latin typeface="Times New Roman" panose="02020603050405020304" pitchFamily="18" charset="0"/>
              <a:cs typeface="Times New Roman" panose="02020603050405020304" pitchFamily="18" charset="0"/>
            </a:endParaRPr>
          </a:p>
        </p:txBody>
      </p:sp>
      <p:pic>
        <p:nvPicPr>
          <p:cNvPr id="51" name="图片 50">
            <a:extLst>
              <a:ext uri="{FF2B5EF4-FFF2-40B4-BE49-F238E27FC236}">
                <a16:creationId xmlns:a16="http://schemas.microsoft.com/office/drawing/2014/main" id="{F56FC857-6F06-9141-5554-77E433D5C3E3}"/>
              </a:ext>
            </a:extLst>
          </p:cNvPr>
          <p:cNvPicPr>
            <a:picLocks noChangeAspect="1"/>
          </p:cNvPicPr>
          <p:nvPr/>
        </p:nvPicPr>
        <p:blipFill>
          <a:blip r:embed="rId6"/>
          <a:stretch>
            <a:fillRect/>
          </a:stretch>
        </p:blipFill>
        <p:spPr>
          <a:xfrm>
            <a:off x="4517136" y="3309245"/>
            <a:ext cx="2962656" cy="310226"/>
          </a:xfrm>
          <a:prstGeom prst="rect">
            <a:avLst/>
          </a:prstGeom>
        </p:spPr>
      </p:pic>
      <p:sp>
        <p:nvSpPr>
          <p:cNvPr id="52" name="矩形: 圆角 51">
            <a:extLst>
              <a:ext uri="{FF2B5EF4-FFF2-40B4-BE49-F238E27FC236}">
                <a16:creationId xmlns:a16="http://schemas.microsoft.com/office/drawing/2014/main" id="{4153D885-1409-19FC-8999-955133168AA9}"/>
              </a:ext>
            </a:extLst>
          </p:cNvPr>
          <p:cNvSpPr/>
          <p:nvPr/>
        </p:nvSpPr>
        <p:spPr>
          <a:xfrm>
            <a:off x="527019" y="1962912"/>
            <a:ext cx="3364992" cy="821694"/>
          </a:xfrm>
          <a:prstGeom prst="roundRect">
            <a:avLst/>
          </a:prstGeom>
          <a:solidFill>
            <a:schemeClr val="accent1">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圆角 52">
            <a:extLst>
              <a:ext uri="{FF2B5EF4-FFF2-40B4-BE49-F238E27FC236}">
                <a16:creationId xmlns:a16="http://schemas.microsoft.com/office/drawing/2014/main" id="{B4D24CE6-4090-0CC2-C84F-DB8CBC5D5FF0}"/>
              </a:ext>
            </a:extLst>
          </p:cNvPr>
          <p:cNvSpPr/>
          <p:nvPr/>
        </p:nvSpPr>
        <p:spPr>
          <a:xfrm>
            <a:off x="4358355" y="1962912"/>
            <a:ext cx="3364992" cy="821694"/>
          </a:xfrm>
          <a:prstGeom prst="roundRect">
            <a:avLst/>
          </a:prstGeom>
          <a:solidFill>
            <a:schemeClr val="accent1">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圆角 53">
            <a:extLst>
              <a:ext uri="{FF2B5EF4-FFF2-40B4-BE49-F238E27FC236}">
                <a16:creationId xmlns:a16="http://schemas.microsoft.com/office/drawing/2014/main" id="{E0386CB9-5585-C32E-D13A-D7BEF7E05FAD}"/>
              </a:ext>
            </a:extLst>
          </p:cNvPr>
          <p:cNvSpPr/>
          <p:nvPr/>
        </p:nvSpPr>
        <p:spPr>
          <a:xfrm>
            <a:off x="527019" y="2952565"/>
            <a:ext cx="3364992" cy="821694"/>
          </a:xfrm>
          <a:prstGeom prst="roundRect">
            <a:avLst/>
          </a:prstGeom>
          <a:solidFill>
            <a:schemeClr val="accent1">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圆角 54">
            <a:extLst>
              <a:ext uri="{FF2B5EF4-FFF2-40B4-BE49-F238E27FC236}">
                <a16:creationId xmlns:a16="http://schemas.microsoft.com/office/drawing/2014/main" id="{0BF33C4B-1F9C-F9BA-10EE-08F754178C59}"/>
              </a:ext>
            </a:extLst>
          </p:cNvPr>
          <p:cNvSpPr/>
          <p:nvPr/>
        </p:nvSpPr>
        <p:spPr>
          <a:xfrm>
            <a:off x="4358355" y="2922087"/>
            <a:ext cx="3364992" cy="821694"/>
          </a:xfrm>
          <a:prstGeom prst="roundRect">
            <a:avLst/>
          </a:prstGeom>
          <a:solidFill>
            <a:schemeClr val="accent1">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9"/>
          <p:cNvSpPr/>
          <p:nvPr/>
        </p:nvSpPr>
        <p:spPr>
          <a:xfrm>
            <a:off x="0" y="0"/>
            <a:ext cx="9144000" cy="502920"/>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80" name="Google Shape;180;p29" descr="1772584450591_image.png"/>
          <p:cNvPicPr preferRelativeResize="0"/>
          <p:nvPr/>
        </p:nvPicPr>
        <p:blipFill rotWithShape="1">
          <a:blip r:embed="rId3">
            <a:alphaModFix/>
          </a:blip>
          <a:srcRect/>
          <a:stretch/>
        </p:blipFill>
        <p:spPr>
          <a:xfrm>
            <a:off x="0" y="0"/>
            <a:ext cx="9144000" cy="502920"/>
          </a:xfrm>
          <a:prstGeom prst="rect">
            <a:avLst/>
          </a:prstGeom>
          <a:noFill/>
          <a:ln>
            <a:noFill/>
          </a:ln>
        </p:spPr>
      </p:pic>
      <p:sp>
        <p:nvSpPr>
          <p:cNvPr id="181" name="Google Shape;181;p29"/>
          <p:cNvSpPr txBox="1"/>
          <p:nvPr/>
        </p:nvSpPr>
        <p:spPr>
          <a:xfrm>
            <a:off x="365760" y="548640"/>
            <a:ext cx="8412600" cy="430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200" b="1" i="0" u="none" strike="noStrike" cap="none" dirty="0">
                <a:solidFill>
                  <a:srgbClr val="800000"/>
                </a:solidFill>
                <a:latin typeface="Calibri"/>
                <a:ea typeface="Calibri"/>
                <a:cs typeface="Calibri"/>
                <a:sym typeface="Calibri"/>
              </a:rPr>
              <a:t>M</a:t>
            </a:r>
            <a:r>
              <a:rPr lang="en" sz="2200" b="1" dirty="0">
                <a:solidFill>
                  <a:srgbClr val="800000"/>
                </a:solidFill>
                <a:latin typeface="Calibri"/>
                <a:ea typeface="Calibri"/>
                <a:cs typeface="Calibri"/>
                <a:sym typeface="Calibri"/>
              </a:rPr>
              <a:t>ethod - Two‑Stage Prediction + Stress Score</a:t>
            </a:r>
            <a:endParaRPr sz="2200" b="1" dirty="0">
              <a:solidFill>
                <a:srgbClr val="800000"/>
              </a:solidFill>
              <a:latin typeface="Calibri"/>
              <a:ea typeface="Calibri"/>
              <a:cs typeface="Calibri"/>
              <a:sym typeface="Calibri"/>
            </a:endParaRPr>
          </a:p>
        </p:txBody>
      </p:sp>
      <p:sp>
        <p:nvSpPr>
          <p:cNvPr id="182" name="Google Shape;182;p29"/>
          <p:cNvSpPr txBox="1"/>
          <p:nvPr/>
        </p:nvSpPr>
        <p:spPr>
          <a:xfrm>
            <a:off x="2177171" y="960828"/>
            <a:ext cx="4362367" cy="375447"/>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 sz="100" dirty="0">
                <a:solidFill>
                  <a:srgbClr val="3B3B3B"/>
                </a:solidFill>
                <a:highlight>
                  <a:srgbClr val="F8F8F8"/>
                </a:highlight>
                <a:latin typeface="Times New Roman"/>
                <a:ea typeface="Times New Roman"/>
                <a:cs typeface="Times New Roman"/>
                <a:sym typeface="Times New Roman"/>
              </a:rPr>
              <a:t>​</a:t>
            </a:r>
            <a:endParaRPr sz="100" dirty="0">
              <a:solidFill>
                <a:srgbClr val="3B3B3B"/>
              </a:solidFill>
              <a:highlight>
                <a:srgbClr val="F8F8F8"/>
              </a:highlight>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lang="zh-CN" altLang="en-US" sz="100" dirty="0">
              <a:solidFill>
                <a:srgbClr val="3B3B3B"/>
              </a:solidFill>
              <a:highlight>
                <a:srgbClr val="F8F8F8"/>
              </a:highlight>
              <a:latin typeface="Times New Roman"/>
              <a:ea typeface="Times New Roman"/>
              <a:cs typeface="Times New Roman"/>
              <a:sym typeface="Times New Roman"/>
            </a:endParaRPr>
          </a:p>
          <a:p>
            <a:pPr lvl="0">
              <a:lnSpc>
                <a:spcPct val="115000"/>
              </a:lnSpc>
              <a:buSzPts val="1100"/>
            </a:pPr>
            <a:r>
              <a:rPr lang="en-US" altLang="zh-CN" dirty="0">
                <a:latin typeface="Times New Roman" panose="02020603050405020304" pitchFamily="18" charset="0"/>
                <a:cs typeface="Times New Roman" panose="02020603050405020304" pitchFamily="18" charset="0"/>
              </a:rPr>
              <a:t>Do Sentiment Variables Enhance Bank Stress Prediction?</a:t>
            </a:r>
            <a:endParaRPr lang="en-US" dirty="0">
              <a:latin typeface="Times New Roman" panose="02020603050405020304" pitchFamily="18" charset="0"/>
              <a:cs typeface="Times New Roman" panose="02020603050405020304" pitchFamily="18" charset="0"/>
            </a:endParaRPr>
          </a:p>
        </p:txBody>
      </p:sp>
      <p:sp>
        <p:nvSpPr>
          <p:cNvPr id="183" name="Google Shape;183;p29"/>
          <p:cNvSpPr/>
          <p:nvPr/>
        </p:nvSpPr>
        <p:spPr>
          <a:xfrm>
            <a:off x="0" y="4887468"/>
            <a:ext cx="9144000" cy="256032"/>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5" name="Google Shape;185;p29"/>
          <p:cNvSpPr txBox="1"/>
          <p:nvPr/>
        </p:nvSpPr>
        <p:spPr>
          <a:xfrm>
            <a:off x="6583680" y="4887468"/>
            <a:ext cx="2377440" cy="23079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 sz="900" dirty="0">
                <a:solidFill>
                  <a:srgbClr val="FFFFFF"/>
                </a:solidFill>
                <a:latin typeface="Calibri"/>
                <a:ea typeface="Calibri"/>
                <a:cs typeface="Calibri"/>
                <a:sym typeface="Calibri"/>
              </a:rPr>
              <a:t>5</a:t>
            </a:r>
            <a:r>
              <a:rPr lang="en" sz="900" b="0" i="0" u="none" strike="noStrike" cap="none" dirty="0">
                <a:solidFill>
                  <a:srgbClr val="FFFFFF"/>
                </a:solidFill>
                <a:latin typeface="Calibri"/>
                <a:ea typeface="Calibri"/>
                <a:cs typeface="Calibri"/>
                <a:sym typeface="Calibri"/>
              </a:rPr>
              <a:t> / </a:t>
            </a:r>
            <a:r>
              <a:rPr lang="en" sz="900" dirty="0">
                <a:solidFill>
                  <a:srgbClr val="FFFFFF"/>
                </a:solidFill>
                <a:latin typeface="Calibri"/>
                <a:ea typeface="Calibri"/>
                <a:cs typeface="Calibri"/>
                <a:sym typeface="Calibri"/>
              </a:rPr>
              <a:t>8</a:t>
            </a:r>
            <a:endParaRPr dirty="0"/>
          </a:p>
        </p:txBody>
      </p:sp>
      <p:pic>
        <p:nvPicPr>
          <p:cNvPr id="186" name="Google Shape;186;p29" title="uchicago.png"/>
          <p:cNvPicPr preferRelativeResize="0"/>
          <p:nvPr/>
        </p:nvPicPr>
        <p:blipFill>
          <a:blip r:embed="rId4">
            <a:alphaModFix/>
          </a:blip>
          <a:stretch>
            <a:fillRect/>
          </a:stretch>
        </p:blipFill>
        <p:spPr>
          <a:xfrm>
            <a:off x="8350949" y="502925"/>
            <a:ext cx="793051" cy="957076"/>
          </a:xfrm>
          <a:prstGeom prst="rect">
            <a:avLst/>
          </a:prstGeom>
          <a:noFill/>
          <a:ln>
            <a:noFill/>
          </a:ln>
        </p:spPr>
      </p:pic>
      <p:sp>
        <p:nvSpPr>
          <p:cNvPr id="2" name="Google Shape;182;p29">
            <a:extLst>
              <a:ext uri="{FF2B5EF4-FFF2-40B4-BE49-F238E27FC236}">
                <a16:creationId xmlns:a16="http://schemas.microsoft.com/office/drawing/2014/main" id="{0C86684C-EED1-D91C-76A7-D39CC1B256C6}"/>
              </a:ext>
            </a:extLst>
          </p:cNvPr>
          <p:cNvSpPr txBox="1"/>
          <p:nvPr/>
        </p:nvSpPr>
        <p:spPr>
          <a:xfrm>
            <a:off x="365760" y="1584300"/>
            <a:ext cx="3392944" cy="286961"/>
          </a:xfrm>
          <a:prstGeom prst="rect">
            <a:avLst/>
          </a:prstGeom>
          <a:solidFill>
            <a:srgbClr val="FFC000"/>
          </a:solid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 sz="1100" dirty="0">
                <a:solidFill>
                  <a:schemeClr val="tx1"/>
                </a:solidFill>
                <a:highlight>
                  <a:srgbClr val="F8F8F8"/>
                </a:highlight>
                <a:latin typeface="Times New Roman" panose="02020603050405020304" pitchFamily="18" charset="0"/>
                <a:ea typeface="Times New Roman"/>
                <a:cs typeface="Times New Roman" panose="02020603050405020304" pitchFamily="18" charset="0"/>
                <a:sym typeface="Times New Roman"/>
              </a:rPr>
              <a:t>​</a:t>
            </a:r>
            <a:r>
              <a:rPr lang="en-US" altLang="zh-CN" sz="1100" dirty="0">
                <a:solidFill>
                  <a:schemeClr val="tx1"/>
                </a:solidFill>
                <a:latin typeface="Times New Roman" panose="02020603050405020304" pitchFamily="18" charset="0"/>
                <a:cs typeface="Times New Roman" panose="02020603050405020304" pitchFamily="18" charset="0"/>
              </a:rPr>
              <a:t>Model 1: Bank Stress ~ FDIC fundamentals</a:t>
            </a:r>
            <a:endParaRPr lang="en-US" sz="1100" dirty="0">
              <a:solidFill>
                <a:schemeClr val="tx1"/>
              </a:solidFill>
              <a:latin typeface="Times New Roman" panose="02020603050405020304" pitchFamily="18" charset="0"/>
              <a:cs typeface="Times New Roman" panose="02020603050405020304" pitchFamily="18" charset="0"/>
            </a:endParaRPr>
          </a:p>
        </p:txBody>
      </p:sp>
      <p:sp>
        <p:nvSpPr>
          <p:cNvPr id="3" name="Google Shape;182;p29">
            <a:extLst>
              <a:ext uri="{FF2B5EF4-FFF2-40B4-BE49-F238E27FC236}">
                <a16:creationId xmlns:a16="http://schemas.microsoft.com/office/drawing/2014/main" id="{1A2984A2-38A8-1103-6637-3F2BBB9EEE2F}"/>
              </a:ext>
            </a:extLst>
          </p:cNvPr>
          <p:cNvSpPr txBox="1"/>
          <p:nvPr/>
        </p:nvSpPr>
        <p:spPr>
          <a:xfrm>
            <a:off x="4456975" y="1604982"/>
            <a:ext cx="3819674" cy="286961"/>
          </a:xfrm>
          <a:prstGeom prst="rect">
            <a:avLst/>
          </a:prstGeom>
          <a:solidFill>
            <a:srgbClr val="FFC000"/>
          </a:solidFill>
          <a:ln>
            <a:noFill/>
          </a:ln>
        </p:spPr>
        <p:txBody>
          <a:bodyPr spcFirstLastPara="1" wrap="square" lIns="91425" tIns="45700" rIns="91425" bIns="45700" anchor="t" anchorCtr="0">
            <a:spAutoFit/>
          </a:bodyPr>
          <a:lstStyle/>
          <a:p>
            <a:pPr lvl="0">
              <a:lnSpc>
                <a:spcPct val="115000"/>
              </a:lnSpc>
              <a:buClr>
                <a:schemeClr val="dk1"/>
              </a:buClr>
              <a:buSzPts val="1100"/>
            </a:pPr>
            <a:r>
              <a:rPr lang="en" sz="1100" dirty="0">
                <a:solidFill>
                  <a:srgbClr val="3B3B3B"/>
                </a:solidFill>
                <a:highlight>
                  <a:srgbClr val="F8F8F8"/>
                </a:highlight>
                <a:latin typeface="Times New Roman"/>
                <a:ea typeface="Times New Roman"/>
                <a:cs typeface="Times New Roman"/>
                <a:sym typeface="Times New Roman"/>
              </a:rPr>
              <a:t>​Model 2: </a:t>
            </a:r>
            <a:r>
              <a:rPr lang="en-US" altLang="zh-CN" sz="1100" dirty="0">
                <a:latin typeface="Times New Roman" panose="02020603050405020304" pitchFamily="18" charset="0"/>
                <a:cs typeface="Times New Roman" panose="02020603050405020304" pitchFamily="18" charset="0"/>
              </a:rPr>
              <a:t>Bank Stress ~ FDIC fundamentals + News Sentiment</a:t>
            </a:r>
            <a:endParaRPr lang="en-US" sz="1100" dirty="0">
              <a:latin typeface="Times New Roman" panose="02020603050405020304" pitchFamily="18" charset="0"/>
              <a:cs typeface="Times New Roman" panose="02020603050405020304" pitchFamily="18" charset="0"/>
            </a:endParaRPr>
          </a:p>
        </p:txBody>
      </p:sp>
      <p:sp>
        <p:nvSpPr>
          <p:cNvPr id="4" name="矩形 3">
            <a:extLst>
              <a:ext uri="{FF2B5EF4-FFF2-40B4-BE49-F238E27FC236}">
                <a16:creationId xmlns:a16="http://schemas.microsoft.com/office/drawing/2014/main" id="{9B3B5EB6-876C-2173-9C1F-60BC2C6F0423}"/>
              </a:ext>
            </a:extLst>
          </p:cNvPr>
          <p:cNvSpPr/>
          <p:nvPr/>
        </p:nvSpPr>
        <p:spPr>
          <a:xfrm>
            <a:off x="7041709" y="1584299"/>
            <a:ext cx="1076380" cy="28696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箭头: 右 4">
            <a:extLst>
              <a:ext uri="{FF2B5EF4-FFF2-40B4-BE49-F238E27FC236}">
                <a16:creationId xmlns:a16="http://schemas.microsoft.com/office/drawing/2014/main" id="{FDD678D3-9305-F211-35C1-A17F0113F90B}"/>
              </a:ext>
            </a:extLst>
          </p:cNvPr>
          <p:cNvSpPr/>
          <p:nvPr/>
        </p:nvSpPr>
        <p:spPr>
          <a:xfrm rot="7613952" flipV="1">
            <a:off x="3112120" y="1290676"/>
            <a:ext cx="409906" cy="245627"/>
          </a:xfrm>
          <a:prstGeom prst="rightArrow">
            <a:avLst>
              <a:gd name="adj1" fmla="val 50000"/>
              <a:gd name="adj2" fmla="val 64499"/>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箭头: 右 5">
            <a:extLst>
              <a:ext uri="{FF2B5EF4-FFF2-40B4-BE49-F238E27FC236}">
                <a16:creationId xmlns:a16="http://schemas.microsoft.com/office/drawing/2014/main" id="{9DAA7B22-9168-8E17-5953-6F7B26FFB688}"/>
              </a:ext>
            </a:extLst>
          </p:cNvPr>
          <p:cNvSpPr/>
          <p:nvPr/>
        </p:nvSpPr>
        <p:spPr>
          <a:xfrm rot="2593655" flipV="1">
            <a:off x="5116011" y="1291041"/>
            <a:ext cx="433685" cy="245627"/>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 name="表格 6">
            <a:extLst>
              <a:ext uri="{FF2B5EF4-FFF2-40B4-BE49-F238E27FC236}">
                <a16:creationId xmlns:a16="http://schemas.microsoft.com/office/drawing/2014/main" id="{9D5525AE-F07F-5B6D-FF09-F2B03B8CF4A1}"/>
              </a:ext>
            </a:extLst>
          </p:cNvPr>
          <p:cNvGraphicFramePr>
            <a:graphicFrameLocks noGrp="1"/>
          </p:cNvGraphicFramePr>
          <p:nvPr>
            <p:extLst>
              <p:ext uri="{D42A27DB-BD31-4B8C-83A1-F6EECF244321}">
                <p14:modId xmlns:p14="http://schemas.microsoft.com/office/powerpoint/2010/main" val="1348578240"/>
              </p:ext>
            </p:extLst>
          </p:nvPr>
        </p:nvGraphicFramePr>
        <p:xfrm>
          <a:off x="365760" y="1921666"/>
          <a:ext cx="8229600" cy="914400"/>
        </p:xfrm>
        <a:graphic>
          <a:graphicData uri="http://schemas.openxmlformats.org/drawingml/2006/table">
            <a:tbl>
              <a:tblPr>
                <a:tableStyleId>{2D5ABB26-0587-4C30-8999-92F81FD0307C}</a:tableStyleId>
              </a:tblPr>
              <a:tblGrid>
                <a:gridCol w="2743200">
                  <a:extLst>
                    <a:ext uri="{9D8B030D-6E8A-4147-A177-3AD203B41FA5}">
                      <a16:colId xmlns:a16="http://schemas.microsoft.com/office/drawing/2014/main" val="3965603423"/>
                    </a:ext>
                  </a:extLst>
                </a:gridCol>
                <a:gridCol w="2743200">
                  <a:extLst>
                    <a:ext uri="{9D8B030D-6E8A-4147-A177-3AD203B41FA5}">
                      <a16:colId xmlns:a16="http://schemas.microsoft.com/office/drawing/2014/main" val="2515476817"/>
                    </a:ext>
                  </a:extLst>
                </a:gridCol>
                <a:gridCol w="2743200">
                  <a:extLst>
                    <a:ext uri="{9D8B030D-6E8A-4147-A177-3AD203B41FA5}">
                      <a16:colId xmlns:a16="http://schemas.microsoft.com/office/drawing/2014/main" val="964515679"/>
                    </a:ext>
                  </a:extLst>
                </a:gridCol>
              </a:tblGrid>
              <a:tr h="0">
                <a:tc>
                  <a:txBody>
                    <a:bodyPr/>
                    <a:lstStyle/>
                    <a:p>
                      <a:pPr>
                        <a:buNone/>
                      </a:pPr>
                      <a:r>
                        <a:rPr lang="en-US" dirty="0"/>
                        <a:t>Model</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buNone/>
                      </a:pPr>
                      <a:r>
                        <a:rPr lang="en-US" dirty="0"/>
                        <a:t>AUC (Bad Year Prediction)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buNone/>
                      </a:pPr>
                      <a:r>
                        <a:rPr lang="en-US"/>
                        <a:t>R² (Severity Prediction)</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056935993"/>
                  </a:ext>
                </a:extLst>
              </a:tr>
              <a:tr h="0">
                <a:tc>
                  <a:txBody>
                    <a:bodyPr/>
                    <a:lstStyle/>
                    <a:p>
                      <a:pPr>
                        <a:buNone/>
                      </a:pPr>
                      <a:r>
                        <a:rPr lang="en-US" dirty="0"/>
                        <a:t>FDIC Fundamentals Only</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buNone/>
                      </a:pPr>
                      <a:r>
                        <a:rPr lang="en-US" altLang="zh-CN"/>
                        <a:t>0.636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buNone/>
                      </a:pPr>
                      <a:r>
                        <a:rPr lang="en-US" altLang="zh-CN"/>
                        <a:t>-0.164</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684981749"/>
                  </a:ext>
                </a:extLst>
              </a:tr>
              <a:tr h="0">
                <a:tc>
                  <a:txBody>
                    <a:bodyPr/>
                    <a:lstStyle/>
                    <a:p>
                      <a:pPr>
                        <a:buNone/>
                      </a:pPr>
                      <a:r>
                        <a:rPr lang="en-US" dirty="0"/>
                        <a:t>FDIC + News Sentiment</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b="1" dirty="0"/>
                        <a:t>0.646</a:t>
                      </a: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b="1" dirty="0"/>
                        <a:t>-0.126</a:t>
                      </a: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961966"/>
                  </a:ext>
                </a:extLst>
              </a:tr>
            </a:tbl>
          </a:graphicData>
        </a:graphic>
      </p:graphicFrame>
      <p:sp>
        <p:nvSpPr>
          <p:cNvPr id="9" name="文本框 8">
            <a:extLst>
              <a:ext uri="{FF2B5EF4-FFF2-40B4-BE49-F238E27FC236}">
                <a16:creationId xmlns:a16="http://schemas.microsoft.com/office/drawing/2014/main" id="{EF841F4A-F834-1987-155D-FD9709F89588}"/>
              </a:ext>
            </a:extLst>
          </p:cNvPr>
          <p:cNvSpPr txBox="1"/>
          <p:nvPr/>
        </p:nvSpPr>
        <p:spPr>
          <a:xfrm>
            <a:off x="5227329" y="2842368"/>
            <a:ext cx="3218985" cy="1169551"/>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Higher AUC = better classification</a:t>
            </a: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Higher R² = better regression fit</a:t>
            </a:r>
            <a:endParaRPr lang="zh-CN" altLang="en-US"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B2F7F75D-8EB8-2C63-9032-3E6210F2BFC1}"/>
              </a:ext>
            </a:extLst>
          </p:cNvPr>
          <p:cNvSpPr txBox="1"/>
          <p:nvPr/>
        </p:nvSpPr>
        <p:spPr>
          <a:xfrm>
            <a:off x="259910" y="2842368"/>
            <a:ext cx="4778789" cy="1169551"/>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AUC</a:t>
            </a:r>
            <a:r>
              <a:rPr lang="en-US" altLang="zh-CN" dirty="0">
                <a:latin typeface="Times New Roman" panose="02020603050405020304" pitchFamily="18" charset="0"/>
                <a:cs typeface="Times New Roman" panose="02020603050405020304" pitchFamily="18" charset="0"/>
              </a:rPr>
              <a:t> → The model's ability to distinguish between "stressed" and "normal" states.</a:t>
            </a:r>
          </a:p>
          <a:p>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R² </a:t>
            </a:r>
            <a:r>
              <a:rPr lang="en-US" altLang="zh-CN" dirty="0">
                <a:latin typeface="Times New Roman" panose="02020603050405020304" pitchFamily="18" charset="0"/>
                <a:cs typeface="Times New Roman" panose="02020603050405020304" pitchFamily="18" charset="0"/>
              </a:rPr>
              <a:t>→ The model's ability to explain the extent of bank profitability deterioration.</a:t>
            </a:r>
            <a:endParaRPr lang="zh-CN" altLang="en-US"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498098B5-2132-5E00-3334-2DBFBAA8CE7B}"/>
              </a:ext>
            </a:extLst>
          </p:cNvPr>
          <p:cNvSpPr txBox="1"/>
          <p:nvPr/>
        </p:nvSpPr>
        <p:spPr>
          <a:xfrm>
            <a:off x="983109" y="4175774"/>
            <a:ext cx="6750490" cy="523220"/>
          </a:xfrm>
          <a:prstGeom prst="rect">
            <a:avLst/>
          </a:prstGeom>
          <a:solidFill>
            <a:schemeClr val="bg2">
              <a:lumMod val="40000"/>
              <a:lumOff val="60000"/>
            </a:schemeClr>
          </a:solidFill>
        </p:spPr>
        <p:txBody>
          <a:bodyPr wrap="square" rtlCol="0">
            <a:spAutoFit/>
          </a:bodyPr>
          <a:lstStyle/>
          <a:p>
            <a:r>
              <a:rPr lang="en-US" altLang="zh-CN" dirty="0"/>
              <a:t>Adding regulatory-news sentiment slightly improves prediction performance, suggesting that news tone contains additional information about banking stress.</a:t>
            </a:r>
            <a:endParaRPr lang="zh-CN" altLang="en-US" dirty="0"/>
          </a:p>
        </p:txBody>
      </p:sp>
      <p:sp>
        <p:nvSpPr>
          <p:cNvPr id="15" name="Google Shape;136;p25">
            <a:extLst>
              <a:ext uri="{FF2B5EF4-FFF2-40B4-BE49-F238E27FC236}">
                <a16:creationId xmlns:a16="http://schemas.microsoft.com/office/drawing/2014/main" id="{0D4F4D02-9572-1671-6543-801C47987C70}"/>
              </a:ext>
            </a:extLst>
          </p:cNvPr>
          <p:cNvSpPr txBox="1"/>
          <p:nvPr/>
        </p:nvSpPr>
        <p:spPr>
          <a:xfrm>
            <a:off x="182880" y="4887468"/>
            <a:ext cx="6400800" cy="230792"/>
          </a:xfrm>
          <a:prstGeom prst="rect">
            <a:avLst/>
          </a:prstGeom>
          <a:noFill/>
          <a:ln>
            <a:noFill/>
          </a:ln>
        </p:spPr>
        <p:txBody>
          <a:bodyPr spcFirstLastPara="1" wrap="square" lIns="91425" tIns="45700" rIns="91425" bIns="45700" anchor="t" anchorCtr="0">
            <a:spAutoFit/>
          </a:bodyPr>
          <a:lstStyle/>
          <a:p>
            <a:pPr lvl="0"/>
            <a:r>
              <a:rPr lang="en-US" sz="900" dirty="0">
                <a:solidFill>
                  <a:srgbClr val="FFFFFF"/>
                </a:solidFill>
                <a:latin typeface="Calibri"/>
                <a:ea typeface="Calibri"/>
                <a:cs typeface="Calibri"/>
                <a:sym typeface="Calibri"/>
              </a:rPr>
              <a:t>Data Analytics and Visualization for Public Policy</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0"/>
          <p:cNvSpPr/>
          <p:nvPr/>
        </p:nvSpPr>
        <p:spPr>
          <a:xfrm>
            <a:off x="0" y="0"/>
            <a:ext cx="9144000" cy="502920"/>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92" name="Google Shape;192;p30" descr="1772584450591_image.png"/>
          <p:cNvPicPr preferRelativeResize="0"/>
          <p:nvPr/>
        </p:nvPicPr>
        <p:blipFill rotWithShape="1">
          <a:blip r:embed="rId3">
            <a:alphaModFix/>
          </a:blip>
          <a:srcRect/>
          <a:stretch/>
        </p:blipFill>
        <p:spPr>
          <a:xfrm>
            <a:off x="0" y="0"/>
            <a:ext cx="9144000" cy="502920"/>
          </a:xfrm>
          <a:prstGeom prst="rect">
            <a:avLst/>
          </a:prstGeom>
          <a:noFill/>
          <a:ln>
            <a:noFill/>
          </a:ln>
        </p:spPr>
      </p:pic>
      <p:sp>
        <p:nvSpPr>
          <p:cNvPr id="193" name="Google Shape;193;p30"/>
          <p:cNvSpPr txBox="1"/>
          <p:nvPr/>
        </p:nvSpPr>
        <p:spPr>
          <a:xfrm>
            <a:off x="0" y="474538"/>
            <a:ext cx="8845147" cy="400069"/>
          </a:xfrm>
          <a:prstGeom prst="rect">
            <a:avLst/>
          </a:prstGeom>
          <a:noFill/>
          <a:ln>
            <a:noFill/>
          </a:ln>
        </p:spPr>
        <p:txBody>
          <a:bodyPr spcFirstLastPara="1" wrap="square" lIns="91425" tIns="45700" rIns="91425" bIns="45700" anchor="t" anchorCtr="0">
            <a:spAutoFit/>
          </a:bodyPr>
          <a:lstStyle/>
          <a:p>
            <a:pPr lvl="0"/>
            <a:r>
              <a:rPr lang="en-US" altLang="zh-CN" sz="2000" b="1" dirty="0">
                <a:solidFill>
                  <a:srgbClr val="800000"/>
                </a:solidFill>
                <a:latin typeface="Calibri"/>
                <a:ea typeface="Calibri"/>
                <a:cs typeface="Calibri"/>
                <a:sym typeface="Calibri"/>
              </a:rPr>
              <a:t>Result 1: </a:t>
            </a:r>
            <a:r>
              <a:rPr lang="en-US" sz="1900" b="1" i="0" u="none" strike="noStrike" cap="none" dirty="0">
                <a:solidFill>
                  <a:srgbClr val="800000"/>
                </a:solidFill>
                <a:latin typeface="Calibri"/>
                <a:ea typeface="Calibri"/>
                <a:cs typeface="Calibri"/>
                <a:sym typeface="Calibri"/>
              </a:rPr>
              <a:t>Is regulatory news sentiment correlated with changes in bank profitability</a:t>
            </a:r>
            <a:r>
              <a:rPr lang="zh-CN" altLang="en-US" sz="1900" b="1" i="0" u="none" strike="noStrike" cap="none" dirty="0">
                <a:solidFill>
                  <a:srgbClr val="800000"/>
                </a:solidFill>
                <a:latin typeface="Calibri"/>
                <a:ea typeface="Calibri"/>
                <a:cs typeface="Calibri"/>
                <a:sym typeface="Calibri"/>
              </a:rPr>
              <a:t>？</a:t>
            </a:r>
            <a:endParaRPr sz="1900" dirty="0"/>
          </a:p>
        </p:txBody>
      </p:sp>
      <p:sp>
        <p:nvSpPr>
          <p:cNvPr id="195" name="Google Shape;195;p30"/>
          <p:cNvSpPr/>
          <p:nvPr/>
        </p:nvSpPr>
        <p:spPr>
          <a:xfrm>
            <a:off x="0" y="4887468"/>
            <a:ext cx="9144000" cy="256032"/>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7" name="Google Shape;197;p30"/>
          <p:cNvSpPr txBox="1"/>
          <p:nvPr/>
        </p:nvSpPr>
        <p:spPr>
          <a:xfrm>
            <a:off x="6583680" y="4887468"/>
            <a:ext cx="2377440" cy="23079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 sz="900" dirty="0">
                <a:solidFill>
                  <a:srgbClr val="FFFFFF"/>
                </a:solidFill>
                <a:latin typeface="Calibri"/>
                <a:ea typeface="Calibri"/>
                <a:cs typeface="Calibri"/>
                <a:sym typeface="Calibri"/>
              </a:rPr>
              <a:t>6</a:t>
            </a:r>
            <a:r>
              <a:rPr lang="en" sz="900" b="0" i="0" u="none" strike="noStrike" cap="none" dirty="0">
                <a:solidFill>
                  <a:srgbClr val="FFFFFF"/>
                </a:solidFill>
                <a:latin typeface="Calibri"/>
                <a:ea typeface="Calibri"/>
                <a:cs typeface="Calibri"/>
                <a:sym typeface="Calibri"/>
              </a:rPr>
              <a:t> / </a:t>
            </a:r>
            <a:r>
              <a:rPr lang="en" sz="900" dirty="0">
                <a:solidFill>
                  <a:srgbClr val="FFFFFF"/>
                </a:solidFill>
                <a:latin typeface="Calibri"/>
                <a:ea typeface="Calibri"/>
                <a:cs typeface="Calibri"/>
                <a:sym typeface="Calibri"/>
              </a:rPr>
              <a:t>8</a:t>
            </a:r>
            <a:endParaRPr dirty="0"/>
          </a:p>
        </p:txBody>
      </p:sp>
      <p:pic>
        <p:nvPicPr>
          <p:cNvPr id="198" name="Google Shape;198;p30" title="uchicago.png"/>
          <p:cNvPicPr preferRelativeResize="0"/>
          <p:nvPr/>
        </p:nvPicPr>
        <p:blipFill>
          <a:blip r:embed="rId4">
            <a:alphaModFix/>
          </a:blip>
          <a:stretch>
            <a:fillRect/>
          </a:stretch>
        </p:blipFill>
        <p:spPr>
          <a:xfrm>
            <a:off x="8448621" y="721426"/>
            <a:ext cx="793051" cy="957076"/>
          </a:xfrm>
          <a:prstGeom prst="rect">
            <a:avLst/>
          </a:prstGeom>
          <a:noFill/>
          <a:ln>
            <a:noFill/>
          </a:ln>
        </p:spPr>
      </p:pic>
      <p:sp>
        <p:nvSpPr>
          <p:cNvPr id="2" name="文本框 1">
            <a:extLst>
              <a:ext uri="{FF2B5EF4-FFF2-40B4-BE49-F238E27FC236}">
                <a16:creationId xmlns:a16="http://schemas.microsoft.com/office/drawing/2014/main" id="{C7694700-EAB4-852C-3E58-1ACBD51CB64C}"/>
              </a:ext>
            </a:extLst>
          </p:cNvPr>
          <p:cNvSpPr txBox="1"/>
          <p:nvPr/>
        </p:nvSpPr>
        <p:spPr>
          <a:xfrm>
            <a:off x="0" y="1050077"/>
            <a:ext cx="2951356" cy="2123658"/>
          </a:xfrm>
          <a:prstGeom prst="rect">
            <a:avLst/>
          </a:prstGeom>
          <a:noFill/>
        </p:spPr>
        <p:txBody>
          <a:bodyPr wrap="square" rtlCol="0">
            <a:spAutoFit/>
          </a:bodyPr>
          <a:lstStyle/>
          <a:p>
            <a:pPr algn="ctr"/>
            <a:r>
              <a:rPr lang="en-US" altLang="zh-CN" sz="1100" dirty="0">
                <a:latin typeface="Times New Roman" panose="02020603050405020304" pitchFamily="18" charset="0"/>
                <a:cs typeface="Times New Roman" panose="02020603050405020304" pitchFamily="18" charset="0"/>
              </a:rPr>
              <a:t>More negative regulatory news sentiment</a:t>
            </a:r>
          </a:p>
          <a:p>
            <a:pPr algn="ctr"/>
            <a:r>
              <a:rPr lang="en-US" altLang="zh-CN" sz="1100" dirty="0">
                <a:latin typeface="Times New Roman" panose="02020603050405020304" pitchFamily="18" charset="0"/>
                <a:cs typeface="Times New Roman" panose="02020603050405020304" pitchFamily="18" charset="0"/>
              </a:rPr>
              <a:t>↓</a:t>
            </a:r>
          </a:p>
          <a:p>
            <a:pPr algn="ctr"/>
            <a:r>
              <a:rPr lang="en-US" altLang="zh-CN" sz="1100" dirty="0">
                <a:latin typeface="Times New Roman" panose="02020603050405020304" pitchFamily="18" charset="0"/>
                <a:cs typeface="Times New Roman" panose="02020603050405020304" pitchFamily="18" charset="0"/>
              </a:rPr>
              <a:t>Predicts / Is associated with</a:t>
            </a:r>
          </a:p>
          <a:p>
            <a:pPr algn="ctr"/>
            <a:r>
              <a:rPr lang="en-US" altLang="zh-CN" sz="1100" dirty="0">
                <a:latin typeface="Times New Roman" panose="02020603050405020304" pitchFamily="18" charset="0"/>
                <a:cs typeface="Times New Roman" panose="02020603050405020304" pitchFamily="18" charset="0"/>
              </a:rPr>
              <a:t>↓</a:t>
            </a:r>
          </a:p>
          <a:p>
            <a:pPr algn="ctr"/>
            <a:r>
              <a:rPr lang="en-US" altLang="zh-CN" sz="1100" dirty="0">
                <a:latin typeface="Times New Roman" panose="02020603050405020304" pitchFamily="18" charset="0"/>
                <a:cs typeface="Times New Roman" panose="02020603050405020304" pitchFamily="18" charset="0"/>
              </a:rPr>
              <a:t>Deterioration in next-period bank profitability (ROA declines)</a:t>
            </a:r>
          </a:p>
          <a:p>
            <a:pPr algn="ctr"/>
            <a:r>
              <a:rPr lang="en-US" altLang="zh-CN" sz="1100" dirty="0">
                <a:latin typeface="Times New Roman" panose="02020603050405020304" pitchFamily="18" charset="0"/>
                <a:cs typeface="Times New Roman" panose="02020603050405020304" pitchFamily="18" charset="0"/>
              </a:rPr>
              <a:t>↓</a:t>
            </a:r>
          </a:p>
          <a:p>
            <a:pPr algn="ctr"/>
            <a:r>
              <a:rPr lang="en-US" altLang="zh-CN" sz="1100" b="1" dirty="0">
                <a:latin typeface="Times New Roman" panose="02020603050405020304" pitchFamily="18" charset="0"/>
                <a:cs typeface="Times New Roman" panose="02020603050405020304" pitchFamily="18" charset="0"/>
              </a:rPr>
              <a:t>If this relationship holds</a:t>
            </a:r>
            <a:endParaRPr lang="en-US" altLang="zh-CN" sz="1100" dirty="0">
              <a:latin typeface="Times New Roman" panose="02020603050405020304" pitchFamily="18" charset="0"/>
              <a:cs typeface="Times New Roman" panose="02020603050405020304" pitchFamily="18" charset="0"/>
            </a:endParaRPr>
          </a:p>
          <a:p>
            <a:pPr algn="ctr"/>
            <a:r>
              <a:rPr lang="en-US" altLang="zh-CN" sz="1100" dirty="0">
                <a:latin typeface="Times New Roman" panose="02020603050405020304" pitchFamily="18" charset="0"/>
                <a:cs typeface="Times New Roman" panose="02020603050405020304" pitchFamily="18" charset="0"/>
              </a:rPr>
              <a:t>↓</a:t>
            </a:r>
            <a:br>
              <a:rPr lang="zh-CN" altLang="en-US" sz="1100" dirty="0">
                <a:latin typeface="Times New Roman" panose="02020603050405020304" pitchFamily="18" charset="0"/>
                <a:cs typeface="Times New Roman" panose="02020603050405020304" pitchFamily="18" charset="0"/>
              </a:rPr>
            </a:br>
            <a:r>
              <a:rPr lang="en-US" altLang="zh-CN" sz="1100" b="1" dirty="0">
                <a:latin typeface="Times New Roman" panose="02020603050405020304" pitchFamily="18" charset="0"/>
                <a:cs typeface="Times New Roman" panose="02020603050405020304" pitchFamily="18" charset="0"/>
              </a:rPr>
              <a:t>News sentiment may serve as an early warning signal of banking stress</a:t>
            </a:r>
            <a:endParaRPr lang="en-US" altLang="zh-CN" sz="1100" dirty="0">
              <a:latin typeface="Times New Roman" panose="02020603050405020304" pitchFamily="18" charset="0"/>
              <a:cs typeface="Times New Roman" panose="02020603050405020304" pitchFamily="18" charset="0"/>
            </a:endParaRPr>
          </a:p>
          <a:p>
            <a:endParaRPr lang="zh-CN" altLang="en-US" sz="1100" dirty="0">
              <a:latin typeface="Times New Roman" panose="02020603050405020304" pitchFamily="18" charset="0"/>
              <a:cs typeface="Times New Roman" panose="02020603050405020304" pitchFamily="18" charset="0"/>
            </a:endParaRPr>
          </a:p>
        </p:txBody>
      </p:sp>
      <p:pic>
        <p:nvPicPr>
          <p:cNvPr id="8" name="图片 7">
            <a:extLst>
              <a:ext uri="{FF2B5EF4-FFF2-40B4-BE49-F238E27FC236}">
                <a16:creationId xmlns:a16="http://schemas.microsoft.com/office/drawing/2014/main" id="{3BA90FA2-FDFE-6D01-1DE9-117B26801F1B}"/>
              </a:ext>
            </a:extLst>
          </p:cNvPr>
          <p:cNvPicPr>
            <a:picLocks noChangeAspect="1"/>
          </p:cNvPicPr>
          <p:nvPr/>
        </p:nvPicPr>
        <p:blipFill>
          <a:blip r:embed="rId5"/>
          <a:stretch>
            <a:fillRect/>
          </a:stretch>
        </p:blipFill>
        <p:spPr>
          <a:xfrm>
            <a:off x="3224097" y="788020"/>
            <a:ext cx="4548303" cy="3032202"/>
          </a:xfrm>
          <a:prstGeom prst="rect">
            <a:avLst/>
          </a:prstGeom>
        </p:spPr>
      </p:pic>
      <p:sp>
        <p:nvSpPr>
          <p:cNvPr id="9" name="文本框 8">
            <a:extLst>
              <a:ext uri="{FF2B5EF4-FFF2-40B4-BE49-F238E27FC236}">
                <a16:creationId xmlns:a16="http://schemas.microsoft.com/office/drawing/2014/main" id="{81B91B05-E0FA-5ED2-7CDE-8C420F4C7B77}"/>
              </a:ext>
            </a:extLst>
          </p:cNvPr>
          <p:cNvSpPr txBox="1"/>
          <p:nvPr/>
        </p:nvSpPr>
        <p:spPr>
          <a:xfrm>
            <a:off x="121920" y="3714855"/>
            <a:ext cx="3261360" cy="954107"/>
          </a:xfrm>
          <a:prstGeom prst="rect">
            <a:avLst/>
          </a:prstGeom>
          <a:noFill/>
          <a:ln>
            <a:solidFill>
              <a:schemeClr val="bg2">
                <a:lumMod val="50000"/>
              </a:schemeClr>
            </a:solidFill>
          </a:ln>
        </p:spPr>
        <p:txBody>
          <a:bodyPr wrap="square" rtlCol="0">
            <a:spAutoFit/>
          </a:bodyPr>
          <a:lstStyle/>
          <a:p>
            <a:r>
              <a:rPr lang="en-US" altLang="zh-CN" dirty="0">
                <a:latin typeface="Times New Roman" panose="02020603050405020304" pitchFamily="18" charset="0"/>
                <a:cs typeface="Times New Roman" panose="02020603050405020304" pitchFamily="18" charset="0"/>
              </a:rPr>
              <a:t>As regulatory news turns more </a:t>
            </a:r>
            <a:r>
              <a:rPr lang="en-US" altLang="zh-CN" dirty="0">
                <a:solidFill>
                  <a:srgbClr val="0070C0"/>
                </a:solidFill>
                <a:latin typeface="Times New Roman" panose="02020603050405020304" pitchFamily="18" charset="0"/>
                <a:cs typeface="Times New Roman" panose="02020603050405020304" pitchFamily="18" charset="0"/>
              </a:rPr>
              <a:t>negative</a:t>
            </a:r>
          </a:p>
          <a:p>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Changes in bank profitability in the following period show a </a:t>
            </a:r>
            <a:r>
              <a:rPr lang="en-US" altLang="zh-CN" dirty="0">
                <a:solidFill>
                  <a:srgbClr val="C00000"/>
                </a:solidFill>
                <a:latin typeface="Times New Roman" panose="02020603050405020304" pitchFamily="18" charset="0"/>
                <a:cs typeface="Times New Roman" panose="02020603050405020304" pitchFamily="18" charset="0"/>
              </a:rPr>
              <a:t>declining</a:t>
            </a:r>
            <a:r>
              <a:rPr lang="en-US" altLang="zh-CN" dirty="0">
                <a:latin typeface="Times New Roman" panose="02020603050405020304" pitchFamily="18" charset="0"/>
                <a:cs typeface="Times New Roman" panose="02020603050405020304" pitchFamily="18" charset="0"/>
              </a:rPr>
              <a:t> trend.</a:t>
            </a:r>
            <a:endParaRPr lang="zh-CN" altLang="en-US" dirty="0">
              <a:latin typeface="Times New Roman" panose="02020603050405020304" pitchFamily="18" charset="0"/>
              <a:cs typeface="Times New Roman" panose="02020603050405020304" pitchFamily="18" charset="0"/>
            </a:endParaRPr>
          </a:p>
        </p:txBody>
      </p:sp>
      <p:cxnSp>
        <p:nvCxnSpPr>
          <p:cNvPr id="11" name="直接箭头连接符 10">
            <a:extLst>
              <a:ext uri="{FF2B5EF4-FFF2-40B4-BE49-F238E27FC236}">
                <a16:creationId xmlns:a16="http://schemas.microsoft.com/office/drawing/2014/main" id="{3FB618C6-B73B-3583-D3E7-68FEF6CC5BC1}"/>
              </a:ext>
            </a:extLst>
          </p:cNvPr>
          <p:cNvCxnSpPr/>
          <p:nvPr/>
        </p:nvCxnSpPr>
        <p:spPr>
          <a:xfrm flipH="1">
            <a:off x="2243328" y="1999488"/>
            <a:ext cx="2133600" cy="1737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8BF8CFE3-CDA6-223D-46E7-7805F482C551}"/>
              </a:ext>
            </a:extLst>
          </p:cNvPr>
          <p:cNvSpPr txBox="1"/>
          <p:nvPr/>
        </p:nvSpPr>
        <p:spPr>
          <a:xfrm>
            <a:off x="3745992" y="3767539"/>
            <a:ext cx="4657344" cy="954107"/>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More negative regulatory news sentiment is associated with a higher likelihood of deterioration in next-period bank profitability. This reflects a </a:t>
            </a:r>
            <a:r>
              <a:rPr lang="en-US" altLang="zh-CN" b="1" dirty="0">
                <a:latin typeface="Times New Roman" panose="02020603050405020304" pitchFamily="18" charset="0"/>
                <a:cs typeface="Times New Roman" panose="02020603050405020304" pitchFamily="18" charset="0"/>
              </a:rPr>
              <a:t>directional relationship</a:t>
            </a:r>
            <a:r>
              <a:rPr lang="en-US" altLang="zh-CN" dirty="0">
                <a:latin typeface="Times New Roman" panose="02020603050405020304" pitchFamily="18" charset="0"/>
                <a:cs typeface="Times New Roman" panose="02020603050405020304" pitchFamily="18" charset="0"/>
              </a:rPr>
              <a:t>, rather than a </a:t>
            </a:r>
            <a:r>
              <a:rPr lang="en-US" altLang="zh-CN" b="1" dirty="0">
                <a:latin typeface="Times New Roman" panose="02020603050405020304" pitchFamily="18" charset="0"/>
                <a:cs typeface="Times New Roman" panose="02020603050405020304" pitchFamily="18" charset="0"/>
              </a:rPr>
              <a:t>strong linear relationship</a:t>
            </a: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
        <p:nvSpPr>
          <p:cNvPr id="13" name="Google Shape;136;p25">
            <a:extLst>
              <a:ext uri="{FF2B5EF4-FFF2-40B4-BE49-F238E27FC236}">
                <a16:creationId xmlns:a16="http://schemas.microsoft.com/office/drawing/2014/main" id="{7687B3C2-3EA4-0F85-1977-260AD35C33F6}"/>
              </a:ext>
            </a:extLst>
          </p:cNvPr>
          <p:cNvSpPr txBox="1"/>
          <p:nvPr/>
        </p:nvSpPr>
        <p:spPr>
          <a:xfrm>
            <a:off x="182880" y="4887468"/>
            <a:ext cx="6400800" cy="230792"/>
          </a:xfrm>
          <a:prstGeom prst="rect">
            <a:avLst/>
          </a:prstGeom>
          <a:noFill/>
          <a:ln>
            <a:noFill/>
          </a:ln>
        </p:spPr>
        <p:txBody>
          <a:bodyPr spcFirstLastPara="1" wrap="square" lIns="91425" tIns="45700" rIns="91425" bIns="45700" anchor="t" anchorCtr="0">
            <a:spAutoFit/>
          </a:bodyPr>
          <a:lstStyle/>
          <a:p>
            <a:pPr lvl="0"/>
            <a:r>
              <a:rPr lang="en-US" sz="900" dirty="0">
                <a:solidFill>
                  <a:srgbClr val="FFFFFF"/>
                </a:solidFill>
                <a:latin typeface="Calibri"/>
                <a:ea typeface="Calibri"/>
                <a:cs typeface="Calibri"/>
                <a:sym typeface="Calibri"/>
              </a:rPr>
              <a:t>Data Analytics and Visualization for Public Policy</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1"/>
          <p:cNvSpPr/>
          <p:nvPr/>
        </p:nvSpPr>
        <p:spPr>
          <a:xfrm>
            <a:off x="0" y="0"/>
            <a:ext cx="9144000" cy="502920"/>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04" name="Google Shape;204;p31" descr="1772584450591_image.png"/>
          <p:cNvPicPr preferRelativeResize="0"/>
          <p:nvPr/>
        </p:nvPicPr>
        <p:blipFill rotWithShape="1">
          <a:blip r:embed="rId3">
            <a:alphaModFix/>
          </a:blip>
          <a:srcRect/>
          <a:stretch/>
        </p:blipFill>
        <p:spPr>
          <a:xfrm>
            <a:off x="0" y="0"/>
            <a:ext cx="9144000" cy="502920"/>
          </a:xfrm>
          <a:prstGeom prst="rect">
            <a:avLst/>
          </a:prstGeom>
          <a:noFill/>
          <a:ln>
            <a:noFill/>
          </a:ln>
        </p:spPr>
      </p:pic>
      <p:sp>
        <p:nvSpPr>
          <p:cNvPr id="205" name="Google Shape;205;p31"/>
          <p:cNvSpPr txBox="1"/>
          <p:nvPr/>
        </p:nvSpPr>
        <p:spPr>
          <a:xfrm>
            <a:off x="0" y="477774"/>
            <a:ext cx="8412480"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dirty="0">
                <a:solidFill>
                  <a:srgbClr val="800000"/>
                </a:solidFill>
                <a:latin typeface="Calibri"/>
                <a:ea typeface="Calibri"/>
                <a:cs typeface="Calibri"/>
                <a:sym typeface="Calibri"/>
              </a:rPr>
              <a:t>Result 2: Geographic Distribution of Banking Stress</a:t>
            </a:r>
            <a:endParaRPr sz="1800" dirty="0"/>
          </a:p>
        </p:txBody>
      </p:sp>
      <p:sp>
        <p:nvSpPr>
          <p:cNvPr id="207" name="Google Shape;207;p31"/>
          <p:cNvSpPr/>
          <p:nvPr/>
        </p:nvSpPr>
        <p:spPr>
          <a:xfrm>
            <a:off x="0" y="4887468"/>
            <a:ext cx="9144000" cy="256032"/>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9" name="Google Shape;209;p31"/>
          <p:cNvSpPr txBox="1"/>
          <p:nvPr/>
        </p:nvSpPr>
        <p:spPr>
          <a:xfrm>
            <a:off x="6583680" y="4887468"/>
            <a:ext cx="2377440" cy="23079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 sz="900" b="0" i="0" u="none" strike="noStrike" cap="none" dirty="0">
                <a:solidFill>
                  <a:srgbClr val="FFFFFF"/>
                </a:solidFill>
                <a:latin typeface="Calibri"/>
                <a:ea typeface="Calibri"/>
                <a:cs typeface="Calibri"/>
                <a:sym typeface="Calibri"/>
              </a:rPr>
              <a:t>7/ 8</a:t>
            </a:r>
            <a:endParaRPr dirty="0"/>
          </a:p>
        </p:txBody>
      </p:sp>
      <p:pic>
        <p:nvPicPr>
          <p:cNvPr id="3" name="图片 2">
            <a:extLst>
              <a:ext uri="{FF2B5EF4-FFF2-40B4-BE49-F238E27FC236}">
                <a16:creationId xmlns:a16="http://schemas.microsoft.com/office/drawing/2014/main" id="{9E6232B2-EA65-3F45-231D-5001BFFE4C58}"/>
              </a:ext>
            </a:extLst>
          </p:cNvPr>
          <p:cNvPicPr>
            <a:picLocks noChangeAspect="1"/>
          </p:cNvPicPr>
          <p:nvPr/>
        </p:nvPicPr>
        <p:blipFill>
          <a:blip r:embed="rId4"/>
          <a:stretch>
            <a:fillRect/>
          </a:stretch>
        </p:blipFill>
        <p:spPr>
          <a:xfrm>
            <a:off x="58004" y="767334"/>
            <a:ext cx="3721516" cy="2571750"/>
          </a:xfrm>
          <a:prstGeom prst="rect">
            <a:avLst/>
          </a:prstGeom>
        </p:spPr>
      </p:pic>
      <p:graphicFrame>
        <p:nvGraphicFramePr>
          <p:cNvPr id="4" name="表格 3">
            <a:extLst>
              <a:ext uri="{FF2B5EF4-FFF2-40B4-BE49-F238E27FC236}">
                <a16:creationId xmlns:a16="http://schemas.microsoft.com/office/drawing/2014/main" id="{675D3A2D-2364-FAE4-E087-80B2CB2539CC}"/>
              </a:ext>
            </a:extLst>
          </p:cNvPr>
          <p:cNvGraphicFramePr>
            <a:graphicFrameLocks noGrp="1"/>
          </p:cNvGraphicFramePr>
          <p:nvPr>
            <p:extLst>
              <p:ext uri="{D42A27DB-BD31-4B8C-83A1-F6EECF244321}">
                <p14:modId xmlns:p14="http://schemas.microsoft.com/office/powerpoint/2010/main" val="551228235"/>
              </p:ext>
            </p:extLst>
          </p:nvPr>
        </p:nvGraphicFramePr>
        <p:xfrm>
          <a:off x="3895344" y="1117815"/>
          <a:ext cx="2596896" cy="1889760"/>
        </p:xfrm>
        <a:graphic>
          <a:graphicData uri="http://schemas.openxmlformats.org/drawingml/2006/table">
            <a:tbl>
              <a:tblPr/>
              <a:tblGrid>
                <a:gridCol w="865632">
                  <a:extLst>
                    <a:ext uri="{9D8B030D-6E8A-4147-A177-3AD203B41FA5}">
                      <a16:colId xmlns:a16="http://schemas.microsoft.com/office/drawing/2014/main" val="2257339919"/>
                    </a:ext>
                  </a:extLst>
                </a:gridCol>
                <a:gridCol w="865632">
                  <a:extLst>
                    <a:ext uri="{9D8B030D-6E8A-4147-A177-3AD203B41FA5}">
                      <a16:colId xmlns:a16="http://schemas.microsoft.com/office/drawing/2014/main" val="1772832391"/>
                    </a:ext>
                  </a:extLst>
                </a:gridCol>
                <a:gridCol w="865632">
                  <a:extLst>
                    <a:ext uri="{9D8B030D-6E8A-4147-A177-3AD203B41FA5}">
                      <a16:colId xmlns:a16="http://schemas.microsoft.com/office/drawing/2014/main" val="1819158884"/>
                    </a:ext>
                  </a:extLst>
                </a:gridCol>
              </a:tblGrid>
              <a:tr h="0">
                <a:tc>
                  <a:txBody>
                    <a:bodyPr/>
                    <a:lstStyle/>
                    <a:p>
                      <a:pPr algn="ctr">
                        <a:buNone/>
                      </a:pPr>
                      <a:r>
                        <a:rPr lang="en-US" sz="1100" dirty="0">
                          <a:latin typeface="Times New Roman" panose="02020603050405020304" pitchFamily="18" charset="0"/>
                          <a:cs typeface="Times New Roman" panose="02020603050405020304" pitchFamily="18" charset="0"/>
                        </a:rPr>
                        <a:t>State</a:t>
                      </a: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buNone/>
                      </a:pPr>
                      <a:r>
                        <a:rPr lang="en-US" sz="1100" dirty="0">
                          <a:latin typeface="Times New Roman" panose="02020603050405020304" pitchFamily="18" charset="0"/>
                          <a:cs typeface="Times New Roman" panose="02020603050405020304" pitchFamily="18" charset="0"/>
                        </a:rPr>
                        <a:t>Bad-Year Share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buNone/>
                      </a:pPr>
                      <a:r>
                        <a:rPr lang="en-US" sz="1100" dirty="0">
                          <a:latin typeface="Times New Roman" panose="02020603050405020304" pitchFamily="18" charset="0"/>
                          <a:cs typeface="Times New Roman" panose="02020603050405020304" pitchFamily="18" charset="0"/>
                        </a:rPr>
                        <a:t>Worst </a:t>
                      </a:r>
                      <a:r>
                        <a:rPr lang="el-GR" sz="1100" dirty="0">
                          <a:latin typeface="Times New Roman" panose="02020603050405020304" pitchFamily="18" charset="0"/>
                          <a:cs typeface="Times New Roman" panose="02020603050405020304" pitchFamily="18" charset="0"/>
                        </a:rPr>
                        <a:t>Δ</a:t>
                      </a:r>
                      <a:r>
                        <a:rPr lang="en-US" sz="1100" dirty="0">
                          <a:latin typeface="Times New Roman" panose="02020603050405020304" pitchFamily="18" charset="0"/>
                          <a:cs typeface="Times New Roman" panose="02020603050405020304" pitchFamily="18" charset="0"/>
                        </a:rPr>
                        <a:t>ROA</a:t>
                      </a: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1512951838"/>
                  </a:ext>
                </a:extLst>
              </a:tr>
              <a:tr h="0">
                <a:tc>
                  <a:txBody>
                    <a:bodyPr/>
                    <a:lstStyle/>
                    <a:p>
                      <a:pPr algn="ctr">
                        <a:buNone/>
                      </a:pPr>
                      <a:r>
                        <a:rPr lang="en-US" sz="1100">
                          <a:latin typeface="Times New Roman" panose="02020603050405020304" pitchFamily="18" charset="0"/>
                          <a:cs typeface="Times New Roman" panose="02020603050405020304" pitchFamily="18" charset="0"/>
                        </a:rPr>
                        <a:t>Nevada</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b="1" dirty="0">
                          <a:latin typeface="Times New Roman" panose="02020603050405020304" pitchFamily="18" charset="0"/>
                          <a:cs typeface="Times New Roman" panose="02020603050405020304" pitchFamily="18" charset="0"/>
                        </a:rPr>
                        <a:t>0.71</a:t>
                      </a:r>
                      <a:endParaRPr lang="zh-CN" altLang="en-US"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a:latin typeface="Times New Roman" panose="02020603050405020304" pitchFamily="18" charset="0"/>
                          <a:cs typeface="Times New Roman" panose="02020603050405020304" pitchFamily="18" charset="0"/>
                        </a:rPr>
                        <a:t>-0.0287</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8113866"/>
                  </a:ext>
                </a:extLst>
              </a:tr>
              <a:tr h="0">
                <a:tc>
                  <a:txBody>
                    <a:bodyPr/>
                    <a:lstStyle/>
                    <a:p>
                      <a:pPr algn="ctr">
                        <a:buNone/>
                      </a:pPr>
                      <a:r>
                        <a:rPr lang="en-US" sz="1100">
                          <a:latin typeface="Times New Roman" panose="02020603050405020304" pitchFamily="18" charset="0"/>
                          <a:cs typeface="Times New Roman" panose="02020603050405020304" pitchFamily="18" charset="0"/>
                        </a:rPr>
                        <a:t>Virginia</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b="1" dirty="0">
                          <a:latin typeface="Times New Roman" panose="02020603050405020304" pitchFamily="18" charset="0"/>
                          <a:cs typeface="Times New Roman" panose="02020603050405020304" pitchFamily="18" charset="0"/>
                        </a:rPr>
                        <a:t>0.71</a:t>
                      </a:r>
                      <a:endParaRPr lang="zh-CN" altLang="en-US"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a:latin typeface="Times New Roman" panose="02020603050405020304" pitchFamily="18" charset="0"/>
                          <a:cs typeface="Times New Roman" panose="02020603050405020304" pitchFamily="18" charset="0"/>
                        </a:rPr>
                        <a:t>-0.0064</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9146274"/>
                  </a:ext>
                </a:extLst>
              </a:tr>
              <a:tr h="0">
                <a:tc>
                  <a:txBody>
                    <a:bodyPr/>
                    <a:lstStyle/>
                    <a:p>
                      <a:pPr algn="ctr">
                        <a:buNone/>
                      </a:pPr>
                      <a:r>
                        <a:rPr lang="en-US" sz="1100" dirty="0">
                          <a:latin typeface="Times New Roman" panose="02020603050405020304" pitchFamily="18" charset="0"/>
                          <a:cs typeface="Times New Roman" panose="02020603050405020304" pitchFamily="18" charset="0"/>
                        </a:rPr>
                        <a:t>Delaware</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dirty="0">
                          <a:latin typeface="Times New Roman" panose="02020603050405020304" pitchFamily="18" charset="0"/>
                          <a:cs typeface="Times New Roman" panose="02020603050405020304" pitchFamily="18" charset="0"/>
                        </a:rPr>
                        <a:t>0.43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dirty="0">
                          <a:latin typeface="Times New Roman" panose="02020603050405020304" pitchFamily="18" charset="0"/>
                          <a:cs typeface="Times New Roman" panose="02020603050405020304" pitchFamily="18" charset="0"/>
                        </a:rPr>
                        <a:t>-0.0080</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5984846"/>
                  </a:ext>
                </a:extLst>
              </a:tr>
              <a:tr h="0">
                <a:tc>
                  <a:txBody>
                    <a:bodyPr/>
                    <a:lstStyle/>
                    <a:p>
                      <a:pPr algn="ctr">
                        <a:buNone/>
                      </a:pPr>
                      <a:r>
                        <a:rPr lang="en-US" sz="1100" dirty="0">
                          <a:latin typeface="Times New Roman" panose="02020603050405020304" pitchFamily="18" charset="0"/>
                          <a:cs typeface="Times New Roman" panose="02020603050405020304" pitchFamily="18" charset="0"/>
                        </a:rPr>
                        <a:t>South Dakota</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dirty="0">
                          <a:latin typeface="Times New Roman" panose="02020603050405020304" pitchFamily="18" charset="0"/>
                          <a:cs typeface="Times New Roman" panose="02020603050405020304" pitchFamily="18" charset="0"/>
                        </a:rPr>
                        <a:t>0.43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dirty="0">
                          <a:latin typeface="Times New Roman" panose="02020603050405020304" pitchFamily="18" charset="0"/>
                          <a:cs typeface="Times New Roman" panose="02020603050405020304" pitchFamily="18" charset="0"/>
                        </a:rPr>
                        <a:t>-0.0081</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8466835"/>
                  </a:ext>
                </a:extLst>
              </a:tr>
              <a:tr h="0">
                <a:tc>
                  <a:txBody>
                    <a:bodyPr/>
                    <a:lstStyle/>
                    <a:p>
                      <a:pPr algn="ctr">
                        <a:buNone/>
                      </a:pPr>
                      <a:r>
                        <a:rPr lang="en-US" sz="1100">
                          <a:latin typeface="Times New Roman" panose="02020603050405020304" pitchFamily="18" charset="0"/>
                          <a:cs typeface="Times New Roman" panose="02020603050405020304" pitchFamily="18" charset="0"/>
                        </a:rPr>
                        <a:t>Alabama</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a:buNone/>
                      </a:pPr>
                      <a:r>
                        <a:rPr lang="en-US" altLang="zh-CN" sz="1100" dirty="0">
                          <a:latin typeface="Times New Roman" panose="02020603050405020304" pitchFamily="18" charset="0"/>
                          <a:cs typeface="Times New Roman" panose="02020603050405020304" pitchFamily="18" charset="0"/>
                        </a:rPr>
                        <a:t>0.43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a:buNone/>
                      </a:pPr>
                      <a:r>
                        <a:rPr lang="en-US" altLang="zh-CN" sz="1100" dirty="0">
                          <a:latin typeface="Times New Roman" panose="02020603050405020304" pitchFamily="18" charset="0"/>
                          <a:cs typeface="Times New Roman" panose="02020603050405020304" pitchFamily="18" charset="0"/>
                        </a:rPr>
                        <a:t>-0.0100</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3459188158"/>
                  </a:ext>
                </a:extLst>
              </a:tr>
            </a:tbl>
          </a:graphicData>
        </a:graphic>
      </p:graphicFrame>
      <p:sp>
        <p:nvSpPr>
          <p:cNvPr id="6" name="文本框 5">
            <a:extLst>
              <a:ext uri="{FF2B5EF4-FFF2-40B4-BE49-F238E27FC236}">
                <a16:creationId xmlns:a16="http://schemas.microsoft.com/office/drawing/2014/main" id="{534CD6FD-7162-5EEC-0BF0-8DAC1AF93B57}"/>
              </a:ext>
            </a:extLst>
          </p:cNvPr>
          <p:cNvSpPr txBox="1"/>
          <p:nvPr/>
        </p:nvSpPr>
        <p:spPr>
          <a:xfrm>
            <a:off x="3895344" y="866072"/>
            <a:ext cx="2596896" cy="261610"/>
          </a:xfrm>
          <a:prstGeom prst="rect">
            <a:avLst/>
          </a:prstGeom>
          <a:noFill/>
          <a:ln>
            <a:solidFill>
              <a:schemeClr val="tx1"/>
            </a:solidFill>
          </a:ln>
        </p:spPr>
        <p:txBody>
          <a:bodyPr wrap="square">
            <a:spAutoFit/>
          </a:bodyPr>
          <a:lstStyle/>
          <a:p>
            <a:pPr algn="ctr"/>
            <a:r>
              <a:rPr lang="en-US" altLang="zh-CN" sz="1100" dirty="0"/>
              <a:t>Top Stress States</a:t>
            </a:r>
            <a:endParaRPr lang="zh-CN" altLang="en-US" sz="1100" dirty="0"/>
          </a:p>
        </p:txBody>
      </p:sp>
      <p:graphicFrame>
        <p:nvGraphicFramePr>
          <p:cNvPr id="9" name="表格 8">
            <a:extLst>
              <a:ext uri="{FF2B5EF4-FFF2-40B4-BE49-F238E27FC236}">
                <a16:creationId xmlns:a16="http://schemas.microsoft.com/office/drawing/2014/main" id="{6F6FED72-45EE-74A6-A222-E370FCB2B22E}"/>
              </a:ext>
            </a:extLst>
          </p:cNvPr>
          <p:cNvGraphicFramePr>
            <a:graphicFrameLocks noGrp="1"/>
          </p:cNvGraphicFramePr>
          <p:nvPr>
            <p:extLst>
              <p:ext uri="{D42A27DB-BD31-4B8C-83A1-F6EECF244321}">
                <p14:modId xmlns:p14="http://schemas.microsoft.com/office/powerpoint/2010/main" val="18706149"/>
              </p:ext>
            </p:extLst>
          </p:nvPr>
        </p:nvGraphicFramePr>
        <p:xfrm>
          <a:off x="6650736" y="1146689"/>
          <a:ext cx="2493264" cy="1819015"/>
        </p:xfrm>
        <a:graphic>
          <a:graphicData uri="http://schemas.openxmlformats.org/drawingml/2006/table">
            <a:tbl>
              <a:tblPr/>
              <a:tblGrid>
                <a:gridCol w="1246632">
                  <a:extLst>
                    <a:ext uri="{9D8B030D-6E8A-4147-A177-3AD203B41FA5}">
                      <a16:colId xmlns:a16="http://schemas.microsoft.com/office/drawing/2014/main" val="1752007024"/>
                    </a:ext>
                  </a:extLst>
                </a:gridCol>
                <a:gridCol w="1246632">
                  <a:extLst>
                    <a:ext uri="{9D8B030D-6E8A-4147-A177-3AD203B41FA5}">
                      <a16:colId xmlns:a16="http://schemas.microsoft.com/office/drawing/2014/main" val="3245992053"/>
                    </a:ext>
                  </a:extLst>
                </a:gridCol>
              </a:tblGrid>
              <a:tr h="382766">
                <a:tc>
                  <a:txBody>
                    <a:bodyPr/>
                    <a:lstStyle/>
                    <a:p>
                      <a:pPr algn="ctr">
                        <a:buNone/>
                      </a:pPr>
                      <a:r>
                        <a:rPr lang="en-US" sz="1100" dirty="0">
                          <a:latin typeface="Times New Roman" panose="02020603050405020304" pitchFamily="18" charset="0"/>
                          <a:cs typeface="Times New Roman" panose="02020603050405020304" pitchFamily="18" charset="0"/>
                        </a:rPr>
                        <a:t>State</a:t>
                      </a: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buNone/>
                      </a:pPr>
                      <a:r>
                        <a:rPr lang="en-US" sz="1100" dirty="0">
                          <a:latin typeface="Times New Roman" panose="02020603050405020304" pitchFamily="18" charset="0"/>
                          <a:cs typeface="Times New Roman" panose="02020603050405020304" pitchFamily="18" charset="0"/>
                        </a:rPr>
                        <a:t>ΔROA if negative news +10pp</a:t>
                      </a: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3651684417"/>
                  </a:ext>
                </a:extLst>
              </a:tr>
              <a:tr h="278459">
                <a:tc>
                  <a:txBody>
                    <a:bodyPr/>
                    <a:lstStyle/>
                    <a:p>
                      <a:pPr algn="ctr">
                        <a:buNone/>
                      </a:pPr>
                      <a:r>
                        <a:rPr lang="en-US" sz="1100" dirty="0">
                          <a:latin typeface="Times New Roman" panose="02020603050405020304" pitchFamily="18" charset="0"/>
                          <a:cs typeface="Times New Roman" panose="02020603050405020304" pitchFamily="18" charset="0"/>
                        </a:rPr>
                        <a:t>Virginia</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b="1">
                          <a:latin typeface="Times New Roman" panose="02020603050405020304" pitchFamily="18" charset="0"/>
                          <a:cs typeface="Times New Roman" panose="02020603050405020304" pitchFamily="18" charset="0"/>
                        </a:rPr>
                        <a:t>-0.0439</a:t>
                      </a:r>
                      <a:endParaRPr lang="zh-CN" altLang="en-US" sz="11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7034877"/>
                  </a:ext>
                </a:extLst>
              </a:tr>
              <a:tr h="278459">
                <a:tc>
                  <a:txBody>
                    <a:bodyPr/>
                    <a:lstStyle/>
                    <a:p>
                      <a:pPr algn="ctr">
                        <a:buNone/>
                      </a:pPr>
                      <a:r>
                        <a:rPr lang="en-US" sz="1100" dirty="0">
                          <a:latin typeface="Times New Roman" panose="02020603050405020304" pitchFamily="18" charset="0"/>
                          <a:cs typeface="Times New Roman" panose="02020603050405020304" pitchFamily="18" charset="0"/>
                        </a:rPr>
                        <a:t>Tennessee</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dirty="0">
                          <a:latin typeface="Times New Roman" panose="02020603050405020304" pitchFamily="18" charset="0"/>
                          <a:cs typeface="Times New Roman" panose="02020603050405020304" pitchFamily="18" charset="0"/>
                        </a:rPr>
                        <a:t>-0.0376</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3328148"/>
                  </a:ext>
                </a:extLst>
              </a:tr>
              <a:tr h="278459">
                <a:tc>
                  <a:txBody>
                    <a:bodyPr/>
                    <a:lstStyle/>
                    <a:p>
                      <a:pPr algn="ctr">
                        <a:buNone/>
                      </a:pPr>
                      <a:r>
                        <a:rPr lang="en-US" sz="1100" dirty="0">
                          <a:latin typeface="Times New Roman" panose="02020603050405020304" pitchFamily="18" charset="0"/>
                          <a:cs typeface="Times New Roman" panose="02020603050405020304" pitchFamily="18" charset="0"/>
                        </a:rPr>
                        <a:t>South Dakota</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a:latin typeface="Times New Roman" panose="02020603050405020304" pitchFamily="18" charset="0"/>
                          <a:cs typeface="Times New Roman" panose="02020603050405020304" pitchFamily="18" charset="0"/>
                        </a:rPr>
                        <a:t>-0.0323</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3375143"/>
                  </a:ext>
                </a:extLst>
              </a:tr>
              <a:tr h="278459">
                <a:tc>
                  <a:txBody>
                    <a:bodyPr/>
                    <a:lstStyle/>
                    <a:p>
                      <a:pPr algn="ctr">
                        <a:buNone/>
                      </a:pPr>
                      <a:r>
                        <a:rPr lang="en-US" sz="1100" dirty="0">
                          <a:latin typeface="Times New Roman" panose="02020603050405020304" pitchFamily="18" charset="0"/>
                          <a:cs typeface="Times New Roman" panose="02020603050405020304" pitchFamily="18" charset="0"/>
                        </a:rPr>
                        <a:t>South Carolina</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dirty="0">
                          <a:latin typeface="Times New Roman" panose="02020603050405020304" pitchFamily="18" charset="0"/>
                          <a:cs typeface="Times New Roman" panose="02020603050405020304" pitchFamily="18" charset="0"/>
                        </a:rPr>
                        <a:t>-0.0304</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2710399"/>
                  </a:ext>
                </a:extLst>
              </a:tr>
              <a:tr h="278459">
                <a:tc>
                  <a:txBody>
                    <a:bodyPr/>
                    <a:lstStyle/>
                    <a:p>
                      <a:pPr algn="ctr">
                        <a:buNone/>
                      </a:pPr>
                      <a:r>
                        <a:rPr lang="en-US" sz="1100" dirty="0">
                          <a:latin typeface="Times New Roman" panose="02020603050405020304" pitchFamily="18" charset="0"/>
                          <a:cs typeface="Times New Roman" panose="02020603050405020304" pitchFamily="18" charset="0"/>
                        </a:rPr>
                        <a:t>Delaware</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a:buNone/>
                      </a:pPr>
                      <a:r>
                        <a:rPr lang="en-US" altLang="zh-CN" sz="1100" dirty="0">
                          <a:latin typeface="Times New Roman" panose="02020603050405020304" pitchFamily="18" charset="0"/>
                          <a:cs typeface="Times New Roman" panose="02020603050405020304" pitchFamily="18" charset="0"/>
                        </a:rPr>
                        <a:t>-0.0279</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00269534"/>
                  </a:ext>
                </a:extLst>
              </a:tr>
            </a:tbl>
          </a:graphicData>
        </a:graphic>
      </p:graphicFrame>
      <p:sp>
        <p:nvSpPr>
          <p:cNvPr id="10" name="文本框 9">
            <a:extLst>
              <a:ext uri="{FF2B5EF4-FFF2-40B4-BE49-F238E27FC236}">
                <a16:creationId xmlns:a16="http://schemas.microsoft.com/office/drawing/2014/main" id="{ECBAF48B-1F6A-4AE6-D103-89760991E7D2}"/>
              </a:ext>
            </a:extLst>
          </p:cNvPr>
          <p:cNvSpPr txBox="1"/>
          <p:nvPr/>
        </p:nvSpPr>
        <p:spPr>
          <a:xfrm>
            <a:off x="6672072" y="883091"/>
            <a:ext cx="2471928" cy="261610"/>
          </a:xfrm>
          <a:prstGeom prst="rect">
            <a:avLst/>
          </a:prstGeom>
          <a:noFill/>
          <a:ln>
            <a:solidFill>
              <a:schemeClr val="tx1"/>
            </a:solidFill>
          </a:ln>
        </p:spPr>
        <p:txBody>
          <a:bodyPr wrap="square">
            <a:spAutoFit/>
          </a:bodyPr>
          <a:lstStyle/>
          <a:p>
            <a:pPr algn="ctr"/>
            <a:r>
              <a:rPr lang="en-US" altLang="zh-CN" sz="1100" dirty="0"/>
              <a:t>Most Sentiment-Sensitive States</a:t>
            </a:r>
            <a:endParaRPr lang="zh-CN" altLang="en-US" sz="1100" dirty="0"/>
          </a:p>
        </p:txBody>
      </p:sp>
      <p:sp>
        <p:nvSpPr>
          <p:cNvPr id="14" name="文本框 13">
            <a:extLst>
              <a:ext uri="{FF2B5EF4-FFF2-40B4-BE49-F238E27FC236}">
                <a16:creationId xmlns:a16="http://schemas.microsoft.com/office/drawing/2014/main" id="{B30B3580-63D1-FC7E-0FAB-686ED7CDE7B7}"/>
              </a:ext>
            </a:extLst>
          </p:cNvPr>
          <p:cNvSpPr txBox="1"/>
          <p:nvPr/>
        </p:nvSpPr>
        <p:spPr>
          <a:xfrm>
            <a:off x="38100" y="3638708"/>
            <a:ext cx="8923020" cy="954107"/>
          </a:xfrm>
          <a:prstGeom prst="rect">
            <a:avLst/>
          </a:prstGeom>
          <a:noFill/>
        </p:spPr>
        <p:txBody>
          <a:bodyPr wrap="square">
            <a:spAutoFit/>
          </a:bodyPr>
          <a:lstStyle/>
          <a:p>
            <a:pPr marL="285750" indent="-285750">
              <a:buFont typeface="Arial" panose="020B0604020202020204" pitchFamily="34" charset="0"/>
              <a:buChar char="•"/>
            </a:pPr>
            <a:r>
              <a:rPr lang="en-US" altLang="zh-CN" dirty="0"/>
              <a:t>Nevada and Virginia show the highest frequency of stress years in the sample.</a:t>
            </a:r>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en-US" altLang="zh-CN" dirty="0"/>
              <a:t>The lagged impact of negative regulatory news on profitability is strongest in VA, TN, SD, and SC, highlighting these states' heightened sensitivity to sentiment shocks. </a:t>
            </a:r>
            <a:endParaRPr lang="zh-CN" altLang="en-US" dirty="0"/>
          </a:p>
        </p:txBody>
      </p:sp>
      <p:pic>
        <p:nvPicPr>
          <p:cNvPr id="24" name="图片 23">
            <a:extLst>
              <a:ext uri="{FF2B5EF4-FFF2-40B4-BE49-F238E27FC236}">
                <a16:creationId xmlns:a16="http://schemas.microsoft.com/office/drawing/2014/main" id="{B52FD22C-BF89-5294-E3A5-AB269BB4B70C}"/>
              </a:ext>
            </a:extLst>
          </p:cNvPr>
          <p:cNvPicPr>
            <a:picLocks noChangeAspect="1"/>
          </p:cNvPicPr>
          <p:nvPr/>
        </p:nvPicPr>
        <p:blipFill>
          <a:blip r:embed="rId5"/>
          <a:stretch>
            <a:fillRect/>
          </a:stretch>
        </p:blipFill>
        <p:spPr>
          <a:xfrm>
            <a:off x="182880" y="847065"/>
            <a:ext cx="3038938" cy="1855710"/>
          </a:xfrm>
          <a:prstGeom prst="rect">
            <a:avLst/>
          </a:prstGeom>
        </p:spPr>
      </p:pic>
      <p:pic>
        <p:nvPicPr>
          <p:cNvPr id="26" name="图片 25">
            <a:extLst>
              <a:ext uri="{FF2B5EF4-FFF2-40B4-BE49-F238E27FC236}">
                <a16:creationId xmlns:a16="http://schemas.microsoft.com/office/drawing/2014/main" id="{D0B1F984-D888-61A8-C6C8-B3DBBEC4F8D1}"/>
              </a:ext>
            </a:extLst>
          </p:cNvPr>
          <p:cNvPicPr>
            <a:picLocks noChangeAspect="1"/>
          </p:cNvPicPr>
          <p:nvPr/>
        </p:nvPicPr>
        <p:blipFill>
          <a:blip r:embed="rId6"/>
          <a:stretch>
            <a:fillRect/>
          </a:stretch>
        </p:blipFill>
        <p:spPr>
          <a:xfrm>
            <a:off x="182880" y="2535495"/>
            <a:ext cx="891725" cy="787044"/>
          </a:xfrm>
          <a:prstGeom prst="rect">
            <a:avLst/>
          </a:prstGeom>
        </p:spPr>
      </p:pic>
      <p:sp>
        <p:nvSpPr>
          <p:cNvPr id="27" name="Google Shape;136;p25">
            <a:extLst>
              <a:ext uri="{FF2B5EF4-FFF2-40B4-BE49-F238E27FC236}">
                <a16:creationId xmlns:a16="http://schemas.microsoft.com/office/drawing/2014/main" id="{D3A8FD3E-4B60-21FD-3AF1-7A5ABE67D81F}"/>
              </a:ext>
            </a:extLst>
          </p:cNvPr>
          <p:cNvSpPr txBox="1"/>
          <p:nvPr/>
        </p:nvSpPr>
        <p:spPr>
          <a:xfrm>
            <a:off x="182880" y="4887468"/>
            <a:ext cx="6400800" cy="230792"/>
          </a:xfrm>
          <a:prstGeom prst="rect">
            <a:avLst/>
          </a:prstGeom>
          <a:noFill/>
          <a:ln>
            <a:noFill/>
          </a:ln>
        </p:spPr>
        <p:txBody>
          <a:bodyPr spcFirstLastPara="1" wrap="square" lIns="91425" tIns="45700" rIns="91425" bIns="45700" anchor="t" anchorCtr="0">
            <a:spAutoFit/>
          </a:bodyPr>
          <a:lstStyle/>
          <a:p>
            <a:pPr lvl="0"/>
            <a:r>
              <a:rPr lang="en-US" sz="900" dirty="0">
                <a:solidFill>
                  <a:srgbClr val="FFFFFF"/>
                </a:solidFill>
                <a:latin typeface="Calibri"/>
                <a:ea typeface="Calibri"/>
                <a:cs typeface="Calibri"/>
                <a:sym typeface="Calibri"/>
              </a:rPr>
              <a:t>Data Analytics and Visualization for Public Policy</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2"/>
          <p:cNvSpPr/>
          <p:nvPr/>
        </p:nvSpPr>
        <p:spPr>
          <a:xfrm>
            <a:off x="0" y="0"/>
            <a:ext cx="9144000" cy="502920"/>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15" name="Google Shape;215;p32" descr="1772584450591_image.png"/>
          <p:cNvPicPr preferRelativeResize="0"/>
          <p:nvPr/>
        </p:nvPicPr>
        <p:blipFill rotWithShape="1">
          <a:blip r:embed="rId3">
            <a:alphaModFix/>
          </a:blip>
          <a:srcRect/>
          <a:stretch/>
        </p:blipFill>
        <p:spPr>
          <a:xfrm>
            <a:off x="0" y="-45720"/>
            <a:ext cx="9144000" cy="502920"/>
          </a:xfrm>
          <a:prstGeom prst="rect">
            <a:avLst/>
          </a:prstGeom>
          <a:noFill/>
          <a:ln>
            <a:noFill/>
          </a:ln>
        </p:spPr>
      </p:pic>
      <p:sp>
        <p:nvSpPr>
          <p:cNvPr id="216" name="Google Shape;216;p32"/>
          <p:cNvSpPr txBox="1"/>
          <p:nvPr/>
        </p:nvSpPr>
        <p:spPr>
          <a:xfrm>
            <a:off x="91440" y="534384"/>
            <a:ext cx="8412480" cy="4308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i="0" u="none" strike="noStrike" cap="none" dirty="0">
                <a:solidFill>
                  <a:srgbClr val="800000"/>
                </a:solidFill>
                <a:latin typeface="Calibri"/>
                <a:ea typeface="Calibri"/>
                <a:cs typeface="Calibri"/>
                <a:sym typeface="Calibri"/>
              </a:rPr>
              <a:t>Live Monitoring Dashboard &amp; Key Takeaway</a:t>
            </a:r>
            <a:r>
              <a:rPr lang="en" sz="2200" b="1" i="0" u="none" strike="noStrike" cap="none" dirty="0">
                <a:solidFill>
                  <a:srgbClr val="800000"/>
                </a:solidFill>
                <a:latin typeface="Calibri"/>
                <a:ea typeface="Calibri"/>
                <a:cs typeface="Calibri"/>
                <a:sym typeface="Calibri"/>
              </a:rPr>
              <a:t>s</a:t>
            </a:r>
            <a:endParaRPr dirty="0"/>
          </a:p>
        </p:txBody>
      </p:sp>
      <p:sp>
        <p:nvSpPr>
          <p:cNvPr id="218" name="Google Shape;218;p32"/>
          <p:cNvSpPr/>
          <p:nvPr/>
        </p:nvSpPr>
        <p:spPr>
          <a:xfrm>
            <a:off x="0" y="4887468"/>
            <a:ext cx="9144000" cy="256032"/>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0" name="Google Shape;220;p32"/>
          <p:cNvSpPr txBox="1"/>
          <p:nvPr/>
        </p:nvSpPr>
        <p:spPr>
          <a:xfrm>
            <a:off x="6583680" y="4887468"/>
            <a:ext cx="2377440" cy="23079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 sz="900" dirty="0">
                <a:solidFill>
                  <a:srgbClr val="FFFFFF"/>
                </a:solidFill>
                <a:latin typeface="Calibri"/>
                <a:ea typeface="Calibri"/>
                <a:cs typeface="Calibri"/>
                <a:sym typeface="Calibri"/>
              </a:rPr>
              <a:t>8</a:t>
            </a:r>
            <a:r>
              <a:rPr lang="en" sz="900" b="0" i="0" u="none" strike="noStrike" cap="none" dirty="0">
                <a:solidFill>
                  <a:srgbClr val="FFFFFF"/>
                </a:solidFill>
                <a:latin typeface="Calibri"/>
                <a:ea typeface="Calibri"/>
                <a:cs typeface="Calibri"/>
                <a:sym typeface="Calibri"/>
              </a:rPr>
              <a:t> / </a:t>
            </a:r>
            <a:r>
              <a:rPr lang="en" sz="900" dirty="0">
                <a:solidFill>
                  <a:srgbClr val="FFFFFF"/>
                </a:solidFill>
                <a:latin typeface="Calibri"/>
                <a:ea typeface="Calibri"/>
                <a:cs typeface="Calibri"/>
                <a:sym typeface="Calibri"/>
              </a:rPr>
              <a:t>8</a:t>
            </a:r>
            <a:endParaRPr dirty="0"/>
          </a:p>
        </p:txBody>
      </p:sp>
      <p:pic>
        <p:nvPicPr>
          <p:cNvPr id="3" name="图片 2">
            <a:extLst>
              <a:ext uri="{FF2B5EF4-FFF2-40B4-BE49-F238E27FC236}">
                <a16:creationId xmlns:a16="http://schemas.microsoft.com/office/drawing/2014/main" id="{A017BD12-CEEA-4A0F-6404-359D161214EC}"/>
              </a:ext>
            </a:extLst>
          </p:cNvPr>
          <p:cNvPicPr>
            <a:picLocks noChangeAspect="1"/>
          </p:cNvPicPr>
          <p:nvPr/>
        </p:nvPicPr>
        <p:blipFill>
          <a:blip r:embed="rId4"/>
          <a:stretch>
            <a:fillRect/>
          </a:stretch>
        </p:blipFill>
        <p:spPr>
          <a:xfrm>
            <a:off x="2609088" y="965231"/>
            <a:ext cx="2902285" cy="3781044"/>
          </a:xfrm>
          <a:prstGeom prst="rect">
            <a:avLst/>
          </a:prstGeom>
        </p:spPr>
      </p:pic>
      <p:pic>
        <p:nvPicPr>
          <p:cNvPr id="5" name="图片 4">
            <a:extLst>
              <a:ext uri="{FF2B5EF4-FFF2-40B4-BE49-F238E27FC236}">
                <a16:creationId xmlns:a16="http://schemas.microsoft.com/office/drawing/2014/main" id="{0928F460-37D7-597A-20BA-9A00D4C1B365}"/>
              </a:ext>
            </a:extLst>
          </p:cNvPr>
          <p:cNvPicPr>
            <a:picLocks noChangeAspect="1"/>
          </p:cNvPicPr>
          <p:nvPr/>
        </p:nvPicPr>
        <p:blipFill>
          <a:blip r:embed="rId5"/>
          <a:stretch>
            <a:fillRect/>
          </a:stretch>
        </p:blipFill>
        <p:spPr>
          <a:xfrm>
            <a:off x="3474720" y="4400280"/>
            <a:ext cx="1743456" cy="416591"/>
          </a:xfrm>
          <a:prstGeom prst="rect">
            <a:avLst/>
          </a:prstGeom>
        </p:spPr>
      </p:pic>
      <p:sp>
        <p:nvSpPr>
          <p:cNvPr id="7" name="文本框 6">
            <a:extLst>
              <a:ext uri="{FF2B5EF4-FFF2-40B4-BE49-F238E27FC236}">
                <a16:creationId xmlns:a16="http://schemas.microsoft.com/office/drawing/2014/main" id="{B340D236-A650-1FBD-41C4-30DC41EAB6E1}"/>
              </a:ext>
            </a:extLst>
          </p:cNvPr>
          <p:cNvSpPr txBox="1"/>
          <p:nvPr/>
        </p:nvSpPr>
        <p:spPr>
          <a:xfrm>
            <a:off x="182880" y="965231"/>
            <a:ext cx="2090339" cy="553998"/>
          </a:xfrm>
          <a:prstGeom prst="rect">
            <a:avLst/>
          </a:prstGeom>
          <a:noFill/>
        </p:spPr>
        <p:txBody>
          <a:bodyPr wrap="square">
            <a:spAutoFit/>
          </a:bodyPr>
          <a:lstStyle/>
          <a:p>
            <a:r>
              <a:rPr lang="zh-CN" altLang="en-US" sz="1000" dirty="0">
                <a:latin typeface="Times New Roman" panose="02020603050405020304" pitchFamily="18" charset="0"/>
                <a:cs typeface="Times New Roman" panose="02020603050405020304" pitchFamily="18" charset="0"/>
              </a:rPr>
              <a:t>❶ </a:t>
            </a:r>
            <a:r>
              <a:rPr lang="en-US" altLang="zh-CN" sz="1000" dirty="0">
                <a:latin typeface="Times New Roman" panose="02020603050405020304" pitchFamily="18" charset="0"/>
                <a:cs typeface="Times New Roman" panose="02020603050405020304" pitchFamily="18" charset="0"/>
              </a:rPr>
              <a:t>Users can select the </a:t>
            </a:r>
            <a:r>
              <a:rPr lang="en-US" altLang="zh-CN" sz="1000" b="1" dirty="0">
                <a:latin typeface="Times New Roman" panose="02020603050405020304" pitchFamily="18" charset="0"/>
                <a:cs typeface="Times New Roman" panose="02020603050405020304" pitchFamily="18" charset="0"/>
              </a:rPr>
              <a:t>year</a:t>
            </a:r>
            <a:r>
              <a:rPr lang="en-US" altLang="zh-CN" sz="1000" dirty="0">
                <a:latin typeface="Times New Roman" panose="02020603050405020304" pitchFamily="18" charset="0"/>
                <a:cs typeface="Times New Roman" panose="02020603050405020304" pitchFamily="18" charset="0"/>
              </a:rPr>
              <a:t> and </a:t>
            </a:r>
            <a:r>
              <a:rPr lang="en-US" altLang="zh-CN" sz="1000" b="1" dirty="0">
                <a:latin typeface="Times New Roman" panose="02020603050405020304" pitchFamily="18" charset="0"/>
                <a:cs typeface="Times New Roman" panose="02020603050405020304" pitchFamily="18" charset="0"/>
              </a:rPr>
              <a:t>map</a:t>
            </a:r>
            <a:r>
              <a:rPr lang="en-US" altLang="zh-CN" sz="1000" dirty="0">
                <a:latin typeface="Times New Roman" panose="02020603050405020304" pitchFamily="18" charset="0"/>
                <a:cs typeface="Times New Roman" panose="02020603050405020304" pitchFamily="18" charset="0"/>
              </a:rPr>
              <a:t> metrics for </a:t>
            </a:r>
            <a:r>
              <a:rPr lang="en-US" altLang="zh-CN" sz="1000" b="1" dirty="0">
                <a:latin typeface="Times New Roman" panose="02020603050405020304" pitchFamily="18" charset="0"/>
                <a:cs typeface="Times New Roman" panose="02020603050405020304" pitchFamily="18" charset="0"/>
              </a:rPr>
              <a:t>each state </a:t>
            </a:r>
            <a:r>
              <a:rPr lang="en-US" altLang="zh-CN" sz="1000" dirty="0">
                <a:latin typeface="Times New Roman" panose="02020603050405020304" pitchFamily="18" charset="0"/>
                <a:cs typeface="Times New Roman" panose="02020603050405020304" pitchFamily="18" charset="0"/>
              </a:rPr>
              <a:t>on the left panel.</a:t>
            </a:r>
            <a:r>
              <a:rPr lang="zh-CN" altLang="en-US" sz="1000" dirty="0">
                <a:latin typeface="Times New Roman" panose="02020603050405020304" pitchFamily="18" charset="0"/>
                <a:cs typeface="Times New Roman" panose="02020603050405020304" pitchFamily="18" charset="0"/>
              </a:rPr>
              <a:t> </a:t>
            </a:r>
          </a:p>
        </p:txBody>
      </p:sp>
      <p:sp>
        <p:nvSpPr>
          <p:cNvPr id="10" name="矩形: 圆角 9">
            <a:extLst>
              <a:ext uri="{FF2B5EF4-FFF2-40B4-BE49-F238E27FC236}">
                <a16:creationId xmlns:a16="http://schemas.microsoft.com/office/drawing/2014/main" id="{B90225C6-B4BC-5077-8965-E28671769E2C}"/>
              </a:ext>
            </a:extLst>
          </p:cNvPr>
          <p:cNvSpPr/>
          <p:nvPr/>
        </p:nvSpPr>
        <p:spPr>
          <a:xfrm>
            <a:off x="2516764" y="965231"/>
            <a:ext cx="847344" cy="731520"/>
          </a:xfrm>
          <a:prstGeom prst="round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a:extLst>
              <a:ext uri="{FF2B5EF4-FFF2-40B4-BE49-F238E27FC236}">
                <a16:creationId xmlns:a16="http://schemas.microsoft.com/office/drawing/2014/main" id="{A9036896-4B58-BADD-78C1-014F5DF24A95}"/>
              </a:ext>
            </a:extLst>
          </p:cNvPr>
          <p:cNvCxnSpPr>
            <a:stCxn id="10" idx="1"/>
          </p:cNvCxnSpPr>
          <p:nvPr/>
        </p:nvCxnSpPr>
        <p:spPr>
          <a:xfrm flipH="1" flipV="1">
            <a:off x="1705996" y="1312703"/>
            <a:ext cx="810768" cy="182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96272479-95C2-04A8-F7E3-663D50D37F73}"/>
              </a:ext>
            </a:extLst>
          </p:cNvPr>
          <p:cNvSpPr txBox="1"/>
          <p:nvPr/>
        </p:nvSpPr>
        <p:spPr>
          <a:xfrm>
            <a:off x="5764357" y="1738361"/>
            <a:ext cx="3542365" cy="600164"/>
          </a:xfrm>
          <a:prstGeom prst="rect">
            <a:avLst/>
          </a:prstGeom>
          <a:noFill/>
        </p:spPr>
        <p:txBody>
          <a:bodyPr wrap="square">
            <a:spAutoFit/>
          </a:bodyPr>
          <a:lstStyle/>
          <a:p>
            <a:r>
              <a:rPr lang="zh-CN" altLang="en-US" sz="1100" dirty="0">
                <a:latin typeface="Times New Roman" panose="02020603050405020304" pitchFamily="18" charset="0"/>
                <a:cs typeface="Times New Roman" panose="02020603050405020304" pitchFamily="18" charset="0"/>
              </a:rPr>
              <a:t>❷ </a:t>
            </a:r>
            <a:r>
              <a:rPr lang="en-US" altLang="zh-CN" sz="1100" dirty="0">
                <a:latin typeface="Times New Roman" panose="02020603050405020304" pitchFamily="18" charset="0"/>
                <a:cs typeface="Times New Roman" panose="02020603050405020304" pitchFamily="18" charset="0"/>
              </a:rPr>
              <a:t>The right panel visualizes the relationship between </a:t>
            </a:r>
            <a:r>
              <a:rPr lang="en-US" altLang="zh-CN" sz="1100" b="1" dirty="0">
                <a:latin typeface="Times New Roman" panose="02020603050405020304" pitchFamily="18" charset="0"/>
                <a:cs typeface="Times New Roman" panose="02020603050405020304" pitchFamily="18" charset="0"/>
              </a:rPr>
              <a:t>regulatory news sentiment </a:t>
            </a:r>
            <a:r>
              <a:rPr lang="en-US" altLang="zh-CN" sz="1100" dirty="0">
                <a:latin typeface="Times New Roman" panose="02020603050405020304" pitchFamily="18" charset="0"/>
                <a:cs typeface="Times New Roman" panose="02020603050405020304" pitchFamily="18" charset="0"/>
              </a:rPr>
              <a:t>and </a:t>
            </a:r>
            <a:r>
              <a:rPr lang="en-US" altLang="zh-CN" sz="1100" b="1" dirty="0">
                <a:latin typeface="Times New Roman" panose="02020603050405020304" pitchFamily="18" charset="0"/>
                <a:cs typeface="Times New Roman" panose="02020603050405020304" pitchFamily="18" charset="0"/>
              </a:rPr>
              <a:t>bank profitability changes.</a:t>
            </a:r>
            <a:endParaRPr lang="zh-CN" altLang="en-US" sz="1100" b="1" dirty="0">
              <a:latin typeface="Times New Roman" panose="02020603050405020304" pitchFamily="18" charset="0"/>
              <a:cs typeface="Times New Roman" panose="02020603050405020304" pitchFamily="18" charset="0"/>
            </a:endParaRPr>
          </a:p>
        </p:txBody>
      </p:sp>
      <p:sp>
        <p:nvSpPr>
          <p:cNvPr id="15" name="椭圆 14">
            <a:extLst>
              <a:ext uri="{FF2B5EF4-FFF2-40B4-BE49-F238E27FC236}">
                <a16:creationId xmlns:a16="http://schemas.microsoft.com/office/drawing/2014/main" id="{57E8F084-3445-BC2C-A8EC-BAC24D063A1E}"/>
              </a:ext>
            </a:extLst>
          </p:cNvPr>
          <p:cNvSpPr/>
          <p:nvPr/>
        </p:nvSpPr>
        <p:spPr>
          <a:xfrm>
            <a:off x="3187911" y="1464294"/>
            <a:ext cx="2415786" cy="1176528"/>
          </a:xfrm>
          <a:prstGeom prst="ellipse">
            <a:avLst/>
          </a:prstGeom>
          <a:noFill/>
          <a:ln w="63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箭头连接符 16">
            <a:extLst>
              <a:ext uri="{FF2B5EF4-FFF2-40B4-BE49-F238E27FC236}">
                <a16:creationId xmlns:a16="http://schemas.microsoft.com/office/drawing/2014/main" id="{AD7A2D24-A4E2-1D0E-011D-6995523A8B54}"/>
              </a:ext>
            </a:extLst>
          </p:cNvPr>
          <p:cNvCxnSpPr>
            <a:stCxn id="15" idx="6"/>
          </p:cNvCxnSpPr>
          <p:nvPr/>
        </p:nvCxnSpPr>
        <p:spPr>
          <a:xfrm>
            <a:off x="5603697" y="2052558"/>
            <a:ext cx="2789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60BBA6A5-239A-9185-732A-FCDDD341F431}"/>
              </a:ext>
            </a:extLst>
          </p:cNvPr>
          <p:cNvSpPr txBox="1"/>
          <p:nvPr/>
        </p:nvSpPr>
        <p:spPr>
          <a:xfrm>
            <a:off x="182880" y="3043734"/>
            <a:ext cx="1956816" cy="1015663"/>
          </a:xfrm>
          <a:prstGeom prst="rect">
            <a:avLst/>
          </a:prstGeom>
          <a:noFill/>
        </p:spPr>
        <p:txBody>
          <a:bodyPr wrap="square">
            <a:spAutoFit/>
          </a:bodyPr>
          <a:lstStyle/>
          <a:p>
            <a:pPr algn="ctr"/>
            <a:r>
              <a:rPr lang="zh-CN" altLang="en-US" sz="1000" dirty="0">
                <a:latin typeface="Times New Roman" panose="02020603050405020304" pitchFamily="18" charset="0"/>
                <a:cs typeface="Times New Roman" panose="02020603050405020304" pitchFamily="18" charset="0"/>
              </a:rPr>
              <a:t>❸</a:t>
            </a:r>
            <a:r>
              <a:rPr lang="en-US" altLang="zh-CN" sz="1000" b="1" dirty="0">
                <a:latin typeface="Times New Roman" panose="02020603050405020304" pitchFamily="18" charset="0"/>
                <a:cs typeface="Times New Roman" panose="02020603050405020304" pitchFamily="18" charset="0"/>
              </a:rPr>
              <a:t>It also shows the geographic distribution of banking stress across states. Interactive charts allow users to explore risk patterns across states.</a:t>
            </a:r>
            <a:endParaRPr lang="en-US" altLang="zh-CN" sz="1000" dirty="0">
              <a:latin typeface="Times New Roman" panose="02020603050405020304" pitchFamily="18" charset="0"/>
              <a:cs typeface="Times New Roman" panose="02020603050405020304" pitchFamily="18" charset="0"/>
            </a:endParaRPr>
          </a:p>
          <a:p>
            <a:pPr algn="ctr"/>
            <a:endParaRPr lang="zh-CN" altLang="en-US" sz="1000" dirty="0">
              <a:latin typeface="Times New Roman" panose="02020603050405020304" pitchFamily="18" charset="0"/>
              <a:cs typeface="Times New Roman" panose="02020603050405020304" pitchFamily="18" charset="0"/>
            </a:endParaRPr>
          </a:p>
        </p:txBody>
      </p:sp>
      <p:cxnSp>
        <p:nvCxnSpPr>
          <p:cNvPr id="21" name="直接箭头连接符 20">
            <a:extLst>
              <a:ext uri="{FF2B5EF4-FFF2-40B4-BE49-F238E27FC236}">
                <a16:creationId xmlns:a16="http://schemas.microsoft.com/office/drawing/2014/main" id="{8FF40416-EF70-B639-A15D-99D3465BEF23}"/>
              </a:ext>
            </a:extLst>
          </p:cNvPr>
          <p:cNvCxnSpPr>
            <a:endCxn id="19" idx="3"/>
          </p:cNvCxnSpPr>
          <p:nvPr/>
        </p:nvCxnSpPr>
        <p:spPr>
          <a:xfrm flipH="1">
            <a:off x="2139696" y="3551565"/>
            <a:ext cx="133502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06A17178-6B1C-54E4-D274-5376F8009D6B}"/>
              </a:ext>
            </a:extLst>
          </p:cNvPr>
          <p:cNvSpPr txBox="1"/>
          <p:nvPr/>
        </p:nvSpPr>
        <p:spPr>
          <a:xfrm>
            <a:off x="5882640" y="4416762"/>
            <a:ext cx="2902286" cy="400110"/>
          </a:xfrm>
          <a:prstGeom prst="rect">
            <a:avLst/>
          </a:prstGeom>
          <a:noFill/>
        </p:spPr>
        <p:txBody>
          <a:bodyPr wrap="square">
            <a:spAutoFit/>
          </a:bodyPr>
          <a:lstStyle/>
          <a:p>
            <a:pPr>
              <a:buNone/>
            </a:pPr>
            <a:r>
              <a:rPr lang="zh-CN" altLang="en-US" sz="1000" dirty="0">
                <a:latin typeface="Times New Roman" panose="02020603050405020304" pitchFamily="18" charset="0"/>
                <a:cs typeface="Times New Roman" panose="02020603050405020304" pitchFamily="18" charset="0"/>
              </a:rPr>
              <a:t>❹</a:t>
            </a:r>
            <a:r>
              <a:rPr lang="en-US" altLang="zh-CN" sz="1000" b="1" dirty="0">
                <a:latin typeface="Times New Roman" panose="02020603050405020304" pitchFamily="18" charset="0"/>
                <a:cs typeface="Times New Roman" panose="02020603050405020304" pitchFamily="18" charset="0"/>
              </a:rPr>
              <a:t>The bottom section displays the corresponding state-level data outputs.</a:t>
            </a:r>
            <a:endParaRPr lang="en-US" altLang="zh-CN" sz="1000" dirty="0">
              <a:latin typeface="Times New Roman" panose="02020603050405020304" pitchFamily="18" charset="0"/>
              <a:cs typeface="Times New Roman" panose="02020603050405020304" pitchFamily="18" charset="0"/>
            </a:endParaRPr>
          </a:p>
        </p:txBody>
      </p:sp>
      <p:sp>
        <p:nvSpPr>
          <p:cNvPr id="24" name="矩形: 圆角 23">
            <a:extLst>
              <a:ext uri="{FF2B5EF4-FFF2-40B4-BE49-F238E27FC236}">
                <a16:creationId xmlns:a16="http://schemas.microsoft.com/office/drawing/2014/main" id="{1E150DC1-CD57-7B35-3113-6399D39D1E0B}"/>
              </a:ext>
            </a:extLst>
          </p:cNvPr>
          <p:cNvSpPr/>
          <p:nvPr/>
        </p:nvSpPr>
        <p:spPr>
          <a:xfrm>
            <a:off x="3243072" y="4163568"/>
            <a:ext cx="2151888" cy="697828"/>
          </a:xfrm>
          <a:prstGeom prst="round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箭头连接符 25">
            <a:extLst>
              <a:ext uri="{FF2B5EF4-FFF2-40B4-BE49-F238E27FC236}">
                <a16:creationId xmlns:a16="http://schemas.microsoft.com/office/drawing/2014/main" id="{3C5B7CCD-3844-5B90-8382-FDB7B235703A}"/>
              </a:ext>
            </a:extLst>
          </p:cNvPr>
          <p:cNvCxnSpPr/>
          <p:nvPr/>
        </p:nvCxnSpPr>
        <p:spPr>
          <a:xfrm>
            <a:off x="5394960" y="4535424"/>
            <a:ext cx="5913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8F0C26B9-158D-113B-FD6D-DCFB586CB0DB}"/>
              </a:ext>
            </a:extLst>
          </p:cNvPr>
          <p:cNvSpPr txBox="1"/>
          <p:nvPr/>
        </p:nvSpPr>
        <p:spPr>
          <a:xfrm>
            <a:off x="5974080" y="952535"/>
            <a:ext cx="2621280" cy="307777"/>
          </a:xfrm>
          <a:prstGeom prst="rect">
            <a:avLst/>
          </a:prstGeom>
          <a:noFill/>
        </p:spPr>
        <p:txBody>
          <a:bodyPr wrap="square" rtlCol="0">
            <a:spAutoFit/>
          </a:bodyPr>
          <a:lstStyle/>
          <a:p>
            <a:r>
              <a:rPr lang="en-US" altLang="zh-CN" dirty="0">
                <a:hlinkClick r:id="rId6"/>
              </a:rPr>
              <a:t>http://localhost:/</a:t>
            </a:r>
            <a:endParaRPr lang="en-US" altLang="zh-CN" dirty="0"/>
          </a:p>
        </p:txBody>
      </p:sp>
      <p:sp>
        <p:nvSpPr>
          <p:cNvPr id="29" name="Google Shape;136;p25">
            <a:extLst>
              <a:ext uri="{FF2B5EF4-FFF2-40B4-BE49-F238E27FC236}">
                <a16:creationId xmlns:a16="http://schemas.microsoft.com/office/drawing/2014/main" id="{B7EC41A6-16C6-6FE7-B215-E8007D8D1914}"/>
              </a:ext>
            </a:extLst>
          </p:cNvPr>
          <p:cNvSpPr txBox="1"/>
          <p:nvPr/>
        </p:nvSpPr>
        <p:spPr>
          <a:xfrm>
            <a:off x="182880" y="4887468"/>
            <a:ext cx="6400800" cy="230792"/>
          </a:xfrm>
          <a:prstGeom prst="rect">
            <a:avLst/>
          </a:prstGeom>
          <a:noFill/>
          <a:ln>
            <a:noFill/>
          </a:ln>
        </p:spPr>
        <p:txBody>
          <a:bodyPr spcFirstLastPara="1" wrap="square" lIns="91425" tIns="45700" rIns="91425" bIns="45700" anchor="t" anchorCtr="0">
            <a:spAutoFit/>
          </a:bodyPr>
          <a:lstStyle/>
          <a:p>
            <a:pPr lvl="0"/>
            <a:r>
              <a:rPr lang="en-US" sz="900" dirty="0">
                <a:solidFill>
                  <a:srgbClr val="FFFFFF"/>
                </a:solidFill>
                <a:latin typeface="Calibri"/>
                <a:ea typeface="Calibri"/>
                <a:cs typeface="Calibri"/>
                <a:sym typeface="Calibri"/>
              </a:rPr>
              <a:t>Data Analytics and Visualization for Public Policy</a:t>
            </a:r>
            <a:endParaRPr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TotalTime>
  <Words>945</Words>
  <Application>Microsoft Office PowerPoint</Application>
  <PresentationFormat>全屏显示(16:9)</PresentationFormat>
  <Paragraphs>140</Paragraphs>
  <Slides>8</Slides>
  <Notes>8</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8</vt:i4>
      </vt:variant>
    </vt:vector>
  </HeadingPairs>
  <TitlesOfParts>
    <vt:vector size="13" baseType="lpstr">
      <vt:lpstr>Arial</vt:lpstr>
      <vt:lpstr>Calibri</vt:lpstr>
      <vt:lpstr>Times New Roman</vt:lpstr>
      <vt:lpstr>Simple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songyi huang</dc:creator>
  <cp:lastModifiedBy>songyi huang</cp:lastModifiedBy>
  <cp:revision>16</cp:revision>
  <dcterms:modified xsi:type="dcterms:W3CDTF">2026-03-04T09:02:58Z</dcterms:modified>
</cp:coreProperties>
</file>