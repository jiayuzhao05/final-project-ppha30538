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125" d="100"/>
          <a:sy n="125" d="100"/>
        </p:scale>
        <p:origin x="226" y="-41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5"/>
        <p:cNvGrpSpPr/>
        <p:nvPr/>
      </p:nvGrpSpPr>
      <p:grpSpPr>
        <a:xfrm>
          <a:off x="0" y="0"/>
          <a:ext cx="0" cy="0"/>
          <a:chOff x="0" y="0"/>
          <a:chExt cx="0" cy="0"/>
        </a:xfrm>
      </p:grpSpPr>
      <p:sp>
        <p:nvSpPr>
          <p:cNvPr id="126" name="Google Shape;126;g3c4eb2d0838_2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7" name="Google Shape;127;g3c4eb2d0838_2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9"/>
        <p:cNvGrpSpPr/>
        <p:nvPr/>
      </p:nvGrpSpPr>
      <p:grpSpPr>
        <a:xfrm>
          <a:off x="0" y="0"/>
          <a:ext cx="0" cy="0"/>
          <a:chOff x="0" y="0"/>
          <a:chExt cx="0" cy="0"/>
        </a:xfrm>
      </p:grpSpPr>
      <p:sp>
        <p:nvSpPr>
          <p:cNvPr id="140" name="Google Shape;140;g3c4eb2d0838_2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1" name="Google Shape;141;g3c4eb2d0838_2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1"/>
        <p:cNvGrpSpPr/>
        <p:nvPr/>
      </p:nvGrpSpPr>
      <p:grpSpPr>
        <a:xfrm>
          <a:off x="0" y="0"/>
          <a:ext cx="0" cy="0"/>
          <a:chOff x="0" y="0"/>
          <a:chExt cx="0" cy="0"/>
        </a:xfrm>
      </p:grpSpPr>
      <p:sp>
        <p:nvSpPr>
          <p:cNvPr id="152" name="Google Shape;152;g3c4eb2d0838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3" name="Google Shape;153;g3c4eb2d0838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3"/>
        <p:cNvGrpSpPr/>
        <p:nvPr/>
      </p:nvGrpSpPr>
      <p:grpSpPr>
        <a:xfrm>
          <a:off x="0" y="0"/>
          <a:ext cx="0" cy="0"/>
          <a:chOff x="0" y="0"/>
          <a:chExt cx="0" cy="0"/>
        </a:xfrm>
      </p:grpSpPr>
      <p:sp>
        <p:nvSpPr>
          <p:cNvPr id="164" name="Google Shape;164;g3c4eb2d0838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5" name="Google Shape;165;g3c4eb2d0838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5"/>
        <p:cNvGrpSpPr/>
        <p:nvPr/>
      </p:nvGrpSpPr>
      <p:grpSpPr>
        <a:xfrm>
          <a:off x="0" y="0"/>
          <a:ext cx="0" cy="0"/>
          <a:chOff x="0" y="0"/>
          <a:chExt cx="0" cy="0"/>
        </a:xfrm>
      </p:grpSpPr>
      <p:sp>
        <p:nvSpPr>
          <p:cNvPr id="176" name="Google Shape;176;g3c4eb2d0838_2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7" name="Google Shape;177;g3c4eb2d0838_2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7"/>
        <p:cNvGrpSpPr/>
        <p:nvPr/>
      </p:nvGrpSpPr>
      <p:grpSpPr>
        <a:xfrm>
          <a:off x="0" y="0"/>
          <a:ext cx="0" cy="0"/>
          <a:chOff x="0" y="0"/>
          <a:chExt cx="0" cy="0"/>
        </a:xfrm>
      </p:grpSpPr>
      <p:sp>
        <p:nvSpPr>
          <p:cNvPr id="188" name="Google Shape;188;g3c4eb2d0838_2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89" name="Google Shape;189;g3c4eb2d0838_2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9"/>
        <p:cNvGrpSpPr/>
        <p:nvPr/>
      </p:nvGrpSpPr>
      <p:grpSpPr>
        <a:xfrm>
          <a:off x="0" y="0"/>
          <a:ext cx="0" cy="0"/>
          <a:chOff x="0" y="0"/>
          <a:chExt cx="0" cy="0"/>
        </a:xfrm>
      </p:grpSpPr>
      <p:sp>
        <p:nvSpPr>
          <p:cNvPr id="200" name="Google Shape;200;g3c4eb2d0838_2_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1" name="Google Shape;201;g3c4eb2d0838_2_2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0"/>
        <p:cNvGrpSpPr/>
        <p:nvPr/>
      </p:nvGrpSpPr>
      <p:grpSpPr>
        <a:xfrm>
          <a:off x="0" y="0"/>
          <a:ext cx="0" cy="0"/>
          <a:chOff x="0" y="0"/>
          <a:chExt cx="0" cy="0"/>
        </a:xfrm>
      </p:grpSpPr>
      <p:sp>
        <p:nvSpPr>
          <p:cNvPr id="211" name="Google Shape;211;g3c4eb2d0838_2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12" name="Google Shape;212;g3c4eb2d0838_2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9"/>
        <p:cNvGrpSpPr/>
        <p:nvPr/>
      </p:nvGrpSpPr>
      <p:grpSpPr>
        <a:xfrm>
          <a:off x="0" y="0"/>
          <a:ext cx="0" cy="0"/>
          <a:chOff x="0" y="0"/>
          <a:chExt cx="0" cy="0"/>
        </a:xfrm>
      </p:grpSpPr>
      <p:sp>
        <p:nvSpPr>
          <p:cNvPr id="140" name="Google Shape;140;g3c4eb2d0838_2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1" name="Google Shape;141;g3c4eb2d0838_2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6"/>
        <p:cNvGrpSpPr/>
        <p:nvPr/>
      </p:nvGrpSpPr>
      <p:grpSpPr>
        <a:xfrm>
          <a:off x="0" y="0"/>
          <a:ext cx="0" cy="0"/>
          <a:chOff x="0" y="0"/>
          <a:chExt cx="0" cy="0"/>
        </a:xfrm>
      </p:grpSpPr>
      <p:sp>
        <p:nvSpPr>
          <p:cNvPr id="57" name="Google Shape;57;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60"/>
        <p:cNvGrpSpPr/>
        <p:nvPr/>
      </p:nvGrpSpPr>
      <p:grpSpPr>
        <a:xfrm>
          <a:off x="0" y="0"/>
          <a:ext cx="0" cy="0"/>
          <a:chOff x="0" y="0"/>
          <a:chExt cx="0" cy="0"/>
        </a:xfrm>
      </p:grpSpPr>
      <p:sp>
        <p:nvSpPr>
          <p:cNvPr id="61" name="Google Shape;61;p1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63" name="Google Shape;63;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66"/>
        <p:cNvGrpSpPr/>
        <p:nvPr/>
      </p:nvGrpSpPr>
      <p:grpSpPr>
        <a:xfrm>
          <a:off x="0" y="0"/>
          <a:ext cx="0" cy="0"/>
          <a:chOff x="0" y="0"/>
          <a:chExt cx="0" cy="0"/>
        </a:xfrm>
      </p:grpSpPr>
      <p:sp>
        <p:nvSpPr>
          <p:cNvPr id="67" name="Google Shape;67;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69" name="Google Shape;69;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75" name="Google Shape;75;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78"/>
        <p:cNvGrpSpPr/>
        <p:nvPr/>
      </p:nvGrpSpPr>
      <p:grpSpPr>
        <a:xfrm>
          <a:off x="0" y="0"/>
          <a:ext cx="0" cy="0"/>
          <a:chOff x="0" y="0"/>
          <a:chExt cx="0" cy="0"/>
        </a:xfrm>
      </p:grpSpPr>
      <p:sp>
        <p:nvSpPr>
          <p:cNvPr id="79" name="Google Shape;79;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81" name="Google Shape;81;p1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82" name="Google Shape;82;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85"/>
        <p:cNvGrpSpPr/>
        <p:nvPr/>
      </p:nvGrpSpPr>
      <p:grpSpPr>
        <a:xfrm>
          <a:off x="0" y="0"/>
          <a:ext cx="0" cy="0"/>
          <a:chOff x="0" y="0"/>
          <a:chExt cx="0" cy="0"/>
        </a:xfrm>
      </p:grpSpPr>
      <p:sp>
        <p:nvSpPr>
          <p:cNvPr id="86" name="Google Shape;86;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88" name="Google Shape;88;p1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89" name="Google Shape;89;p1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90" name="Google Shape;90;p1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91" name="Google Shape;91;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21"/>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102" name="Google Shape;102;p21"/>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103" name="Google Shape;103;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22"/>
          <p:cNvSpPr>
            <a:spLocks noGrp="1"/>
          </p:cNvSpPr>
          <p:nvPr>
            <p:ph type="pic" idx="2"/>
          </p:nvPr>
        </p:nvSpPr>
        <p:spPr>
          <a:xfrm>
            <a:off x="1792288" y="612775"/>
            <a:ext cx="5486400" cy="4114800"/>
          </a:xfrm>
          <a:prstGeom prst="rect">
            <a:avLst/>
          </a:prstGeom>
          <a:noFill/>
          <a:ln>
            <a:noFill/>
          </a:ln>
        </p:spPr>
      </p:sp>
      <p:sp>
        <p:nvSpPr>
          <p:cNvPr id="109" name="Google Shape;109;p2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110" name="Google Shape;110;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23"/>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116" name="Google Shape;116;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2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122" name="Google Shape;122;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2" name="Google Shape;52;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90204"/>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9pPr>
          </a:lstStyle>
          <a:p/>
        </p:txBody>
      </p:sp>
      <p:sp>
        <p:nvSpPr>
          <p:cNvPr id="53" name="Google Shape;53;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54" name="Google Shape;54;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55" name="Google Shape;55;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2.xml"/><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2.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2.xml"/><Relationship Id="rId4" Type="http://schemas.openxmlformats.org/officeDocument/2006/relationships/hyperlink" Target="http://localhost:8504/" TargetMode="Externa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5"/>
          <p:cNvSpPr/>
          <p:nvPr/>
        </p:nvSpPr>
        <p:spPr>
          <a:xfrm>
            <a:off x="0" y="0"/>
            <a:ext cx="9144000" cy="502920"/>
          </a:xfrm>
          <a:prstGeom prst="rect">
            <a:avLst/>
          </a:prstGeom>
          <a:solidFill>
            <a:srgbClr val="80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30" name="Google Shape;130;p25" descr="1772584450591_image.png"/>
          <p:cNvPicPr preferRelativeResize="0"/>
          <p:nvPr/>
        </p:nvPicPr>
        <p:blipFill rotWithShape="1">
          <a:blip r:embed="rId1"/>
          <a:srcRect/>
          <a:stretch>
            <a:fillRect/>
          </a:stretch>
        </p:blipFill>
        <p:spPr>
          <a:xfrm>
            <a:off x="0" y="0"/>
            <a:ext cx="9144000" cy="502920"/>
          </a:xfrm>
          <a:prstGeom prst="rect">
            <a:avLst/>
          </a:prstGeom>
          <a:noFill/>
          <a:ln>
            <a:noFill/>
          </a:ln>
        </p:spPr>
      </p:pic>
      <p:sp>
        <p:nvSpPr>
          <p:cNvPr id="131" name="Google Shape;131;p25"/>
          <p:cNvSpPr txBox="1"/>
          <p:nvPr/>
        </p:nvSpPr>
        <p:spPr>
          <a:xfrm>
            <a:off x="457200" y="1097280"/>
            <a:ext cx="8229600" cy="1569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3200" b="1">
                <a:solidFill>
                  <a:srgbClr val="800000"/>
                </a:solidFill>
                <a:latin typeface="Calibri"/>
                <a:ea typeface="Calibri"/>
                <a:cs typeface="Calibri"/>
                <a:sym typeface="Calibri"/>
              </a:rPr>
              <a:t>Can LLMs Quantify Market Reactions to Financial News and Regulation? </a:t>
            </a:r>
            <a:endParaRPr sz="3200" b="1">
              <a:solidFill>
                <a:srgbClr val="800000"/>
              </a:solidFill>
              <a:latin typeface="Calibri"/>
              <a:ea typeface="Calibri"/>
              <a:cs typeface="Calibri"/>
              <a:sym typeface="Calibri"/>
            </a:endParaRPr>
          </a:p>
          <a:p>
            <a:pPr marL="0" marR="0" lvl="0" indent="0" algn="ctr" rtl="0">
              <a:spcBef>
                <a:spcPts val="0"/>
              </a:spcBef>
              <a:spcAft>
                <a:spcPts val="0"/>
              </a:spcAft>
              <a:buNone/>
            </a:pPr>
            <a:endParaRPr sz="3200" b="1">
              <a:solidFill>
                <a:srgbClr val="800000"/>
              </a:solidFill>
              <a:latin typeface="Calibri"/>
              <a:ea typeface="Calibri"/>
              <a:cs typeface="Calibri"/>
              <a:sym typeface="Calibri"/>
            </a:endParaRPr>
          </a:p>
        </p:txBody>
      </p:sp>
      <p:sp>
        <p:nvSpPr>
          <p:cNvPr id="132" name="Google Shape;132;p25"/>
          <p:cNvSpPr txBox="1"/>
          <p:nvPr/>
        </p:nvSpPr>
        <p:spPr>
          <a:xfrm>
            <a:off x="457200" y="3159775"/>
            <a:ext cx="8229600" cy="369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b="1" dirty="0">
                <a:latin typeface="Calibri"/>
                <a:ea typeface="Calibri"/>
                <a:cs typeface="Calibri"/>
                <a:sym typeface="Calibri"/>
              </a:rPr>
              <a:t>Songyi Huang,  Jiayu Zhao,  Yicheng Liu</a:t>
            </a:r>
            <a:endParaRPr sz="1800" b="1" dirty="0">
              <a:latin typeface="Calibri"/>
              <a:ea typeface="Calibri"/>
              <a:cs typeface="Calibri"/>
              <a:sym typeface="Calibri"/>
            </a:endParaRPr>
          </a:p>
        </p:txBody>
      </p:sp>
      <p:sp>
        <p:nvSpPr>
          <p:cNvPr id="133" name="Google Shape;133;p25"/>
          <p:cNvSpPr txBox="1"/>
          <p:nvPr/>
        </p:nvSpPr>
        <p:spPr>
          <a:xfrm>
            <a:off x="457200" y="3589590"/>
            <a:ext cx="82296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400" b="0" i="0" u="none" strike="noStrike" cap="none">
                <a:solidFill>
                  <a:srgbClr val="000000"/>
                </a:solidFill>
                <a:latin typeface="Calibri"/>
                <a:ea typeface="Calibri"/>
                <a:cs typeface="Calibri"/>
                <a:sym typeface="Calibri"/>
              </a:rPr>
              <a:t>Presented by </a:t>
            </a:r>
            <a:r>
              <a:rPr lang="en-GB">
                <a:latin typeface="Calibri"/>
                <a:ea typeface="Calibri"/>
                <a:cs typeface="Calibri"/>
                <a:sym typeface="Calibri"/>
              </a:rPr>
              <a:t>Group28</a:t>
            </a:r>
            <a:endParaRPr lang="en-GB">
              <a:latin typeface="Calibri"/>
              <a:ea typeface="Calibri"/>
              <a:cs typeface="Calibri"/>
              <a:sym typeface="Calibri"/>
            </a:endParaRPr>
          </a:p>
        </p:txBody>
      </p:sp>
      <p:sp>
        <p:nvSpPr>
          <p:cNvPr id="134" name="Google Shape;134;p25"/>
          <p:cNvSpPr txBox="1"/>
          <p:nvPr/>
        </p:nvSpPr>
        <p:spPr>
          <a:xfrm>
            <a:off x="457200" y="4097302"/>
            <a:ext cx="8229600" cy="292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00">
                <a:solidFill>
                  <a:srgbClr val="606060"/>
                </a:solidFill>
                <a:latin typeface="Calibri"/>
                <a:ea typeface="Calibri"/>
                <a:cs typeface="Calibri"/>
                <a:sym typeface="Calibri"/>
              </a:rPr>
              <a:t>Mar </a:t>
            </a:r>
            <a:r>
              <a:rPr lang="en-GB" sz="1300" b="0" i="0" u="none" strike="noStrike" cap="none">
                <a:solidFill>
                  <a:srgbClr val="606060"/>
                </a:solidFill>
                <a:latin typeface="Calibri"/>
                <a:ea typeface="Calibri"/>
                <a:cs typeface="Calibri"/>
                <a:sym typeface="Calibri"/>
              </a:rPr>
              <a:t> 3, 202</a:t>
            </a:r>
            <a:r>
              <a:rPr lang="en-GB" sz="1300">
                <a:solidFill>
                  <a:srgbClr val="606060"/>
                </a:solidFill>
                <a:latin typeface="Calibri"/>
                <a:ea typeface="Calibri"/>
                <a:cs typeface="Calibri"/>
                <a:sym typeface="Calibri"/>
              </a:rPr>
              <a:t>6</a:t>
            </a:r>
            <a:endParaRPr lang="en-GB" sz="1300">
              <a:solidFill>
                <a:srgbClr val="606060"/>
              </a:solidFill>
              <a:latin typeface="Calibri"/>
              <a:ea typeface="Calibri"/>
              <a:cs typeface="Calibri"/>
              <a:sym typeface="Calibri"/>
            </a:endParaRPr>
          </a:p>
        </p:txBody>
      </p:sp>
      <p:sp>
        <p:nvSpPr>
          <p:cNvPr id="135" name="Google Shape;135;p25"/>
          <p:cNvSpPr/>
          <p:nvPr/>
        </p:nvSpPr>
        <p:spPr>
          <a:xfrm>
            <a:off x="0" y="4887468"/>
            <a:ext cx="9144000" cy="256032"/>
          </a:xfrm>
          <a:prstGeom prst="rect">
            <a:avLst/>
          </a:prstGeom>
          <a:solidFill>
            <a:srgbClr val="80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6" name="Google Shape;136;p25"/>
          <p:cNvSpPr txBox="1"/>
          <p:nvPr/>
        </p:nvSpPr>
        <p:spPr>
          <a:xfrm>
            <a:off x="182880" y="4887468"/>
            <a:ext cx="6400800" cy="230792"/>
          </a:xfrm>
          <a:prstGeom prst="rect">
            <a:avLst/>
          </a:prstGeom>
          <a:noFill/>
          <a:ln>
            <a:noFill/>
          </a:ln>
        </p:spPr>
        <p:txBody>
          <a:bodyPr spcFirstLastPara="1" wrap="square" lIns="91425" tIns="45700" rIns="91425" bIns="45700" anchor="t" anchorCtr="0">
            <a:spAutoFit/>
          </a:bodyPr>
          <a:lstStyle/>
          <a:p>
            <a:pPr lvl="0"/>
            <a:r>
              <a:rPr lang="en-US" sz="900" dirty="0">
                <a:solidFill>
                  <a:srgbClr val="FFFFFF"/>
                </a:solidFill>
                <a:latin typeface="Calibri"/>
                <a:ea typeface="Calibri"/>
                <a:cs typeface="Calibri"/>
                <a:sym typeface="Calibri"/>
              </a:rPr>
              <a:t>Data Analytics and Visualization for PublicPolicy</a:t>
            </a:r>
            <a:endParaRPr dirty="0"/>
          </a:p>
        </p:txBody>
      </p:sp>
      <p:sp>
        <p:nvSpPr>
          <p:cNvPr id="137" name="Google Shape;137;p25"/>
          <p:cNvSpPr txBox="1"/>
          <p:nvPr/>
        </p:nvSpPr>
        <p:spPr>
          <a:xfrm>
            <a:off x="6583680" y="4887468"/>
            <a:ext cx="2377440" cy="446236"/>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900" b="0" i="0" u="none" strike="noStrike" cap="none" dirty="0">
                <a:solidFill>
                  <a:srgbClr val="FFFFFF"/>
                </a:solidFill>
                <a:latin typeface="Calibri"/>
                <a:ea typeface="Calibri"/>
                <a:cs typeface="Calibri"/>
                <a:sym typeface="Calibri"/>
              </a:rPr>
              <a:t>1 / </a:t>
            </a:r>
            <a:r>
              <a:rPr lang="en-GB" sz="900" dirty="0">
                <a:solidFill>
                  <a:srgbClr val="FFFFFF"/>
                </a:solidFill>
                <a:latin typeface="Calibri"/>
                <a:ea typeface="Calibri"/>
                <a:cs typeface="Calibri"/>
                <a:sym typeface="Calibri"/>
              </a:rPr>
              <a:t>8</a:t>
            </a:r>
            <a:endParaRPr lang="en-GB" sz="900" dirty="0">
              <a:solidFill>
                <a:srgbClr val="FFFFFF"/>
              </a:solidFill>
              <a:latin typeface="Calibri"/>
              <a:ea typeface="Calibri"/>
              <a:cs typeface="Calibri"/>
              <a:sym typeface="Calibri"/>
            </a:endParaRPr>
          </a:p>
          <a:p>
            <a:pPr marL="0" marR="0" lvl="0" indent="0" algn="r" rtl="0">
              <a:spcBef>
                <a:spcPts val="0"/>
              </a:spcBef>
              <a:spcAft>
                <a:spcPts val="0"/>
              </a:spcAft>
              <a:buNone/>
            </a:pPr>
            <a:endParaRPr dirty="0"/>
          </a:p>
        </p:txBody>
      </p:sp>
      <p:pic>
        <p:nvPicPr>
          <p:cNvPr id="138" name="Google Shape;138;p25" title="uchicago.png"/>
          <p:cNvPicPr preferRelativeResize="0"/>
          <p:nvPr/>
        </p:nvPicPr>
        <p:blipFill>
          <a:blip r:embed="rId2"/>
          <a:stretch>
            <a:fillRect/>
          </a:stretch>
        </p:blipFill>
        <p:spPr>
          <a:xfrm>
            <a:off x="8350949" y="502925"/>
            <a:ext cx="793051" cy="9570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6"/>
          <p:cNvSpPr/>
          <p:nvPr/>
        </p:nvSpPr>
        <p:spPr>
          <a:xfrm>
            <a:off x="0" y="0"/>
            <a:ext cx="9144000" cy="502920"/>
          </a:xfrm>
          <a:prstGeom prst="rect">
            <a:avLst/>
          </a:prstGeom>
          <a:solidFill>
            <a:srgbClr val="80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44" name="Google Shape;144;p26" descr="1772584450591_image.png"/>
          <p:cNvPicPr preferRelativeResize="0"/>
          <p:nvPr/>
        </p:nvPicPr>
        <p:blipFill rotWithShape="1">
          <a:blip r:embed="rId1"/>
          <a:srcRect/>
          <a:stretch>
            <a:fillRect/>
          </a:stretch>
        </p:blipFill>
        <p:spPr>
          <a:xfrm>
            <a:off x="0" y="0"/>
            <a:ext cx="9144000" cy="502920"/>
          </a:xfrm>
          <a:prstGeom prst="rect">
            <a:avLst/>
          </a:prstGeom>
          <a:noFill/>
          <a:ln>
            <a:noFill/>
          </a:ln>
        </p:spPr>
      </p:pic>
      <p:sp>
        <p:nvSpPr>
          <p:cNvPr id="145" name="Google Shape;145;p26"/>
          <p:cNvSpPr txBox="1"/>
          <p:nvPr/>
        </p:nvSpPr>
        <p:spPr>
          <a:xfrm>
            <a:off x="365760" y="548640"/>
            <a:ext cx="8412480" cy="4114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200" b="1" i="0" u="none" strike="noStrike" cap="none">
                <a:solidFill>
                  <a:srgbClr val="800000"/>
                </a:solidFill>
                <a:latin typeface="Calibri"/>
                <a:ea typeface="Calibri"/>
                <a:cs typeface="Calibri"/>
                <a:sym typeface="Calibri"/>
              </a:rPr>
              <a:t>Introduction</a:t>
            </a:r>
            <a:endParaRPr lang="en-GB" sz="2200" b="1" i="0" u="none" strike="noStrike" cap="none">
              <a:solidFill>
                <a:srgbClr val="800000"/>
              </a:solidFill>
              <a:latin typeface="Calibri"/>
              <a:ea typeface="Calibri"/>
              <a:cs typeface="Calibri"/>
              <a:sym typeface="Calibri"/>
            </a:endParaRPr>
          </a:p>
        </p:txBody>
      </p:sp>
      <p:sp>
        <p:nvSpPr>
          <p:cNvPr id="146" name="Google Shape;146;p26"/>
          <p:cNvSpPr txBox="1"/>
          <p:nvPr/>
        </p:nvSpPr>
        <p:spPr>
          <a:xfrm>
            <a:off x="365700" y="839276"/>
            <a:ext cx="8412600" cy="43819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450" b="1" dirty="0">
                <a:latin typeface="Times New Roman" panose="02020503050405090304" pitchFamily="18" charset="0"/>
                <a:ea typeface="Calibri"/>
                <a:cs typeface="Times New Roman" panose="02020503050405090304" pitchFamily="18" charset="0"/>
                <a:sym typeface="Calibri"/>
              </a:rPr>
              <a:t>Motivation</a:t>
            </a:r>
            <a:endParaRPr sz="900" b="1" dirty="0">
              <a:solidFill>
                <a:srgbClr val="000080"/>
              </a:solidFill>
              <a:highlight>
                <a:srgbClr val="FFFFFF"/>
              </a:highlight>
              <a:latin typeface="Times New Roman" panose="02020503050405090304" pitchFamily="18" charset="0"/>
              <a:ea typeface="Courier New" panose="02070409020205090404"/>
              <a:cs typeface="Times New Roman" panose="02020503050405090304" pitchFamily="18" charset="0"/>
              <a:sym typeface="Courier New" panose="02070409020205090404"/>
            </a:endParaRPr>
          </a:p>
          <a:p>
            <a:pPr marL="0" marR="0" lvl="0" indent="0" algn="l" rtl="0">
              <a:spcBef>
                <a:spcPts val="0"/>
              </a:spcBef>
              <a:spcAft>
                <a:spcPts val="0"/>
              </a:spcAft>
              <a:buNone/>
            </a:pPr>
            <a:endParaRPr sz="1450" b="1" dirty="0">
              <a:latin typeface="Times New Roman" panose="02020503050405090304" pitchFamily="18" charset="0"/>
              <a:ea typeface="Calibri"/>
              <a:cs typeface="Times New Roman" panose="02020503050405090304" pitchFamily="18" charset="0"/>
              <a:sym typeface="Calibri"/>
            </a:endParaRPr>
          </a:p>
          <a:p>
            <a:pPr marL="0" lvl="0" indent="0" algn="l" rtl="0">
              <a:lnSpc>
                <a:spcPct val="150000"/>
              </a:lnSpc>
              <a:spcBef>
                <a:spcPts val="0"/>
              </a:spcBef>
              <a:spcAft>
                <a:spcPts val="0"/>
              </a:spcAft>
              <a:buClr>
                <a:schemeClr val="dk1"/>
              </a:buClr>
              <a:buSzPts val="1100"/>
              <a:buFont typeface="Arial" panose="020B0604020202090204"/>
              <a:buNone/>
            </a:pPr>
            <a:r>
              <a:rPr lang="en-GB" sz="1350" dirty="0">
                <a:latin typeface="Times New Roman" panose="02020503050405090304" pitchFamily="18" charset="0"/>
                <a:ea typeface="Calibri"/>
                <a:cs typeface="Times New Roman" panose="02020503050405090304" pitchFamily="18" charset="0"/>
                <a:sym typeface="Calibri"/>
              </a:rPr>
              <a:t>Financial regulators such as the SEC, FDIC, and the Federal Reserve closely monitor market stability, yet it remains difficult to measure how quickly and intensely financial markets react to regulatory announcements and news events</a:t>
            </a:r>
            <a:r>
              <a:rPr lang="en-GB" sz="900" dirty="0">
                <a:solidFill>
                  <a:srgbClr val="3B3B3B"/>
                </a:solidFill>
                <a:highlight>
                  <a:srgbClr val="FFFFFF"/>
                </a:highlight>
                <a:latin typeface="Times New Roman" panose="02020503050405090304" pitchFamily="18" charset="0"/>
                <a:ea typeface="Courier New" panose="02070409020205090404"/>
                <a:cs typeface="Times New Roman" panose="02020503050405090304" pitchFamily="18" charset="0"/>
                <a:sym typeface="Courier New" panose="02070409020205090404"/>
              </a:rPr>
              <a:t>.</a:t>
            </a:r>
            <a:endParaRPr sz="900" dirty="0">
              <a:solidFill>
                <a:srgbClr val="3B3B3B"/>
              </a:solidFill>
              <a:highlight>
                <a:srgbClr val="FFFFFF"/>
              </a:highlight>
              <a:latin typeface="Times New Roman" panose="02020503050405090304" pitchFamily="18" charset="0"/>
              <a:ea typeface="Courier New" panose="02070409020205090404"/>
              <a:cs typeface="Times New Roman" panose="02020503050405090304" pitchFamily="18" charset="0"/>
              <a:sym typeface="Courier New" panose="02070409020205090404"/>
            </a:endParaRPr>
          </a:p>
          <a:p>
            <a:pPr marL="0" marR="0" lvl="0" indent="0" algn="l" rtl="0">
              <a:spcBef>
                <a:spcPts val="0"/>
              </a:spcBef>
              <a:spcAft>
                <a:spcPts val="0"/>
              </a:spcAft>
              <a:buNone/>
            </a:pPr>
            <a:endParaRPr sz="1350" b="0" i="0" u="none" strike="noStrike" cap="none" dirty="0">
              <a:solidFill>
                <a:srgbClr val="000000"/>
              </a:solidFill>
              <a:latin typeface="Times New Roman" panose="02020503050405090304" pitchFamily="18" charset="0"/>
              <a:ea typeface="Calibri"/>
              <a:cs typeface="Times New Roman" panose="02020503050405090304" pitchFamily="18" charset="0"/>
              <a:sym typeface="Calibri"/>
            </a:endParaRPr>
          </a:p>
          <a:p>
            <a:pPr marL="0" marR="0" lvl="0" indent="0" algn="l" rtl="0">
              <a:spcBef>
                <a:spcPts val="0"/>
              </a:spcBef>
              <a:spcAft>
                <a:spcPts val="0"/>
              </a:spcAft>
              <a:buNone/>
            </a:pPr>
            <a:r>
              <a:rPr lang="en-GB" sz="1350" b="1" dirty="0">
                <a:latin typeface="Times New Roman" panose="02020503050405090304" pitchFamily="18" charset="0"/>
                <a:ea typeface="Calibri"/>
                <a:cs typeface="Times New Roman" panose="02020503050405090304" pitchFamily="18" charset="0"/>
                <a:sym typeface="Calibri"/>
              </a:rPr>
              <a:t>We ask 3 Questions</a:t>
            </a:r>
            <a:endParaRPr sz="1350" b="1" dirty="0">
              <a:latin typeface="Times New Roman" panose="02020503050405090304" pitchFamily="18" charset="0"/>
              <a:ea typeface="Calibri"/>
              <a:cs typeface="Times New Roman" panose="02020503050405090304" pitchFamily="18" charset="0"/>
              <a:sym typeface="Calibri"/>
            </a:endParaRPr>
          </a:p>
          <a:p>
            <a:pPr marL="0" marR="0" lvl="0" indent="0" algn="l" rtl="0">
              <a:spcBef>
                <a:spcPts val="0"/>
              </a:spcBef>
              <a:spcAft>
                <a:spcPts val="0"/>
              </a:spcAft>
              <a:buNone/>
            </a:pPr>
            <a:endParaRPr sz="1350" dirty="0">
              <a:latin typeface="Times New Roman" panose="02020503050405090304" pitchFamily="18" charset="0"/>
              <a:ea typeface="Calibri"/>
              <a:cs typeface="Times New Roman" panose="02020503050405090304" pitchFamily="18" charset="0"/>
              <a:sym typeface="Calibri"/>
            </a:endParaRPr>
          </a:p>
          <a:p>
            <a:pPr marL="0" marR="0" lvl="0" indent="0" algn="l" rtl="0">
              <a:spcBef>
                <a:spcPts val="0"/>
              </a:spcBef>
              <a:spcAft>
                <a:spcPts val="0"/>
              </a:spcAft>
              <a:buNone/>
            </a:pPr>
            <a:r>
              <a:rPr lang="en-GB" sz="1350" dirty="0">
                <a:latin typeface="Times New Roman" panose="02020503050405090304" pitchFamily="18" charset="0"/>
                <a:ea typeface="Calibri"/>
                <a:cs typeface="Times New Roman" panose="02020503050405090304" pitchFamily="18" charset="0"/>
                <a:sym typeface="Calibri"/>
              </a:rPr>
              <a:t>1. Can sentiment scores derived from Large Language Models (LLMs) applied to financial news predict short-term volatility in regional bank stocks?</a:t>
            </a:r>
            <a:endParaRPr sz="1350" dirty="0">
              <a:latin typeface="Times New Roman" panose="02020503050405090304" pitchFamily="18" charset="0"/>
              <a:ea typeface="Calibri"/>
              <a:cs typeface="Times New Roman" panose="02020503050405090304" pitchFamily="18" charset="0"/>
              <a:sym typeface="Calibri"/>
            </a:endParaRPr>
          </a:p>
          <a:p>
            <a:pPr marL="0" lvl="0" indent="0" algn="l" rtl="0">
              <a:lnSpc>
                <a:spcPct val="150000"/>
              </a:lnSpc>
              <a:spcBef>
                <a:spcPts val="0"/>
              </a:spcBef>
              <a:spcAft>
                <a:spcPts val="0"/>
              </a:spcAft>
              <a:buClr>
                <a:schemeClr val="dk1"/>
              </a:buClr>
              <a:buSzPts val="1100"/>
              <a:buFont typeface="Arial" panose="020B0604020202090204"/>
              <a:buNone/>
            </a:pPr>
            <a:r>
              <a:rPr lang="en-GB" sz="1350" dirty="0">
                <a:latin typeface="Times New Roman" panose="02020503050405090304" pitchFamily="18" charset="0"/>
                <a:ea typeface="Calibri"/>
                <a:cs typeface="Times New Roman" panose="02020503050405090304" pitchFamily="18" charset="0"/>
                <a:sym typeface="Calibri"/>
              </a:rPr>
              <a:t>2. Do LLM-based sentiment indicators provide earlier or stronger signals of market instability than traditional market metrics such as historical volatility or trading volume?</a:t>
            </a:r>
            <a:endParaRPr sz="1350" dirty="0">
              <a:latin typeface="Times New Roman" panose="02020503050405090304" pitchFamily="18" charset="0"/>
              <a:ea typeface="Calibri"/>
              <a:cs typeface="Times New Roman" panose="02020503050405090304" pitchFamily="18" charset="0"/>
              <a:sym typeface="Calibri"/>
            </a:endParaRPr>
          </a:p>
          <a:p>
            <a:pPr marL="0" lvl="0" indent="0" algn="l" rtl="0">
              <a:lnSpc>
                <a:spcPct val="150000"/>
              </a:lnSpc>
              <a:spcBef>
                <a:spcPts val="0"/>
              </a:spcBef>
              <a:spcAft>
                <a:spcPts val="0"/>
              </a:spcAft>
              <a:buSzPts val="1100"/>
              <a:buNone/>
            </a:pPr>
            <a:r>
              <a:rPr lang="en-GB" sz="1350" dirty="0">
                <a:latin typeface="Times New Roman" panose="02020503050405090304" pitchFamily="18" charset="0"/>
                <a:ea typeface="Calibri"/>
                <a:cs typeface="Times New Roman" panose="02020503050405090304" pitchFamily="18" charset="0"/>
                <a:sym typeface="Calibri"/>
              </a:rPr>
              <a:t>3. Are market reactions to financial news and regulation geographically concentrated, affecting certain regions more than others?</a:t>
            </a:r>
            <a:endParaRPr sz="1350" dirty="0">
              <a:latin typeface="Times New Roman" panose="02020503050405090304" pitchFamily="18" charset="0"/>
              <a:ea typeface="Calibri"/>
              <a:cs typeface="Times New Roman" panose="02020503050405090304" pitchFamily="18" charset="0"/>
              <a:sym typeface="Calibri"/>
            </a:endParaRPr>
          </a:p>
          <a:p>
            <a:pPr marL="0" lvl="0" indent="0" algn="l" rtl="0">
              <a:lnSpc>
                <a:spcPct val="150000"/>
              </a:lnSpc>
              <a:spcBef>
                <a:spcPts val="0"/>
              </a:spcBef>
              <a:spcAft>
                <a:spcPts val="0"/>
              </a:spcAft>
              <a:buSzPts val="1100"/>
              <a:buNone/>
            </a:pPr>
            <a:endParaRPr sz="1350" dirty="0">
              <a:latin typeface="Calibri"/>
              <a:ea typeface="Calibri"/>
              <a:cs typeface="Calibri"/>
              <a:sym typeface="Calibri"/>
            </a:endParaRPr>
          </a:p>
          <a:p>
            <a:pPr marL="0" lvl="0" indent="0" algn="l" rtl="0">
              <a:lnSpc>
                <a:spcPct val="150000"/>
              </a:lnSpc>
              <a:spcBef>
                <a:spcPts val="0"/>
              </a:spcBef>
              <a:spcAft>
                <a:spcPts val="0"/>
              </a:spcAft>
              <a:buSzPts val="1100"/>
              <a:buNone/>
            </a:pPr>
            <a:r>
              <a:rPr lang="en-GB" sz="1350" b="1" dirty="0">
                <a:latin typeface="Calibri"/>
                <a:ea typeface="Calibri"/>
                <a:cs typeface="Calibri"/>
                <a:sym typeface="Calibri"/>
              </a:rPr>
              <a:t>Figure out how AI-based text analysis could support financial stability monitoring and regulatory decision-making</a:t>
            </a:r>
            <a:endParaRPr sz="1350" b="1" dirty="0">
              <a:latin typeface="Calibri"/>
              <a:ea typeface="Calibri"/>
              <a:cs typeface="Calibri"/>
              <a:sym typeface="Calibri"/>
            </a:endParaRPr>
          </a:p>
          <a:p>
            <a:pPr marL="0" lvl="0" indent="0" algn="l" rtl="0">
              <a:lnSpc>
                <a:spcPct val="150000"/>
              </a:lnSpc>
              <a:spcBef>
                <a:spcPts val="0"/>
              </a:spcBef>
              <a:spcAft>
                <a:spcPts val="0"/>
              </a:spcAft>
              <a:buSzPts val="1100"/>
              <a:buNone/>
            </a:pPr>
            <a:endParaRPr sz="1350" dirty="0">
              <a:latin typeface="Calibri"/>
              <a:ea typeface="Calibri"/>
              <a:cs typeface="Calibri"/>
              <a:sym typeface="Calibri"/>
            </a:endParaRPr>
          </a:p>
        </p:txBody>
      </p:sp>
      <p:sp>
        <p:nvSpPr>
          <p:cNvPr id="147" name="Google Shape;147;p26"/>
          <p:cNvSpPr/>
          <p:nvPr/>
        </p:nvSpPr>
        <p:spPr>
          <a:xfrm>
            <a:off x="0" y="4887468"/>
            <a:ext cx="9144000" cy="256032"/>
          </a:xfrm>
          <a:prstGeom prst="rect">
            <a:avLst/>
          </a:prstGeom>
          <a:solidFill>
            <a:srgbClr val="80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26"/>
          <p:cNvSpPr txBox="1"/>
          <p:nvPr/>
        </p:nvSpPr>
        <p:spPr>
          <a:xfrm>
            <a:off x="6583680" y="4887468"/>
            <a:ext cx="2377440" cy="23079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900" b="0" i="0" u="none" strike="noStrike" cap="none" dirty="0">
                <a:solidFill>
                  <a:srgbClr val="FFFFFF"/>
                </a:solidFill>
                <a:latin typeface="Calibri"/>
                <a:ea typeface="Calibri"/>
                <a:cs typeface="Calibri"/>
                <a:sym typeface="Calibri"/>
              </a:rPr>
              <a:t>2 / </a:t>
            </a:r>
            <a:r>
              <a:rPr lang="en-GB" sz="900" dirty="0">
                <a:solidFill>
                  <a:srgbClr val="FFFFFF"/>
                </a:solidFill>
                <a:latin typeface="Calibri"/>
                <a:ea typeface="Calibri"/>
                <a:cs typeface="Calibri"/>
                <a:sym typeface="Calibri"/>
              </a:rPr>
              <a:t>8</a:t>
            </a:r>
            <a:endParaRPr dirty="0"/>
          </a:p>
        </p:txBody>
      </p:sp>
      <p:pic>
        <p:nvPicPr>
          <p:cNvPr id="150" name="Google Shape;150;p26" title="uchicago.png"/>
          <p:cNvPicPr preferRelativeResize="0"/>
          <p:nvPr/>
        </p:nvPicPr>
        <p:blipFill>
          <a:blip r:embed="rId2"/>
          <a:stretch>
            <a:fillRect/>
          </a:stretch>
        </p:blipFill>
        <p:spPr>
          <a:xfrm>
            <a:off x="8350949" y="502925"/>
            <a:ext cx="793051" cy="957076"/>
          </a:xfrm>
          <a:prstGeom prst="rect">
            <a:avLst/>
          </a:prstGeom>
          <a:noFill/>
          <a:ln>
            <a:noFill/>
          </a:ln>
        </p:spPr>
      </p:pic>
      <p:sp>
        <p:nvSpPr>
          <p:cNvPr id="3" name="Google Shape;136;p25"/>
          <p:cNvSpPr txBox="1"/>
          <p:nvPr/>
        </p:nvSpPr>
        <p:spPr>
          <a:xfrm>
            <a:off x="182880" y="4887468"/>
            <a:ext cx="6400800" cy="230792"/>
          </a:xfrm>
          <a:prstGeom prst="rect">
            <a:avLst/>
          </a:prstGeom>
          <a:noFill/>
          <a:ln>
            <a:noFill/>
          </a:ln>
        </p:spPr>
        <p:txBody>
          <a:bodyPr spcFirstLastPara="1" wrap="square" lIns="91425" tIns="45700" rIns="91425" bIns="45700" anchor="t" anchorCtr="0">
            <a:spAutoFit/>
          </a:bodyPr>
          <a:lstStyle/>
          <a:p>
            <a:pPr lvl="0"/>
            <a:r>
              <a:rPr lang="en-US" sz="900" dirty="0">
                <a:solidFill>
                  <a:srgbClr val="FFFFFF"/>
                </a:solidFill>
                <a:latin typeface="Calibri"/>
                <a:ea typeface="Calibri"/>
                <a:cs typeface="Calibri"/>
                <a:sym typeface="Calibri"/>
              </a:rPr>
              <a:t>Data Analytics and Visualization for PublicPolicy</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7"/>
          <p:cNvSpPr/>
          <p:nvPr/>
        </p:nvSpPr>
        <p:spPr>
          <a:xfrm>
            <a:off x="0" y="0"/>
            <a:ext cx="9144000" cy="502800"/>
          </a:xfrm>
          <a:prstGeom prst="rect">
            <a:avLst/>
          </a:prstGeom>
          <a:solidFill>
            <a:srgbClr val="800000"/>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56" name="Google Shape;156;p27" descr="1772584450591_image.png"/>
          <p:cNvPicPr preferRelativeResize="0"/>
          <p:nvPr/>
        </p:nvPicPr>
        <p:blipFill rotWithShape="1">
          <a:blip r:embed="rId1"/>
          <a:srcRect/>
          <a:stretch>
            <a:fillRect/>
          </a:stretch>
        </p:blipFill>
        <p:spPr>
          <a:xfrm>
            <a:off x="0" y="0"/>
            <a:ext cx="9144000" cy="502920"/>
          </a:xfrm>
          <a:prstGeom prst="rect">
            <a:avLst/>
          </a:prstGeom>
          <a:noFill/>
          <a:ln>
            <a:noFill/>
          </a:ln>
        </p:spPr>
      </p:pic>
      <p:sp>
        <p:nvSpPr>
          <p:cNvPr id="157" name="Google Shape;157;p27"/>
          <p:cNvSpPr txBox="1"/>
          <p:nvPr/>
        </p:nvSpPr>
        <p:spPr>
          <a:xfrm>
            <a:off x="365760" y="548640"/>
            <a:ext cx="8412600" cy="430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200" b="1">
                <a:solidFill>
                  <a:srgbClr val="800000"/>
                </a:solidFill>
                <a:latin typeface="Calibri"/>
                <a:ea typeface="Calibri"/>
                <a:cs typeface="Calibri"/>
                <a:sym typeface="Calibri"/>
              </a:rPr>
              <a:t>Data</a:t>
            </a:r>
            <a:endParaRPr lang="en-GB" sz="2200" b="1">
              <a:solidFill>
                <a:srgbClr val="800000"/>
              </a:solidFill>
              <a:latin typeface="Calibri"/>
              <a:ea typeface="Calibri"/>
              <a:cs typeface="Calibri"/>
              <a:sym typeface="Calibri"/>
            </a:endParaRPr>
          </a:p>
        </p:txBody>
      </p:sp>
      <p:sp>
        <p:nvSpPr>
          <p:cNvPr id="158" name="Google Shape;158;p27"/>
          <p:cNvSpPr txBox="1"/>
          <p:nvPr/>
        </p:nvSpPr>
        <p:spPr>
          <a:xfrm>
            <a:off x="365700" y="904200"/>
            <a:ext cx="8412600" cy="36155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450" b="1" dirty="0">
                <a:latin typeface="Times New Roman" panose="02020503050405090304" pitchFamily="18" charset="0"/>
                <a:ea typeface="Calibri"/>
                <a:cs typeface="Times New Roman" panose="02020503050405090304" pitchFamily="18" charset="0"/>
                <a:sym typeface="Calibri"/>
              </a:rPr>
              <a:t>RAW DATA</a:t>
            </a:r>
            <a:endParaRPr sz="900" b="1" dirty="0">
              <a:solidFill>
                <a:srgbClr val="000080"/>
              </a:solidFill>
              <a:highlight>
                <a:srgbClr val="FFFFFF"/>
              </a:highlight>
              <a:latin typeface="Times New Roman" panose="02020503050405090304" pitchFamily="18" charset="0"/>
              <a:ea typeface="Courier New" panose="02070409020205090404"/>
              <a:cs typeface="Times New Roman" panose="02020503050405090304" pitchFamily="18" charset="0"/>
              <a:sym typeface="Courier New" panose="02070409020205090404"/>
            </a:endParaRPr>
          </a:p>
          <a:p>
            <a:pPr marL="0" marR="0" lvl="0" indent="0" algn="l" rtl="0">
              <a:spcBef>
                <a:spcPts val="0"/>
              </a:spcBef>
              <a:spcAft>
                <a:spcPts val="0"/>
              </a:spcAft>
              <a:buNone/>
            </a:pPr>
            <a:endParaRPr sz="1450" b="1" dirty="0">
              <a:latin typeface="Times New Roman" panose="02020503050405090304" pitchFamily="18" charset="0"/>
              <a:ea typeface="Calibri"/>
              <a:cs typeface="Times New Roman" panose="02020503050405090304" pitchFamily="18" charset="0"/>
              <a:sym typeface="Calibri"/>
            </a:endParaRPr>
          </a:p>
          <a:p>
            <a:pPr marL="0" lvl="0" indent="0" algn="l" rtl="0">
              <a:lnSpc>
                <a:spcPct val="150000"/>
              </a:lnSpc>
              <a:spcBef>
                <a:spcPts val="0"/>
              </a:spcBef>
              <a:spcAft>
                <a:spcPts val="0"/>
              </a:spcAft>
              <a:buSzPts val="1100"/>
              <a:buNone/>
            </a:pPr>
            <a:r>
              <a:rPr lang="en-GB" sz="1350" dirty="0">
                <a:latin typeface="Times New Roman" panose="02020503050405090304" pitchFamily="18" charset="0"/>
                <a:ea typeface="Calibri"/>
                <a:cs typeface="Times New Roman" panose="02020503050405090304" pitchFamily="18" charset="0"/>
                <a:sym typeface="Calibri"/>
              </a:rPr>
              <a:t>1.</a:t>
            </a:r>
            <a:r>
              <a:rPr lang="en-GB" sz="1350" dirty="0">
                <a:solidFill>
                  <a:schemeClr val="dk1"/>
                </a:solidFill>
                <a:latin typeface="Times New Roman" panose="02020503050405090304" pitchFamily="18" charset="0"/>
                <a:ea typeface="Calibri"/>
                <a:cs typeface="Times New Roman" panose="02020503050405090304" pitchFamily="18" charset="0"/>
                <a:sym typeface="Calibri"/>
              </a:rPr>
              <a:t>Financial News &amp; Regulatory Text Data</a:t>
            </a:r>
            <a:endParaRPr sz="1350" dirty="0">
              <a:solidFill>
                <a:schemeClr val="dk1"/>
              </a:solidFill>
              <a:latin typeface="Times New Roman" panose="02020503050405090304" pitchFamily="18" charset="0"/>
              <a:ea typeface="Calibri"/>
              <a:cs typeface="Times New Roman" panose="02020503050405090304" pitchFamily="18" charset="0"/>
              <a:sym typeface="Calibri"/>
            </a:endParaRPr>
          </a:p>
          <a:p>
            <a:pPr marL="457200" lvl="0" indent="0" algn="l" rtl="0">
              <a:lnSpc>
                <a:spcPct val="115000"/>
              </a:lnSpc>
              <a:spcBef>
                <a:spcPts val="200"/>
              </a:spcBef>
              <a:spcAft>
                <a:spcPts val="0"/>
              </a:spcAft>
              <a:buNone/>
            </a:pPr>
            <a:r>
              <a:rPr lang="en-GB" sz="1350" dirty="0">
                <a:solidFill>
                  <a:schemeClr val="dk1"/>
                </a:solidFill>
                <a:latin typeface="Times New Roman" panose="02020503050405090304" pitchFamily="18" charset="0"/>
                <a:ea typeface="Calibri"/>
                <a:cs typeface="Times New Roman" panose="02020503050405090304" pitchFamily="18" charset="0"/>
                <a:sym typeface="Calibri"/>
              </a:rPr>
              <a:t>Daily financial headlines from Kaggle and other news partners, with timestamps and tickers.</a:t>
            </a:r>
            <a:endParaRPr sz="1350" dirty="0">
              <a:solidFill>
                <a:schemeClr val="dk1"/>
              </a:solidFill>
              <a:latin typeface="Times New Roman" panose="02020503050405090304" pitchFamily="18" charset="0"/>
              <a:ea typeface="Calibri"/>
              <a:cs typeface="Times New Roman" panose="02020503050405090304" pitchFamily="18" charset="0"/>
              <a:sym typeface="Calibri"/>
            </a:endParaRPr>
          </a:p>
          <a:p>
            <a:pPr marL="457200" lvl="0" indent="0" algn="l" rtl="0">
              <a:lnSpc>
                <a:spcPct val="115000"/>
              </a:lnSpc>
              <a:spcBef>
                <a:spcPts val="200"/>
              </a:spcBef>
              <a:spcAft>
                <a:spcPts val="0"/>
              </a:spcAft>
              <a:buNone/>
            </a:pPr>
            <a:r>
              <a:rPr lang="en-GB" sz="1350" dirty="0">
                <a:solidFill>
                  <a:schemeClr val="dk1"/>
                </a:solidFill>
                <a:latin typeface="Times New Roman" panose="02020503050405090304" pitchFamily="18" charset="0"/>
                <a:ea typeface="Calibri"/>
                <a:cs typeface="Times New Roman" panose="02020503050405090304" pitchFamily="18" charset="0"/>
                <a:sym typeface="Calibri"/>
              </a:rPr>
              <a:t>Used to train a light sentiment classifier (positive / negative / neutral) and to build yearly indices of regulatory‑news sentiment.</a:t>
            </a:r>
            <a:endParaRPr sz="1350" dirty="0">
              <a:solidFill>
                <a:schemeClr val="dk1"/>
              </a:solidFill>
              <a:latin typeface="Times New Roman" panose="02020503050405090304" pitchFamily="18" charset="0"/>
              <a:ea typeface="Calibri"/>
              <a:cs typeface="Times New Roman" panose="02020503050405090304" pitchFamily="18" charset="0"/>
              <a:sym typeface="Calibri"/>
            </a:endParaRPr>
          </a:p>
          <a:p>
            <a:pPr marL="0" lvl="0" indent="0" algn="l" rtl="0">
              <a:lnSpc>
                <a:spcPct val="150000"/>
              </a:lnSpc>
              <a:spcBef>
                <a:spcPts val="200"/>
              </a:spcBef>
              <a:spcAft>
                <a:spcPts val="0"/>
              </a:spcAft>
              <a:buSzPts val="1100"/>
              <a:buNone/>
            </a:pPr>
            <a:r>
              <a:rPr lang="en-GB" sz="1350" dirty="0">
                <a:solidFill>
                  <a:schemeClr val="dk1"/>
                </a:solidFill>
                <a:latin typeface="Times New Roman" panose="02020503050405090304" pitchFamily="18" charset="0"/>
                <a:ea typeface="Calibri"/>
                <a:cs typeface="Times New Roman" panose="02020503050405090304" pitchFamily="18" charset="0"/>
                <a:sym typeface="Calibri"/>
              </a:rPr>
              <a:t>2.Banking fundamentals (FDIC) Data</a:t>
            </a:r>
            <a:endParaRPr sz="1350" dirty="0">
              <a:solidFill>
                <a:schemeClr val="dk1"/>
              </a:solidFill>
              <a:latin typeface="Times New Roman" panose="02020503050405090304" pitchFamily="18" charset="0"/>
              <a:ea typeface="Calibri"/>
              <a:cs typeface="Times New Roman" panose="02020503050405090304" pitchFamily="18" charset="0"/>
              <a:sym typeface="Calibri"/>
            </a:endParaRPr>
          </a:p>
          <a:p>
            <a:pPr marL="457200" lvl="0" indent="0" algn="l" rtl="0">
              <a:lnSpc>
                <a:spcPct val="115000"/>
              </a:lnSpc>
              <a:spcBef>
                <a:spcPts val="200"/>
              </a:spcBef>
              <a:spcAft>
                <a:spcPts val="0"/>
              </a:spcAft>
              <a:buNone/>
            </a:pPr>
            <a:r>
              <a:rPr lang="en-GB" sz="1350" dirty="0">
                <a:solidFill>
                  <a:schemeClr val="dk1"/>
                </a:solidFill>
                <a:latin typeface="Times New Roman" panose="02020503050405090304" pitchFamily="18" charset="0"/>
                <a:ea typeface="Calibri"/>
                <a:cs typeface="Times New Roman" panose="02020503050405090304" pitchFamily="18" charset="0"/>
                <a:sym typeface="Calibri"/>
              </a:rPr>
              <a:t>FDIC state‑level “Summary of Results” for commercial banks – financial.</a:t>
            </a:r>
            <a:endParaRPr sz="1350" dirty="0">
              <a:solidFill>
                <a:schemeClr val="dk1"/>
              </a:solidFill>
              <a:latin typeface="Times New Roman" panose="02020503050405090304" pitchFamily="18" charset="0"/>
              <a:ea typeface="Calibri"/>
              <a:cs typeface="Times New Roman" panose="02020503050405090304" pitchFamily="18" charset="0"/>
              <a:sym typeface="Calibri"/>
            </a:endParaRPr>
          </a:p>
          <a:p>
            <a:pPr marL="457200" lvl="0" indent="0" algn="l" rtl="0">
              <a:lnSpc>
                <a:spcPct val="115000"/>
              </a:lnSpc>
              <a:spcBef>
                <a:spcPts val="200"/>
              </a:spcBef>
              <a:spcAft>
                <a:spcPts val="0"/>
              </a:spcAft>
              <a:buNone/>
            </a:pPr>
            <a:r>
              <a:rPr lang="en-GB" sz="1350" dirty="0">
                <a:solidFill>
                  <a:schemeClr val="dk1"/>
                </a:solidFill>
                <a:latin typeface="Times New Roman" panose="02020503050405090304" pitchFamily="18" charset="0"/>
                <a:ea typeface="Calibri"/>
                <a:cs typeface="Times New Roman" panose="02020503050405090304" pitchFamily="18" charset="0"/>
                <a:sym typeface="Calibri"/>
              </a:rPr>
              <a:t>State–year totals for assets, net income, number of banks, net interest margin (NIM), and related balance‑sheet items.</a:t>
            </a:r>
            <a:endParaRPr sz="1350" dirty="0">
              <a:solidFill>
                <a:schemeClr val="dk1"/>
              </a:solidFill>
              <a:latin typeface="Times New Roman" panose="02020503050405090304" pitchFamily="18" charset="0"/>
              <a:ea typeface="Calibri"/>
              <a:cs typeface="Times New Roman" panose="02020503050405090304" pitchFamily="18" charset="0"/>
              <a:sym typeface="Calibri"/>
            </a:endParaRPr>
          </a:p>
          <a:p>
            <a:pPr marL="0" lvl="0" indent="0" algn="l" rtl="0">
              <a:lnSpc>
                <a:spcPct val="150000"/>
              </a:lnSpc>
              <a:spcBef>
                <a:spcPts val="200"/>
              </a:spcBef>
              <a:spcAft>
                <a:spcPts val="0"/>
              </a:spcAft>
              <a:buSzPts val="1100"/>
              <a:buNone/>
            </a:pPr>
            <a:r>
              <a:rPr lang="en-GB" sz="1350" dirty="0">
                <a:latin typeface="Times New Roman" panose="02020503050405090304" pitchFamily="18" charset="0"/>
                <a:ea typeface="Calibri"/>
                <a:cs typeface="Times New Roman" panose="02020503050405090304" pitchFamily="18" charset="0"/>
                <a:sym typeface="Calibri"/>
              </a:rPr>
              <a:t>3.Geographic Data for Banks</a:t>
            </a:r>
            <a:endParaRPr sz="1350" dirty="0">
              <a:latin typeface="Times New Roman" panose="02020503050405090304" pitchFamily="18" charset="0"/>
              <a:ea typeface="Calibri"/>
              <a:cs typeface="Times New Roman" panose="02020503050405090304" pitchFamily="18" charset="0"/>
              <a:sym typeface="Calibri"/>
            </a:endParaRPr>
          </a:p>
          <a:p>
            <a:pPr marL="457200" lvl="0" indent="0" algn="l" rtl="0">
              <a:lnSpc>
                <a:spcPct val="115000"/>
              </a:lnSpc>
              <a:spcBef>
                <a:spcPts val="200"/>
              </a:spcBef>
              <a:spcAft>
                <a:spcPts val="0"/>
              </a:spcAft>
              <a:buNone/>
            </a:pPr>
            <a:r>
              <a:rPr lang="en-GB" sz="1350" dirty="0">
                <a:solidFill>
                  <a:schemeClr val="dk1"/>
                </a:solidFill>
                <a:latin typeface="Times New Roman" panose="02020503050405090304" pitchFamily="18" charset="0"/>
                <a:ea typeface="Calibri"/>
                <a:cs typeface="Times New Roman" panose="02020503050405090304" pitchFamily="18" charset="0"/>
                <a:sym typeface="Calibri"/>
              </a:rPr>
              <a:t>U.S. Census TIGER/Line shapefiles for U.S. states (cb_2024_us_state_20m).</a:t>
            </a:r>
            <a:endParaRPr sz="1350" dirty="0">
              <a:solidFill>
                <a:schemeClr val="dk1"/>
              </a:solidFill>
              <a:latin typeface="Times New Roman" panose="02020503050405090304" pitchFamily="18" charset="0"/>
              <a:ea typeface="Calibri"/>
              <a:cs typeface="Times New Roman" panose="02020503050405090304" pitchFamily="18" charset="0"/>
              <a:sym typeface="Calibri"/>
            </a:endParaRPr>
          </a:p>
          <a:p>
            <a:pPr marL="457200" lvl="0" indent="0" algn="l" rtl="0">
              <a:lnSpc>
                <a:spcPct val="115000"/>
              </a:lnSpc>
              <a:spcBef>
                <a:spcPts val="200"/>
              </a:spcBef>
              <a:spcAft>
                <a:spcPts val="200"/>
              </a:spcAft>
              <a:buNone/>
            </a:pPr>
            <a:r>
              <a:rPr lang="en-GB" sz="1350" dirty="0">
                <a:solidFill>
                  <a:schemeClr val="dk1"/>
                </a:solidFill>
                <a:latin typeface="Times New Roman" panose="02020503050405090304" pitchFamily="18" charset="0"/>
                <a:ea typeface="Calibri"/>
                <a:cs typeface="Times New Roman" panose="02020503050405090304" pitchFamily="18" charset="0"/>
                <a:sym typeface="Calibri"/>
              </a:rPr>
              <a:t>Provides state boundaries used to draw choropleth maps of banking stress.</a:t>
            </a:r>
            <a:endParaRPr sz="1350" dirty="0">
              <a:latin typeface="Times New Roman" panose="02020503050405090304" pitchFamily="18" charset="0"/>
              <a:ea typeface="Calibri"/>
              <a:cs typeface="Times New Roman" panose="02020503050405090304" pitchFamily="18" charset="0"/>
              <a:sym typeface="Calibri"/>
            </a:endParaRPr>
          </a:p>
        </p:txBody>
      </p:sp>
      <p:sp>
        <p:nvSpPr>
          <p:cNvPr id="159" name="Google Shape;159;p27"/>
          <p:cNvSpPr/>
          <p:nvPr/>
        </p:nvSpPr>
        <p:spPr>
          <a:xfrm>
            <a:off x="0" y="4887468"/>
            <a:ext cx="9144000" cy="255900"/>
          </a:xfrm>
          <a:prstGeom prst="rect">
            <a:avLst/>
          </a:prstGeom>
          <a:solidFill>
            <a:srgbClr val="800000"/>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1" name="Google Shape;161;p27"/>
          <p:cNvSpPr txBox="1"/>
          <p:nvPr/>
        </p:nvSpPr>
        <p:spPr>
          <a:xfrm>
            <a:off x="6583680" y="4887468"/>
            <a:ext cx="2377500" cy="2307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900" dirty="0">
                <a:solidFill>
                  <a:srgbClr val="FFFFFF"/>
                </a:solidFill>
                <a:latin typeface="Calibri"/>
                <a:ea typeface="Calibri"/>
                <a:cs typeface="Calibri"/>
                <a:sym typeface="Calibri"/>
              </a:rPr>
              <a:t>3</a:t>
            </a:r>
            <a:r>
              <a:rPr lang="en-GB" sz="900" b="0" i="0" u="none" strike="noStrike" cap="none" dirty="0">
                <a:solidFill>
                  <a:srgbClr val="FFFFFF"/>
                </a:solidFill>
                <a:latin typeface="Calibri"/>
                <a:ea typeface="Calibri"/>
                <a:cs typeface="Calibri"/>
                <a:sym typeface="Calibri"/>
              </a:rPr>
              <a:t> / </a:t>
            </a:r>
            <a:r>
              <a:rPr lang="en-GB" sz="900" dirty="0">
                <a:solidFill>
                  <a:srgbClr val="FFFFFF"/>
                </a:solidFill>
                <a:latin typeface="Calibri"/>
                <a:ea typeface="Calibri"/>
                <a:cs typeface="Calibri"/>
                <a:sym typeface="Calibri"/>
              </a:rPr>
              <a:t>8</a:t>
            </a:r>
            <a:endParaRPr dirty="0"/>
          </a:p>
        </p:txBody>
      </p:sp>
      <p:pic>
        <p:nvPicPr>
          <p:cNvPr id="162" name="Google Shape;162;p27" title="uchicago.png"/>
          <p:cNvPicPr preferRelativeResize="0"/>
          <p:nvPr/>
        </p:nvPicPr>
        <p:blipFill>
          <a:blip r:embed="rId2"/>
          <a:stretch>
            <a:fillRect/>
          </a:stretch>
        </p:blipFill>
        <p:spPr>
          <a:xfrm>
            <a:off x="8350949" y="502925"/>
            <a:ext cx="793051" cy="957076"/>
          </a:xfrm>
          <a:prstGeom prst="rect">
            <a:avLst/>
          </a:prstGeom>
          <a:noFill/>
          <a:ln>
            <a:noFill/>
          </a:ln>
        </p:spPr>
      </p:pic>
      <p:sp>
        <p:nvSpPr>
          <p:cNvPr id="2" name="Google Shape;136;p25"/>
          <p:cNvSpPr txBox="1"/>
          <p:nvPr/>
        </p:nvSpPr>
        <p:spPr>
          <a:xfrm>
            <a:off x="182880" y="4887468"/>
            <a:ext cx="6400800" cy="230792"/>
          </a:xfrm>
          <a:prstGeom prst="rect">
            <a:avLst/>
          </a:prstGeom>
          <a:noFill/>
          <a:ln>
            <a:noFill/>
          </a:ln>
        </p:spPr>
        <p:txBody>
          <a:bodyPr spcFirstLastPara="1" wrap="square" lIns="91425" tIns="45700" rIns="91425" bIns="45700" anchor="t" anchorCtr="0">
            <a:spAutoFit/>
          </a:bodyPr>
          <a:lstStyle/>
          <a:p>
            <a:pPr lvl="0"/>
            <a:r>
              <a:rPr lang="en-US" sz="900" dirty="0">
                <a:solidFill>
                  <a:srgbClr val="FFFFFF"/>
                </a:solidFill>
                <a:latin typeface="Calibri"/>
                <a:ea typeface="Calibri"/>
                <a:cs typeface="Calibri"/>
                <a:sym typeface="Calibri"/>
              </a:rPr>
              <a:t>Data Analytics and Visualization for Public Policy</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8"/>
          <p:cNvSpPr/>
          <p:nvPr/>
        </p:nvSpPr>
        <p:spPr>
          <a:xfrm>
            <a:off x="0" y="0"/>
            <a:ext cx="9144000" cy="502800"/>
          </a:xfrm>
          <a:prstGeom prst="rect">
            <a:avLst/>
          </a:prstGeom>
          <a:solidFill>
            <a:srgbClr val="800000"/>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68" name="Google Shape;168;p28" descr="1772584450591_image.png"/>
          <p:cNvPicPr preferRelativeResize="0"/>
          <p:nvPr/>
        </p:nvPicPr>
        <p:blipFill rotWithShape="1">
          <a:blip r:embed="rId1"/>
          <a:srcRect/>
          <a:stretch>
            <a:fillRect/>
          </a:stretch>
        </p:blipFill>
        <p:spPr>
          <a:xfrm>
            <a:off x="0" y="0"/>
            <a:ext cx="9144000" cy="502920"/>
          </a:xfrm>
          <a:prstGeom prst="rect">
            <a:avLst/>
          </a:prstGeom>
          <a:noFill/>
          <a:ln>
            <a:noFill/>
          </a:ln>
        </p:spPr>
      </p:pic>
      <p:sp>
        <p:nvSpPr>
          <p:cNvPr id="169" name="Google Shape;169;p28"/>
          <p:cNvSpPr txBox="1"/>
          <p:nvPr/>
        </p:nvSpPr>
        <p:spPr>
          <a:xfrm>
            <a:off x="365760" y="548640"/>
            <a:ext cx="8412600" cy="430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200" b="1">
                <a:solidFill>
                  <a:srgbClr val="800000"/>
                </a:solidFill>
                <a:latin typeface="Times New Roman" panose="02020503050405090304" pitchFamily="18" charset="0"/>
                <a:ea typeface="Calibri"/>
                <a:cs typeface="Times New Roman" panose="02020503050405090304" pitchFamily="18" charset="0"/>
                <a:sym typeface="Calibri"/>
              </a:rPr>
              <a:t>Data</a:t>
            </a:r>
            <a:endParaRPr>
              <a:latin typeface="Times New Roman" panose="02020503050405090304" pitchFamily="18" charset="0"/>
              <a:cs typeface="Times New Roman" panose="02020503050405090304" pitchFamily="18" charset="0"/>
            </a:endParaRPr>
          </a:p>
        </p:txBody>
      </p:sp>
      <p:sp>
        <p:nvSpPr>
          <p:cNvPr id="170" name="Google Shape;170;p28"/>
          <p:cNvSpPr txBox="1"/>
          <p:nvPr/>
        </p:nvSpPr>
        <p:spPr>
          <a:xfrm>
            <a:off x="365700" y="3501096"/>
            <a:ext cx="8412600" cy="1248891"/>
          </a:xfrm>
          <a:prstGeom prst="rect">
            <a:avLst/>
          </a:prstGeom>
          <a:noFill/>
          <a:ln>
            <a:noFill/>
          </a:ln>
        </p:spPr>
        <p:txBody>
          <a:bodyPr spcFirstLastPara="1" wrap="square" lIns="91425" tIns="45700" rIns="91425" bIns="45700" anchor="t" anchorCtr="0">
            <a:spAutoFit/>
          </a:bodyPr>
          <a:lstStyle/>
          <a:p>
            <a:pPr marL="457200" lvl="0" indent="0" algn="l" rtl="0">
              <a:lnSpc>
                <a:spcPct val="115000"/>
              </a:lnSpc>
              <a:spcBef>
                <a:spcPts val="200"/>
              </a:spcBef>
              <a:spcAft>
                <a:spcPts val="0"/>
              </a:spcAft>
              <a:buNone/>
            </a:pPr>
            <a:endParaRPr sz="1350" dirty="0">
              <a:solidFill>
                <a:schemeClr val="dk1"/>
              </a:solidFill>
              <a:latin typeface="Times New Roman" panose="02020503050405090304" pitchFamily="18" charset="0"/>
              <a:ea typeface="Calibri"/>
              <a:cs typeface="Times New Roman" panose="02020503050405090304" pitchFamily="18" charset="0"/>
              <a:sym typeface="Calibri"/>
            </a:endParaRPr>
          </a:p>
          <a:p>
            <a:pPr marL="0" lvl="0" indent="0" algn="l" rtl="0">
              <a:lnSpc>
                <a:spcPct val="150000"/>
              </a:lnSpc>
              <a:spcBef>
                <a:spcPts val="200"/>
              </a:spcBef>
              <a:spcAft>
                <a:spcPts val="0"/>
              </a:spcAft>
              <a:buSzPts val="1100"/>
              <a:buNone/>
            </a:pPr>
            <a:r>
              <a:rPr lang="en-GB" sz="1350" dirty="0">
                <a:solidFill>
                  <a:schemeClr val="dk1"/>
                </a:solidFill>
                <a:latin typeface="Times New Roman" panose="02020503050405090304" pitchFamily="18" charset="0"/>
                <a:ea typeface="Calibri"/>
                <a:cs typeface="Times New Roman" panose="02020503050405090304" pitchFamily="18" charset="0"/>
                <a:sym typeface="Calibri"/>
              </a:rPr>
              <a:t>2.Visualization Outputs</a:t>
            </a:r>
            <a:endParaRPr sz="1350" dirty="0">
              <a:solidFill>
                <a:schemeClr val="dk1"/>
              </a:solidFill>
              <a:latin typeface="Times New Roman" panose="02020503050405090304" pitchFamily="18" charset="0"/>
              <a:ea typeface="Calibri"/>
              <a:cs typeface="Times New Roman" panose="02020503050405090304" pitchFamily="18" charset="0"/>
              <a:sym typeface="Calibri"/>
            </a:endParaRPr>
          </a:p>
          <a:p>
            <a:pPr marL="457200" lvl="0" indent="0" algn="l" rtl="0">
              <a:lnSpc>
                <a:spcPct val="115000"/>
              </a:lnSpc>
              <a:spcBef>
                <a:spcPts val="200"/>
              </a:spcBef>
              <a:spcAft>
                <a:spcPts val="0"/>
              </a:spcAft>
              <a:buNone/>
            </a:pPr>
            <a:r>
              <a:rPr lang="en-GB" sz="1350" dirty="0">
                <a:solidFill>
                  <a:schemeClr val="dk1"/>
                </a:solidFill>
                <a:latin typeface="Times New Roman" panose="02020503050405090304" pitchFamily="18" charset="0"/>
                <a:ea typeface="Calibri"/>
                <a:cs typeface="Times New Roman" panose="02020503050405090304" pitchFamily="18" charset="0"/>
                <a:sym typeface="Calibri"/>
              </a:rPr>
              <a:t>Static scatter: regulatory‑news negativity vs. ΔROA across state–years.</a:t>
            </a:r>
            <a:endParaRPr sz="1350" dirty="0">
              <a:solidFill>
                <a:schemeClr val="dk1"/>
              </a:solidFill>
              <a:latin typeface="Times New Roman" panose="02020503050405090304" pitchFamily="18" charset="0"/>
              <a:ea typeface="Calibri"/>
              <a:cs typeface="Times New Roman" panose="02020503050405090304" pitchFamily="18" charset="0"/>
              <a:sym typeface="Calibri"/>
            </a:endParaRPr>
          </a:p>
          <a:p>
            <a:pPr marL="457200" lvl="0" indent="0" algn="l" rtl="0">
              <a:lnSpc>
                <a:spcPct val="115000"/>
              </a:lnSpc>
              <a:spcBef>
                <a:spcPts val="200"/>
              </a:spcBef>
              <a:spcAft>
                <a:spcPts val="200"/>
              </a:spcAft>
              <a:buNone/>
            </a:pPr>
            <a:r>
              <a:rPr lang="en-GB" sz="1350" dirty="0">
                <a:solidFill>
                  <a:schemeClr val="dk1"/>
                </a:solidFill>
                <a:latin typeface="Times New Roman" panose="02020503050405090304" pitchFamily="18" charset="0"/>
                <a:ea typeface="Calibri"/>
                <a:cs typeface="Times New Roman" panose="02020503050405090304" pitchFamily="18" charset="0"/>
                <a:sym typeface="Calibri"/>
              </a:rPr>
              <a:t>Static map: state‑level StressScore</a:t>
            </a:r>
            <a:endParaRPr sz="1350" dirty="0">
              <a:latin typeface="Times New Roman" panose="02020503050405090304" pitchFamily="18" charset="0"/>
              <a:ea typeface="Calibri"/>
              <a:cs typeface="Times New Roman" panose="02020503050405090304" pitchFamily="18" charset="0"/>
              <a:sym typeface="Calibri"/>
            </a:endParaRPr>
          </a:p>
        </p:txBody>
      </p:sp>
      <p:sp>
        <p:nvSpPr>
          <p:cNvPr id="171" name="Google Shape;171;p28"/>
          <p:cNvSpPr/>
          <p:nvPr/>
        </p:nvSpPr>
        <p:spPr>
          <a:xfrm>
            <a:off x="0" y="4887468"/>
            <a:ext cx="9144000" cy="255900"/>
          </a:xfrm>
          <a:prstGeom prst="rect">
            <a:avLst/>
          </a:prstGeom>
          <a:solidFill>
            <a:srgbClr val="800000"/>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3" name="Google Shape;173;p28"/>
          <p:cNvSpPr txBox="1"/>
          <p:nvPr/>
        </p:nvSpPr>
        <p:spPr>
          <a:xfrm>
            <a:off x="6583680" y="4887468"/>
            <a:ext cx="2377500" cy="2307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900" dirty="0">
                <a:solidFill>
                  <a:srgbClr val="FFFFFF"/>
                </a:solidFill>
                <a:latin typeface="Calibri"/>
                <a:ea typeface="Calibri"/>
                <a:cs typeface="Calibri"/>
                <a:sym typeface="Calibri"/>
              </a:rPr>
              <a:t>4</a:t>
            </a:r>
            <a:r>
              <a:rPr lang="en-GB" sz="900" b="0" i="0" u="none" strike="noStrike" cap="none" dirty="0">
                <a:solidFill>
                  <a:srgbClr val="FFFFFF"/>
                </a:solidFill>
                <a:latin typeface="Calibri"/>
                <a:ea typeface="Calibri"/>
                <a:cs typeface="Calibri"/>
                <a:sym typeface="Calibri"/>
              </a:rPr>
              <a:t> / </a:t>
            </a:r>
            <a:r>
              <a:rPr lang="en-GB" sz="900" dirty="0">
                <a:solidFill>
                  <a:srgbClr val="FFFFFF"/>
                </a:solidFill>
                <a:latin typeface="Calibri"/>
                <a:ea typeface="Calibri"/>
                <a:cs typeface="Calibri"/>
                <a:sym typeface="Calibri"/>
              </a:rPr>
              <a:t>8</a:t>
            </a:r>
            <a:endParaRPr dirty="0"/>
          </a:p>
        </p:txBody>
      </p:sp>
      <p:pic>
        <p:nvPicPr>
          <p:cNvPr id="174" name="Google Shape;174;p28" title="uchicago.png"/>
          <p:cNvPicPr preferRelativeResize="0"/>
          <p:nvPr/>
        </p:nvPicPr>
        <p:blipFill>
          <a:blip r:embed="rId2"/>
          <a:stretch>
            <a:fillRect/>
          </a:stretch>
        </p:blipFill>
        <p:spPr>
          <a:xfrm>
            <a:off x="8350949" y="502925"/>
            <a:ext cx="793051" cy="957076"/>
          </a:xfrm>
          <a:prstGeom prst="rect">
            <a:avLst/>
          </a:prstGeom>
          <a:noFill/>
          <a:ln>
            <a:noFill/>
          </a:ln>
        </p:spPr>
      </p:pic>
      <p:sp>
        <p:nvSpPr>
          <p:cNvPr id="2" name="Google Shape;136;p25"/>
          <p:cNvSpPr txBox="1"/>
          <p:nvPr/>
        </p:nvSpPr>
        <p:spPr>
          <a:xfrm>
            <a:off x="182880" y="4887468"/>
            <a:ext cx="6400800" cy="230792"/>
          </a:xfrm>
          <a:prstGeom prst="rect">
            <a:avLst/>
          </a:prstGeom>
          <a:noFill/>
          <a:ln>
            <a:noFill/>
          </a:ln>
        </p:spPr>
        <p:txBody>
          <a:bodyPr spcFirstLastPara="1" wrap="square" lIns="91425" tIns="45700" rIns="91425" bIns="45700" anchor="t" anchorCtr="0">
            <a:spAutoFit/>
          </a:bodyPr>
          <a:lstStyle/>
          <a:p>
            <a:pPr lvl="0"/>
            <a:r>
              <a:rPr lang="en-US" sz="900" dirty="0">
                <a:solidFill>
                  <a:srgbClr val="FFFFFF"/>
                </a:solidFill>
                <a:latin typeface="Calibri"/>
                <a:ea typeface="Calibri"/>
                <a:cs typeface="Calibri"/>
                <a:sym typeface="Calibri"/>
              </a:rPr>
              <a:t>Data Analytics and Visualization for Public Policy</a:t>
            </a:r>
            <a:endParaRPr dirty="0"/>
          </a:p>
        </p:txBody>
      </p:sp>
      <p:sp>
        <p:nvSpPr>
          <p:cNvPr id="32" name="文本框 31"/>
          <p:cNvSpPr txBox="1"/>
          <p:nvPr/>
        </p:nvSpPr>
        <p:spPr>
          <a:xfrm>
            <a:off x="527019" y="1479585"/>
            <a:ext cx="7662672" cy="307777"/>
          </a:xfrm>
          <a:prstGeom prst="rect">
            <a:avLst/>
          </a:prstGeom>
          <a:solidFill>
            <a:srgbClr val="92D050"/>
          </a:solidFill>
        </p:spPr>
        <p:txBody>
          <a:bodyPr wrap="square">
            <a:spAutoFit/>
          </a:bodyPr>
          <a:lstStyle/>
          <a:p>
            <a:r>
              <a:rPr lang="en-US" altLang="zh-CN"/>
              <a:t>1. Merge </a:t>
            </a:r>
            <a:r>
              <a:rPr lang="en-US" altLang="zh-CN" dirty="0"/>
              <a:t>FDIC </a:t>
            </a:r>
            <a:r>
              <a:rPr lang="en-US" altLang="zh-CN" b="1" i="1" dirty="0"/>
              <a:t>state-year banking fundamentals </a:t>
            </a:r>
            <a:r>
              <a:rPr lang="en-US" altLang="zh-CN" dirty="0"/>
              <a:t>with</a:t>
            </a:r>
            <a:r>
              <a:rPr lang="en-US" altLang="zh-CN" b="1" i="1" dirty="0"/>
              <a:t> yearly regulatory-news sentiment</a:t>
            </a:r>
            <a:r>
              <a:rPr lang="en-US" altLang="zh-CN" dirty="0"/>
              <a:t>.</a:t>
            </a:r>
            <a:endParaRPr lang="zh-CN" altLang="en-US" dirty="0"/>
          </a:p>
        </p:txBody>
      </p:sp>
      <p:sp>
        <p:nvSpPr>
          <p:cNvPr id="34" name="文本框 33"/>
          <p:cNvSpPr txBox="1"/>
          <p:nvPr/>
        </p:nvSpPr>
        <p:spPr>
          <a:xfrm>
            <a:off x="527019" y="925070"/>
            <a:ext cx="3364992" cy="246221"/>
          </a:xfrm>
          <a:prstGeom prst="rect">
            <a:avLst/>
          </a:prstGeom>
          <a:noFill/>
          <a:ln>
            <a:solidFill>
              <a:schemeClr val="tx1"/>
            </a:solidFill>
          </a:ln>
        </p:spPr>
        <p:txBody>
          <a:bodyPr wrap="square">
            <a:spAutoFit/>
          </a:bodyPr>
          <a:lstStyle/>
          <a:p>
            <a:r>
              <a:rPr lang="en-US" altLang="zh-CN" sz="1000" b="1" dirty="0">
                <a:latin typeface="Times New Roman" panose="02020503050405090304" pitchFamily="18" charset="0"/>
                <a:cs typeface="Times New Roman" panose="02020503050405090304" pitchFamily="18" charset="0"/>
              </a:rPr>
              <a:t>FDIC </a:t>
            </a:r>
            <a:r>
              <a:rPr lang="en-US" altLang="zh-CN" sz="1000" b="1" i="1" dirty="0">
                <a:latin typeface="Times New Roman" panose="02020503050405090304" pitchFamily="18" charset="0"/>
                <a:cs typeface="Times New Roman" panose="02020503050405090304" pitchFamily="18" charset="0"/>
              </a:rPr>
              <a:t>banking fundamentals data : ROA, ROE, Deposits</a:t>
            </a:r>
            <a:r>
              <a:rPr lang="en-US" altLang="zh-CN" sz="1000" dirty="0"/>
              <a:t> </a:t>
            </a:r>
            <a:r>
              <a:rPr lang="en-US" altLang="zh-CN" sz="1000" b="1" i="1" dirty="0" err="1">
                <a:latin typeface="Times New Roman" panose="02020503050405090304" pitchFamily="18" charset="0"/>
                <a:cs typeface="Times New Roman" panose="02020503050405090304" pitchFamily="18" charset="0"/>
              </a:rPr>
              <a:t>etc</a:t>
            </a:r>
            <a:endParaRPr lang="zh-CN" altLang="en-US" sz="1000" dirty="0">
              <a:latin typeface="Times New Roman" panose="02020503050405090304" pitchFamily="18" charset="0"/>
              <a:cs typeface="Times New Roman" panose="02020503050405090304" pitchFamily="18" charset="0"/>
            </a:endParaRPr>
          </a:p>
        </p:txBody>
      </p:sp>
      <p:sp>
        <p:nvSpPr>
          <p:cNvPr id="35" name="文本框 34"/>
          <p:cNvSpPr txBox="1"/>
          <p:nvPr/>
        </p:nvSpPr>
        <p:spPr>
          <a:xfrm>
            <a:off x="4199575" y="919832"/>
            <a:ext cx="3932038" cy="246221"/>
          </a:xfrm>
          <a:prstGeom prst="rect">
            <a:avLst/>
          </a:prstGeom>
          <a:noFill/>
          <a:ln>
            <a:solidFill>
              <a:schemeClr val="tx1"/>
            </a:solidFill>
          </a:ln>
        </p:spPr>
        <p:txBody>
          <a:bodyPr wrap="square">
            <a:spAutoFit/>
          </a:bodyPr>
          <a:lstStyle/>
          <a:p>
            <a:r>
              <a:rPr lang="en-US" altLang="zh-CN" sz="1000" dirty="0">
                <a:latin typeface="Times New Roman" panose="02020503050405090304" pitchFamily="18" charset="0"/>
                <a:cs typeface="Times New Roman" panose="02020503050405090304" pitchFamily="18" charset="0"/>
              </a:rPr>
              <a:t>negative regulatory/banking regulation news </a:t>
            </a:r>
            <a:r>
              <a:rPr lang="zh-CN" altLang="en-US" sz="1000" dirty="0">
                <a:latin typeface="Times New Roman" panose="02020503050405090304" pitchFamily="18" charset="0"/>
                <a:cs typeface="Times New Roman" panose="02020503050405090304" pitchFamily="18" charset="0"/>
              </a:rPr>
              <a:t>⮕</a:t>
            </a:r>
            <a:r>
              <a:rPr lang="en-US" altLang="zh-CN" sz="1000" dirty="0">
                <a:latin typeface="Times New Roman" panose="02020503050405090304" pitchFamily="18" charset="0"/>
                <a:cs typeface="Times New Roman" panose="02020503050405090304" pitchFamily="18" charset="0"/>
              </a:rPr>
              <a:t>NLP</a:t>
            </a:r>
            <a:r>
              <a:rPr lang="zh-CN" altLang="en-US" sz="1000" dirty="0">
                <a:latin typeface="Times New Roman" panose="02020503050405090304" pitchFamily="18" charset="0"/>
                <a:cs typeface="Times New Roman" panose="02020503050405090304" pitchFamily="18" charset="0"/>
              </a:rPr>
              <a:t>⮕</a:t>
            </a:r>
            <a:r>
              <a:rPr lang="en-US" altLang="zh-CN" sz="1000" dirty="0">
                <a:latin typeface="Times New Roman" panose="02020503050405090304" pitchFamily="18" charset="0"/>
                <a:cs typeface="Times New Roman" panose="02020503050405090304" pitchFamily="18" charset="0"/>
              </a:rPr>
              <a:t>sentiment index</a:t>
            </a:r>
            <a:endParaRPr lang="zh-CN" altLang="en-US" sz="1000" dirty="0">
              <a:latin typeface="Times New Roman" panose="02020503050405090304" pitchFamily="18" charset="0"/>
              <a:cs typeface="Times New Roman" panose="02020503050405090304" pitchFamily="18" charset="0"/>
            </a:endParaRPr>
          </a:p>
        </p:txBody>
      </p:sp>
      <p:sp>
        <p:nvSpPr>
          <p:cNvPr id="37" name="右大括号 36"/>
          <p:cNvSpPr/>
          <p:nvPr/>
        </p:nvSpPr>
        <p:spPr>
          <a:xfrm rot="5400000">
            <a:off x="3907536" y="538930"/>
            <a:ext cx="298704" cy="167656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9" name="文本框 38"/>
          <p:cNvSpPr txBox="1"/>
          <p:nvPr/>
        </p:nvSpPr>
        <p:spPr>
          <a:xfrm>
            <a:off x="615411" y="2044064"/>
            <a:ext cx="3276600" cy="400110"/>
          </a:xfrm>
          <a:prstGeom prst="rect">
            <a:avLst/>
          </a:prstGeom>
          <a:noFill/>
        </p:spPr>
        <p:txBody>
          <a:bodyPr wrap="square">
            <a:spAutoFit/>
          </a:bodyPr>
          <a:lstStyle/>
          <a:p>
            <a:pPr>
              <a:buNone/>
            </a:pPr>
            <a:r>
              <a:rPr lang="en-US" altLang="zh-CN" sz="1000" b="1" dirty="0">
                <a:latin typeface="Times New Roman" panose="02020503050405090304" pitchFamily="18" charset="0"/>
                <a:cs typeface="Times New Roman" panose="02020503050405090304" pitchFamily="18" charset="0"/>
              </a:rPr>
              <a:t>❶ ΔROA (Profitability Change)</a:t>
            </a:r>
            <a:endParaRPr lang="en-US" altLang="zh-CN" sz="1000" b="1" dirty="0">
              <a:latin typeface="Times New Roman" panose="02020503050405090304" pitchFamily="18" charset="0"/>
              <a:cs typeface="Times New Roman" panose="02020503050405090304" pitchFamily="18" charset="0"/>
            </a:endParaRPr>
          </a:p>
          <a:p>
            <a:pPr>
              <a:buNone/>
            </a:pPr>
            <a:r>
              <a:rPr lang="en-US" altLang="zh-CN" sz="1000" b="1" dirty="0">
                <a:latin typeface="Times New Roman" panose="02020503050405090304" pitchFamily="18" charset="0"/>
                <a:cs typeface="Times New Roman" panose="02020503050405090304" pitchFamily="18" charset="0"/>
              </a:rPr>
              <a:t>Change in return on assets for state s from year t to t+1</a:t>
            </a:r>
            <a:endParaRPr lang="en-US" altLang="zh-CN" sz="1000" dirty="0">
              <a:latin typeface="Times New Roman" panose="02020503050405090304" pitchFamily="18" charset="0"/>
              <a:cs typeface="Times New Roman" panose="02020503050405090304" pitchFamily="18" charset="0"/>
            </a:endParaRPr>
          </a:p>
        </p:txBody>
      </p:sp>
      <p:pic>
        <p:nvPicPr>
          <p:cNvPr id="41" name="图片 40"/>
          <p:cNvPicPr>
            <a:picLocks noChangeAspect="1"/>
          </p:cNvPicPr>
          <p:nvPr/>
        </p:nvPicPr>
        <p:blipFill>
          <a:blip r:embed="rId3"/>
          <a:stretch>
            <a:fillRect/>
          </a:stretch>
        </p:blipFill>
        <p:spPr>
          <a:xfrm>
            <a:off x="713232" y="2377603"/>
            <a:ext cx="2335650" cy="266626"/>
          </a:xfrm>
          <a:prstGeom prst="rect">
            <a:avLst/>
          </a:prstGeom>
        </p:spPr>
      </p:pic>
      <p:sp>
        <p:nvSpPr>
          <p:cNvPr id="43" name="文本框 42"/>
          <p:cNvSpPr txBox="1"/>
          <p:nvPr/>
        </p:nvSpPr>
        <p:spPr>
          <a:xfrm>
            <a:off x="4468368" y="2051664"/>
            <a:ext cx="4614672" cy="553998"/>
          </a:xfrm>
          <a:prstGeom prst="rect">
            <a:avLst/>
          </a:prstGeom>
          <a:noFill/>
        </p:spPr>
        <p:txBody>
          <a:bodyPr wrap="square">
            <a:spAutoFit/>
          </a:bodyPr>
          <a:lstStyle/>
          <a:p>
            <a:pPr>
              <a:buNone/>
            </a:pPr>
            <a:r>
              <a:rPr lang="en-US" altLang="zh-CN" sz="1000" b="1" dirty="0">
                <a:latin typeface="Times New Roman" panose="02020503050405090304" pitchFamily="18" charset="0"/>
                <a:cs typeface="Times New Roman" panose="02020503050405090304" pitchFamily="18" charset="0"/>
              </a:rPr>
              <a:t>❷ </a:t>
            </a:r>
            <a:r>
              <a:rPr lang="en-US" altLang="zh-CN" sz="1000" b="1" dirty="0" err="1">
                <a:latin typeface="Times New Roman" panose="02020503050405090304" pitchFamily="18" charset="0"/>
                <a:cs typeface="Times New Roman" panose="02020503050405090304" pitchFamily="18" charset="0"/>
              </a:rPr>
              <a:t>bad_year</a:t>
            </a:r>
            <a:r>
              <a:rPr lang="en-US" altLang="zh-CN" sz="1000" b="1" dirty="0">
                <a:latin typeface="Times New Roman" panose="02020503050405090304" pitchFamily="18" charset="0"/>
                <a:cs typeface="Times New Roman" panose="02020503050405090304" pitchFamily="18" charset="0"/>
              </a:rPr>
              <a:t> (Stress Indicator)</a:t>
            </a:r>
            <a:endParaRPr lang="en-US" altLang="zh-CN" sz="1000" b="1" dirty="0">
              <a:latin typeface="Times New Roman" panose="02020503050405090304" pitchFamily="18" charset="0"/>
              <a:cs typeface="Times New Roman" panose="02020503050405090304" pitchFamily="18" charset="0"/>
            </a:endParaRPr>
          </a:p>
          <a:p>
            <a:pPr>
              <a:buNone/>
            </a:pPr>
            <a:r>
              <a:rPr lang="en-US" altLang="zh-CN" sz="1000" b="1" dirty="0">
                <a:latin typeface="Times New Roman" panose="02020503050405090304" pitchFamily="18" charset="0"/>
                <a:cs typeface="Times New Roman" panose="02020503050405090304" pitchFamily="18" charset="0"/>
              </a:rPr>
              <a:t>Binary indicator equal to 1 if ΔROA is unusually low</a:t>
            </a:r>
            <a:endParaRPr lang="en-US" altLang="zh-CN" sz="1000" b="1" dirty="0">
              <a:latin typeface="Times New Roman" panose="02020503050405090304" pitchFamily="18" charset="0"/>
              <a:cs typeface="Times New Roman" panose="02020503050405090304" pitchFamily="18" charset="0"/>
            </a:endParaRPr>
          </a:p>
          <a:p>
            <a:pPr>
              <a:buNone/>
            </a:pPr>
            <a:r>
              <a:rPr lang="en-US" altLang="zh-CN" sz="1000" b="1" dirty="0">
                <a:latin typeface="Times New Roman" panose="02020503050405090304" pitchFamily="18" charset="0"/>
                <a:cs typeface="Times New Roman" panose="02020503050405090304" pitchFamily="18" charset="0"/>
              </a:rPr>
              <a:t>If </a:t>
            </a:r>
            <a:r>
              <a:rPr lang="el-GR" altLang="zh-CN" sz="1000" dirty="0">
                <a:latin typeface="Times New Roman" panose="02020503050405090304" pitchFamily="18" charset="0"/>
                <a:cs typeface="Times New Roman" panose="02020503050405090304" pitchFamily="18" charset="0"/>
              </a:rPr>
              <a:t>Δ</a:t>
            </a:r>
            <a:r>
              <a:rPr lang="en-US" altLang="zh-CN" sz="1000" dirty="0">
                <a:latin typeface="Times New Roman" panose="02020503050405090304" pitchFamily="18" charset="0"/>
                <a:cs typeface="Times New Roman" panose="02020503050405090304" pitchFamily="18" charset="0"/>
              </a:rPr>
              <a:t>ROA very</a:t>
            </a:r>
            <a:r>
              <a:rPr lang="zh-CN" altLang="en-US" sz="1000" dirty="0">
                <a:latin typeface="Times New Roman" panose="02020503050405090304" pitchFamily="18" charset="0"/>
                <a:cs typeface="Times New Roman" panose="02020503050405090304" pitchFamily="18" charset="0"/>
              </a:rPr>
              <a:t> </a:t>
            </a:r>
            <a:r>
              <a:rPr lang="en-US" altLang="zh-CN" sz="1000" dirty="0">
                <a:latin typeface="Times New Roman" panose="02020503050405090304" pitchFamily="18" charset="0"/>
                <a:cs typeface="Times New Roman" panose="02020503050405090304" pitchFamily="18" charset="0"/>
              </a:rPr>
              <a:t>low, </a:t>
            </a:r>
            <a:r>
              <a:rPr lang="en-US" altLang="zh-CN" sz="1000" dirty="0" err="1">
                <a:latin typeface="Times New Roman" panose="02020503050405090304" pitchFamily="18" charset="0"/>
                <a:cs typeface="Times New Roman" panose="02020503050405090304" pitchFamily="18" charset="0"/>
              </a:rPr>
              <a:t>bad_year</a:t>
            </a:r>
            <a:r>
              <a:rPr lang="en-US" altLang="zh-CN" sz="1000" dirty="0">
                <a:latin typeface="Times New Roman" panose="02020503050405090304" pitchFamily="18" charset="0"/>
                <a:cs typeface="Times New Roman" panose="02020503050405090304" pitchFamily="18" charset="0"/>
              </a:rPr>
              <a:t> = 1</a:t>
            </a:r>
            <a:endParaRPr lang="en-US" altLang="zh-CN" sz="1000" dirty="0">
              <a:latin typeface="Times New Roman" panose="02020503050405090304" pitchFamily="18" charset="0"/>
              <a:cs typeface="Times New Roman" panose="02020503050405090304" pitchFamily="18" charset="0"/>
            </a:endParaRPr>
          </a:p>
        </p:txBody>
      </p:sp>
      <p:sp>
        <p:nvSpPr>
          <p:cNvPr id="45" name="文本框 44"/>
          <p:cNvSpPr txBox="1"/>
          <p:nvPr/>
        </p:nvSpPr>
        <p:spPr>
          <a:xfrm>
            <a:off x="648796" y="2963302"/>
            <a:ext cx="3121437" cy="553998"/>
          </a:xfrm>
          <a:prstGeom prst="rect">
            <a:avLst/>
          </a:prstGeom>
          <a:noFill/>
        </p:spPr>
        <p:txBody>
          <a:bodyPr wrap="square">
            <a:spAutoFit/>
          </a:bodyPr>
          <a:lstStyle/>
          <a:p>
            <a:pPr>
              <a:buNone/>
            </a:pPr>
            <a:r>
              <a:rPr lang="en-US" altLang="zh-CN" sz="1000" b="1" dirty="0">
                <a:latin typeface="Times New Roman" panose="02020503050405090304" pitchFamily="18" charset="0"/>
                <a:cs typeface="Times New Roman" panose="02020503050405090304" pitchFamily="18" charset="0"/>
              </a:rPr>
              <a:t>❸ severity (Magnitude of Deterioration)</a:t>
            </a:r>
            <a:endParaRPr lang="en-US" altLang="zh-CN" sz="1000" b="1" dirty="0">
              <a:latin typeface="Times New Roman" panose="02020503050405090304" pitchFamily="18" charset="0"/>
              <a:cs typeface="Times New Roman" panose="02020503050405090304" pitchFamily="18" charset="0"/>
            </a:endParaRPr>
          </a:p>
          <a:p>
            <a:pPr>
              <a:buNone/>
            </a:pPr>
            <a:r>
              <a:rPr lang="en-US" altLang="zh-CN" sz="1000" b="1" dirty="0">
                <a:latin typeface="Times New Roman" panose="02020503050405090304" pitchFamily="18" charset="0"/>
                <a:cs typeface="Times New Roman" panose="02020503050405090304" pitchFamily="18" charset="0"/>
              </a:rPr>
              <a:t>Continuous measure capturing how severe the profitability decline is (HOW bad it was)</a:t>
            </a:r>
            <a:endParaRPr lang="en-US" altLang="zh-CN" sz="1000" dirty="0">
              <a:latin typeface="Times New Roman" panose="02020503050405090304" pitchFamily="18" charset="0"/>
              <a:cs typeface="Times New Roman" panose="02020503050405090304" pitchFamily="18" charset="0"/>
            </a:endParaRPr>
          </a:p>
        </p:txBody>
      </p:sp>
      <p:sp>
        <p:nvSpPr>
          <p:cNvPr id="49" name="文本框 48"/>
          <p:cNvSpPr txBox="1"/>
          <p:nvPr/>
        </p:nvSpPr>
        <p:spPr>
          <a:xfrm>
            <a:off x="4468368" y="2963302"/>
            <a:ext cx="4614672" cy="400110"/>
          </a:xfrm>
          <a:prstGeom prst="rect">
            <a:avLst/>
          </a:prstGeom>
          <a:noFill/>
        </p:spPr>
        <p:txBody>
          <a:bodyPr wrap="square">
            <a:spAutoFit/>
          </a:bodyPr>
          <a:lstStyle/>
          <a:p>
            <a:r>
              <a:rPr lang="en-US" altLang="zh-CN" sz="1000" dirty="0">
                <a:latin typeface="Times New Roman" panose="02020503050405090304" pitchFamily="18" charset="0"/>
                <a:cs typeface="Times New Roman" panose="02020503050405090304" pitchFamily="18" charset="0"/>
              </a:rPr>
              <a:t>❹ </a:t>
            </a:r>
            <a:r>
              <a:rPr lang="en-US" altLang="zh-CN" sz="1000" dirty="0" err="1">
                <a:latin typeface="Times New Roman" panose="02020503050405090304" pitchFamily="18" charset="0"/>
                <a:cs typeface="Times New Roman" panose="02020503050405090304" pitchFamily="18" charset="0"/>
              </a:rPr>
              <a:t>StressScore</a:t>
            </a:r>
            <a:r>
              <a:rPr lang="en-US" altLang="zh-CN" sz="1000" dirty="0">
                <a:latin typeface="Times New Roman" panose="02020503050405090304" pitchFamily="18" charset="0"/>
                <a:cs typeface="Times New Roman" panose="02020503050405090304" pitchFamily="18" charset="0"/>
              </a:rPr>
              <a:t> (Composite Stress Index)</a:t>
            </a:r>
            <a:endParaRPr lang="en-US" altLang="zh-CN" sz="1000" dirty="0">
              <a:latin typeface="Times New Roman" panose="02020503050405090304" pitchFamily="18" charset="0"/>
              <a:cs typeface="Times New Roman" panose="02020503050405090304" pitchFamily="18" charset="0"/>
            </a:endParaRPr>
          </a:p>
          <a:p>
            <a:r>
              <a:rPr lang="en-US" altLang="zh-CN" sz="1000" b="1" dirty="0" err="1">
                <a:latin typeface="Times New Roman" panose="02020503050405090304" pitchFamily="18" charset="0"/>
                <a:cs typeface="Times New Roman" panose="02020503050405090304" pitchFamily="18" charset="0"/>
              </a:rPr>
              <a:t>StressScore</a:t>
            </a:r>
            <a:r>
              <a:rPr lang="en-US" altLang="zh-CN" sz="1000" b="1" dirty="0">
                <a:latin typeface="Times New Roman" panose="02020503050405090304" pitchFamily="18" charset="0"/>
                <a:cs typeface="Times New Roman" panose="02020503050405090304" pitchFamily="18" charset="0"/>
              </a:rPr>
              <a:t> = Probability of Distress × Severity of Distress</a:t>
            </a:r>
            <a:endParaRPr lang="zh-CN" altLang="en-US" sz="1000" dirty="0">
              <a:latin typeface="Times New Roman" panose="02020503050405090304" pitchFamily="18" charset="0"/>
              <a:cs typeface="Times New Roman" panose="02020503050405090304" pitchFamily="18" charset="0"/>
            </a:endParaRPr>
          </a:p>
        </p:txBody>
      </p:sp>
      <p:pic>
        <p:nvPicPr>
          <p:cNvPr id="51" name="图片 50"/>
          <p:cNvPicPr>
            <a:picLocks noChangeAspect="1"/>
          </p:cNvPicPr>
          <p:nvPr/>
        </p:nvPicPr>
        <p:blipFill>
          <a:blip r:embed="rId4"/>
          <a:stretch>
            <a:fillRect/>
          </a:stretch>
        </p:blipFill>
        <p:spPr>
          <a:xfrm>
            <a:off x="4517136" y="3309245"/>
            <a:ext cx="2962656" cy="310226"/>
          </a:xfrm>
          <a:prstGeom prst="rect">
            <a:avLst/>
          </a:prstGeom>
        </p:spPr>
      </p:pic>
      <p:sp>
        <p:nvSpPr>
          <p:cNvPr id="52" name="矩形: 圆角 51"/>
          <p:cNvSpPr/>
          <p:nvPr/>
        </p:nvSpPr>
        <p:spPr>
          <a:xfrm>
            <a:off x="527019" y="1962912"/>
            <a:ext cx="3364992" cy="821694"/>
          </a:xfrm>
          <a:prstGeom prst="roundRect">
            <a:avLst/>
          </a:prstGeom>
          <a:solidFill>
            <a:schemeClr val="accent1">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圆角 52"/>
          <p:cNvSpPr/>
          <p:nvPr/>
        </p:nvSpPr>
        <p:spPr>
          <a:xfrm>
            <a:off x="4358355" y="1962912"/>
            <a:ext cx="3364992" cy="821694"/>
          </a:xfrm>
          <a:prstGeom prst="roundRect">
            <a:avLst/>
          </a:prstGeom>
          <a:solidFill>
            <a:schemeClr val="accent1">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圆角 53"/>
          <p:cNvSpPr/>
          <p:nvPr/>
        </p:nvSpPr>
        <p:spPr>
          <a:xfrm>
            <a:off x="527019" y="2952565"/>
            <a:ext cx="3364992" cy="821694"/>
          </a:xfrm>
          <a:prstGeom prst="roundRect">
            <a:avLst/>
          </a:prstGeom>
          <a:solidFill>
            <a:schemeClr val="accent1">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圆角 54"/>
          <p:cNvSpPr/>
          <p:nvPr/>
        </p:nvSpPr>
        <p:spPr>
          <a:xfrm>
            <a:off x="4358355" y="2922087"/>
            <a:ext cx="3364992" cy="821694"/>
          </a:xfrm>
          <a:prstGeom prst="roundRect">
            <a:avLst/>
          </a:prstGeom>
          <a:solidFill>
            <a:schemeClr val="accent1">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9"/>
          <p:cNvSpPr/>
          <p:nvPr/>
        </p:nvSpPr>
        <p:spPr>
          <a:xfrm>
            <a:off x="0" y="0"/>
            <a:ext cx="9144000" cy="502920"/>
          </a:xfrm>
          <a:prstGeom prst="rect">
            <a:avLst/>
          </a:prstGeom>
          <a:solidFill>
            <a:srgbClr val="80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80" name="Google Shape;180;p29" descr="1772584450591_image.png"/>
          <p:cNvPicPr preferRelativeResize="0"/>
          <p:nvPr/>
        </p:nvPicPr>
        <p:blipFill rotWithShape="1">
          <a:blip r:embed="rId1"/>
          <a:srcRect/>
          <a:stretch>
            <a:fillRect/>
          </a:stretch>
        </p:blipFill>
        <p:spPr>
          <a:xfrm>
            <a:off x="0" y="0"/>
            <a:ext cx="9144000" cy="502920"/>
          </a:xfrm>
          <a:prstGeom prst="rect">
            <a:avLst/>
          </a:prstGeom>
          <a:noFill/>
          <a:ln>
            <a:noFill/>
          </a:ln>
        </p:spPr>
      </p:pic>
      <p:sp>
        <p:nvSpPr>
          <p:cNvPr id="181" name="Google Shape;181;p29"/>
          <p:cNvSpPr txBox="1"/>
          <p:nvPr/>
        </p:nvSpPr>
        <p:spPr>
          <a:xfrm>
            <a:off x="365760" y="548640"/>
            <a:ext cx="8412600" cy="430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200" b="1" i="0" u="none" strike="noStrike" cap="none" dirty="0">
                <a:solidFill>
                  <a:srgbClr val="800000"/>
                </a:solidFill>
                <a:latin typeface="Calibri"/>
                <a:ea typeface="Calibri"/>
                <a:cs typeface="Calibri"/>
                <a:sym typeface="Calibri"/>
              </a:rPr>
              <a:t>M</a:t>
            </a:r>
            <a:r>
              <a:rPr lang="en-GB" sz="2200" b="1" dirty="0">
                <a:solidFill>
                  <a:srgbClr val="800000"/>
                </a:solidFill>
                <a:latin typeface="Calibri"/>
                <a:ea typeface="Calibri"/>
                <a:cs typeface="Calibri"/>
                <a:sym typeface="Calibri"/>
              </a:rPr>
              <a:t>ethod - Two‑Stage Prediction + Stress Score</a:t>
            </a:r>
            <a:endParaRPr sz="2200" b="1" dirty="0">
              <a:solidFill>
                <a:srgbClr val="800000"/>
              </a:solidFill>
              <a:latin typeface="Calibri"/>
              <a:ea typeface="Calibri"/>
              <a:cs typeface="Calibri"/>
              <a:sym typeface="Calibri"/>
            </a:endParaRPr>
          </a:p>
        </p:txBody>
      </p:sp>
      <p:sp>
        <p:nvSpPr>
          <p:cNvPr id="182" name="Google Shape;182;p29"/>
          <p:cNvSpPr txBox="1"/>
          <p:nvPr/>
        </p:nvSpPr>
        <p:spPr>
          <a:xfrm>
            <a:off x="2177171" y="960828"/>
            <a:ext cx="4362367" cy="375447"/>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chemeClr val="dk1"/>
              </a:buClr>
              <a:buSzPts val="1100"/>
              <a:buFont typeface="Arial" panose="020B0604020202090204"/>
              <a:buNone/>
            </a:pPr>
            <a:r>
              <a:rPr lang="en-GB" sz="100" dirty="0">
                <a:solidFill>
                  <a:srgbClr val="3B3B3B"/>
                </a:solidFill>
                <a:highlight>
                  <a:srgbClr val="F8F8F8"/>
                </a:highlight>
                <a:latin typeface="Times New Roman" panose="02020503050405090304"/>
                <a:ea typeface="Times New Roman" panose="02020503050405090304"/>
                <a:cs typeface="Times New Roman" panose="02020503050405090304"/>
                <a:sym typeface="Times New Roman" panose="02020503050405090304"/>
              </a:rPr>
              <a:t>​</a:t>
            </a:r>
            <a:endParaRPr sz="100" dirty="0">
              <a:solidFill>
                <a:srgbClr val="3B3B3B"/>
              </a:solidFill>
              <a:highlight>
                <a:srgbClr val="F8F8F8"/>
              </a:highlight>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lnSpc>
                <a:spcPct val="115000"/>
              </a:lnSpc>
              <a:spcBef>
                <a:spcPts val="0"/>
              </a:spcBef>
              <a:spcAft>
                <a:spcPts val="0"/>
              </a:spcAft>
              <a:buClr>
                <a:schemeClr val="dk1"/>
              </a:buClr>
              <a:buSzPts val="1100"/>
              <a:buFont typeface="Arial" panose="020B0604020202090204"/>
              <a:buNone/>
            </a:pPr>
            <a:endParaRPr lang="zh-CN" altLang="en-US" sz="100" dirty="0">
              <a:solidFill>
                <a:srgbClr val="3B3B3B"/>
              </a:solidFill>
              <a:highlight>
                <a:srgbClr val="F8F8F8"/>
              </a:highlight>
              <a:latin typeface="Times New Roman" panose="02020503050405090304"/>
              <a:ea typeface="Times New Roman" panose="02020503050405090304"/>
              <a:cs typeface="Times New Roman" panose="02020503050405090304"/>
              <a:sym typeface="Times New Roman" panose="02020503050405090304"/>
            </a:endParaRPr>
          </a:p>
          <a:p>
            <a:pPr lvl="0">
              <a:lnSpc>
                <a:spcPct val="115000"/>
              </a:lnSpc>
              <a:buSzPts val="1100"/>
            </a:pPr>
            <a:r>
              <a:rPr lang="en-US" altLang="zh-CN" dirty="0">
                <a:latin typeface="Times New Roman" panose="02020503050405090304" pitchFamily="18" charset="0"/>
                <a:cs typeface="Times New Roman" panose="02020503050405090304" pitchFamily="18" charset="0"/>
              </a:rPr>
              <a:t>Do Sentiment Variables Enhance Bank Stress Prediction?</a:t>
            </a:r>
            <a:endParaRPr lang="en-US" dirty="0">
              <a:latin typeface="Times New Roman" panose="02020503050405090304" pitchFamily="18" charset="0"/>
              <a:cs typeface="Times New Roman" panose="02020503050405090304" pitchFamily="18" charset="0"/>
            </a:endParaRPr>
          </a:p>
        </p:txBody>
      </p:sp>
      <p:sp>
        <p:nvSpPr>
          <p:cNvPr id="183" name="Google Shape;183;p29"/>
          <p:cNvSpPr/>
          <p:nvPr/>
        </p:nvSpPr>
        <p:spPr>
          <a:xfrm>
            <a:off x="0" y="4887468"/>
            <a:ext cx="9144000" cy="256032"/>
          </a:xfrm>
          <a:prstGeom prst="rect">
            <a:avLst/>
          </a:prstGeom>
          <a:solidFill>
            <a:srgbClr val="80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5" name="Google Shape;185;p29"/>
          <p:cNvSpPr txBox="1"/>
          <p:nvPr/>
        </p:nvSpPr>
        <p:spPr>
          <a:xfrm>
            <a:off x="6583680" y="4887468"/>
            <a:ext cx="2377440" cy="23079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900" dirty="0">
                <a:solidFill>
                  <a:srgbClr val="FFFFFF"/>
                </a:solidFill>
                <a:latin typeface="Calibri"/>
                <a:ea typeface="Calibri"/>
                <a:cs typeface="Calibri"/>
                <a:sym typeface="Calibri"/>
              </a:rPr>
              <a:t>5</a:t>
            </a:r>
            <a:r>
              <a:rPr lang="en-GB" sz="900" b="0" i="0" u="none" strike="noStrike" cap="none" dirty="0">
                <a:solidFill>
                  <a:srgbClr val="FFFFFF"/>
                </a:solidFill>
                <a:latin typeface="Calibri"/>
                <a:ea typeface="Calibri"/>
                <a:cs typeface="Calibri"/>
                <a:sym typeface="Calibri"/>
              </a:rPr>
              <a:t> / </a:t>
            </a:r>
            <a:r>
              <a:rPr lang="en-GB" sz="900" dirty="0">
                <a:solidFill>
                  <a:srgbClr val="FFFFFF"/>
                </a:solidFill>
                <a:latin typeface="Calibri"/>
                <a:ea typeface="Calibri"/>
                <a:cs typeface="Calibri"/>
                <a:sym typeface="Calibri"/>
              </a:rPr>
              <a:t>8</a:t>
            </a:r>
            <a:endParaRPr dirty="0"/>
          </a:p>
        </p:txBody>
      </p:sp>
      <p:pic>
        <p:nvPicPr>
          <p:cNvPr id="186" name="Google Shape;186;p29" title="uchicago.png"/>
          <p:cNvPicPr preferRelativeResize="0"/>
          <p:nvPr/>
        </p:nvPicPr>
        <p:blipFill>
          <a:blip r:embed="rId2"/>
          <a:stretch>
            <a:fillRect/>
          </a:stretch>
        </p:blipFill>
        <p:spPr>
          <a:xfrm>
            <a:off x="8350949" y="502925"/>
            <a:ext cx="793051" cy="957076"/>
          </a:xfrm>
          <a:prstGeom prst="rect">
            <a:avLst/>
          </a:prstGeom>
          <a:noFill/>
          <a:ln>
            <a:noFill/>
          </a:ln>
        </p:spPr>
      </p:pic>
      <p:sp>
        <p:nvSpPr>
          <p:cNvPr id="2" name="Google Shape;182;p29"/>
          <p:cNvSpPr txBox="1"/>
          <p:nvPr/>
        </p:nvSpPr>
        <p:spPr>
          <a:xfrm>
            <a:off x="365760" y="1584300"/>
            <a:ext cx="3392944" cy="286961"/>
          </a:xfrm>
          <a:prstGeom prst="rect">
            <a:avLst/>
          </a:prstGeom>
          <a:solidFill>
            <a:srgbClr val="FFC000"/>
          </a:solid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chemeClr val="dk1"/>
              </a:buClr>
              <a:buSzPts val="1100"/>
              <a:buFont typeface="Arial" panose="020B0604020202090204"/>
              <a:buNone/>
            </a:pPr>
            <a:r>
              <a:rPr lang="en-GB" sz="1100" dirty="0">
                <a:solidFill>
                  <a:schemeClr val="tx1"/>
                </a:solidFill>
                <a:highlight>
                  <a:srgbClr val="F8F8F8"/>
                </a:highlight>
                <a:latin typeface="Times New Roman" panose="02020503050405090304" pitchFamily="18" charset="0"/>
                <a:ea typeface="Times New Roman" panose="02020503050405090304"/>
                <a:cs typeface="Times New Roman" panose="02020503050405090304" pitchFamily="18" charset="0"/>
                <a:sym typeface="Times New Roman" panose="02020503050405090304"/>
              </a:rPr>
              <a:t>​</a:t>
            </a:r>
            <a:r>
              <a:rPr lang="en-US" altLang="zh-CN" sz="1100" dirty="0">
                <a:solidFill>
                  <a:schemeClr val="tx1"/>
                </a:solidFill>
                <a:latin typeface="Times New Roman" panose="02020503050405090304" pitchFamily="18" charset="0"/>
                <a:cs typeface="Times New Roman" panose="02020503050405090304" pitchFamily="18" charset="0"/>
              </a:rPr>
              <a:t>Model 1: Bank Stress ~ FDIC fundamentals</a:t>
            </a:r>
            <a:endParaRPr lang="en-US" sz="1100" dirty="0">
              <a:solidFill>
                <a:schemeClr val="tx1"/>
              </a:solidFill>
              <a:latin typeface="Times New Roman" panose="02020503050405090304" pitchFamily="18" charset="0"/>
              <a:cs typeface="Times New Roman" panose="02020503050405090304" pitchFamily="18" charset="0"/>
            </a:endParaRPr>
          </a:p>
        </p:txBody>
      </p:sp>
      <p:sp>
        <p:nvSpPr>
          <p:cNvPr id="3" name="Google Shape;182;p29"/>
          <p:cNvSpPr txBox="1"/>
          <p:nvPr/>
        </p:nvSpPr>
        <p:spPr>
          <a:xfrm>
            <a:off x="4456975" y="1604982"/>
            <a:ext cx="3819674" cy="286961"/>
          </a:xfrm>
          <a:prstGeom prst="rect">
            <a:avLst/>
          </a:prstGeom>
          <a:solidFill>
            <a:srgbClr val="FFC000"/>
          </a:solidFill>
          <a:ln>
            <a:noFill/>
          </a:ln>
        </p:spPr>
        <p:txBody>
          <a:bodyPr spcFirstLastPara="1" wrap="square" lIns="91425" tIns="45700" rIns="91425" bIns="45700" anchor="t" anchorCtr="0">
            <a:spAutoFit/>
          </a:bodyPr>
          <a:lstStyle/>
          <a:p>
            <a:pPr lvl="0">
              <a:lnSpc>
                <a:spcPct val="115000"/>
              </a:lnSpc>
              <a:buClr>
                <a:schemeClr val="dk1"/>
              </a:buClr>
              <a:buSzPts val="1100"/>
            </a:pPr>
            <a:r>
              <a:rPr lang="en-GB" sz="1100" dirty="0">
                <a:solidFill>
                  <a:srgbClr val="3B3B3B"/>
                </a:solidFill>
                <a:highlight>
                  <a:srgbClr val="F8F8F8"/>
                </a:highlight>
                <a:latin typeface="Times New Roman" panose="02020503050405090304"/>
                <a:ea typeface="Times New Roman" panose="02020503050405090304"/>
                <a:cs typeface="Times New Roman" panose="02020503050405090304"/>
                <a:sym typeface="Times New Roman" panose="02020503050405090304"/>
              </a:rPr>
              <a:t>​Model 2: </a:t>
            </a:r>
            <a:r>
              <a:rPr lang="en-US" altLang="zh-CN" sz="1100" dirty="0">
                <a:latin typeface="Times New Roman" panose="02020503050405090304" pitchFamily="18" charset="0"/>
                <a:cs typeface="Times New Roman" panose="02020503050405090304" pitchFamily="18" charset="0"/>
              </a:rPr>
              <a:t>Bank Stress ~ FDIC fundamentals + News Sentiment</a:t>
            </a:r>
            <a:endParaRPr lang="en-US" sz="1100" dirty="0">
              <a:latin typeface="Times New Roman" panose="02020503050405090304" pitchFamily="18" charset="0"/>
              <a:cs typeface="Times New Roman" panose="02020503050405090304" pitchFamily="18" charset="0"/>
            </a:endParaRPr>
          </a:p>
        </p:txBody>
      </p:sp>
      <p:sp>
        <p:nvSpPr>
          <p:cNvPr id="4" name="矩形 3"/>
          <p:cNvSpPr/>
          <p:nvPr/>
        </p:nvSpPr>
        <p:spPr>
          <a:xfrm>
            <a:off x="7041709" y="1584299"/>
            <a:ext cx="1076380" cy="28696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箭头: 右 4"/>
          <p:cNvSpPr/>
          <p:nvPr/>
        </p:nvSpPr>
        <p:spPr>
          <a:xfrm rot="7613952" flipV="1">
            <a:off x="3112120" y="1290676"/>
            <a:ext cx="409906" cy="245627"/>
          </a:xfrm>
          <a:prstGeom prst="rightArrow">
            <a:avLst>
              <a:gd name="adj1" fmla="val 50000"/>
              <a:gd name="adj2" fmla="val 64499"/>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箭头: 右 5"/>
          <p:cNvSpPr/>
          <p:nvPr/>
        </p:nvSpPr>
        <p:spPr>
          <a:xfrm rot="2593655" flipV="1">
            <a:off x="5116011" y="1291041"/>
            <a:ext cx="433685" cy="245627"/>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 name="表格 6"/>
          <p:cNvGraphicFramePr>
            <a:graphicFrameLocks noGrp="1"/>
          </p:cNvGraphicFramePr>
          <p:nvPr/>
        </p:nvGraphicFramePr>
        <p:xfrm>
          <a:off x="365760" y="1921666"/>
          <a:ext cx="8229600" cy="914400"/>
        </p:xfrm>
        <a:graphic>
          <a:graphicData uri="http://schemas.openxmlformats.org/drawingml/2006/table">
            <a:tbl>
              <a:tblPr>
                <a:tableStyleId>{2D5ABB26-0587-4C30-8999-92F81FD0307C}</a:tableStyleId>
              </a:tblPr>
              <a:tblGrid>
                <a:gridCol w="2743200"/>
                <a:gridCol w="2743200"/>
                <a:gridCol w="2743200"/>
              </a:tblGrid>
              <a:tr h="0">
                <a:tc>
                  <a:txBody>
                    <a:bodyPr/>
                    <a:lstStyle/>
                    <a:p>
                      <a:pPr>
                        <a:buNone/>
                      </a:pPr>
                      <a:r>
                        <a:rPr lang="en-US" dirty="0"/>
                        <a:t>Model</a:t>
                      </a:r>
                      <a:endParaRPr 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buNone/>
                      </a:pPr>
                      <a:r>
                        <a:rPr lang="en-US" dirty="0"/>
                        <a:t>AUC (Bad Year Prediction)</a:t>
                      </a:r>
                      <a:endParaRPr 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buNone/>
                      </a:pPr>
                      <a:r>
                        <a:rPr lang="en-US"/>
                        <a:t>R² (Severity Prediction)</a:t>
                      </a:r>
                      <a:endParaRPr lang="en-US"/>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r>
              <a:tr h="0">
                <a:tc>
                  <a:txBody>
                    <a:bodyPr/>
                    <a:lstStyle/>
                    <a:p>
                      <a:pPr>
                        <a:buNone/>
                      </a:pPr>
                      <a:r>
                        <a:rPr lang="en-US" dirty="0"/>
                        <a:t>FDIC Fundamentals Only</a:t>
                      </a:r>
                      <a:endParaRPr 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buNone/>
                      </a:pPr>
                      <a:r>
                        <a:rPr lang="en-US" altLang="zh-CN"/>
                        <a:t>0.636</a:t>
                      </a:r>
                      <a:endParaRPr lang="en-US" altLang="zh-CN"/>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buNone/>
                      </a:pPr>
                      <a:r>
                        <a:rPr lang="en-US" altLang="zh-CN"/>
                        <a:t>-0.164</a:t>
                      </a:r>
                      <a:endParaRPr lang="en-US" altLang="zh-CN"/>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r>
              <a:tr h="0">
                <a:tc>
                  <a:txBody>
                    <a:bodyPr/>
                    <a:lstStyle/>
                    <a:p>
                      <a:pPr>
                        <a:buNone/>
                      </a:pPr>
                      <a:r>
                        <a:rPr lang="en-US" dirty="0"/>
                        <a:t>FDIC + News Sentiment</a:t>
                      </a:r>
                      <a:endParaRPr 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CN" b="1" dirty="0"/>
                        <a:t>0.646</a:t>
                      </a:r>
                      <a:endParaRPr lang="zh-CN"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tLang="zh-CN" b="1" dirty="0"/>
                        <a:t>-0.126</a:t>
                      </a:r>
                      <a:endParaRPr lang="zh-CN"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9" name="文本框 8"/>
          <p:cNvSpPr txBox="1"/>
          <p:nvPr/>
        </p:nvSpPr>
        <p:spPr>
          <a:xfrm>
            <a:off x="5227329" y="2842368"/>
            <a:ext cx="3218985" cy="1169551"/>
          </a:xfrm>
          <a:prstGeom prst="rect">
            <a:avLst/>
          </a:prstGeom>
          <a:noFill/>
        </p:spPr>
        <p:txBody>
          <a:bodyPr wrap="square" rtlCol="0">
            <a:spAutoFit/>
          </a:bodyPr>
          <a:lstStyle/>
          <a:p>
            <a:r>
              <a:rPr lang="en-US" altLang="zh-CN" dirty="0">
                <a:latin typeface="Times New Roman" panose="02020503050405090304" pitchFamily="18" charset="0"/>
                <a:cs typeface="Times New Roman" panose="02020503050405090304" pitchFamily="18" charset="0"/>
              </a:rPr>
              <a:t>Higher AUC = better classification</a:t>
            </a:r>
            <a:endParaRPr lang="en-US" altLang="zh-CN" dirty="0">
              <a:latin typeface="Times New Roman" panose="02020503050405090304" pitchFamily="18" charset="0"/>
              <a:cs typeface="Times New Roman" panose="02020503050405090304" pitchFamily="18" charset="0"/>
            </a:endParaRPr>
          </a:p>
          <a:p>
            <a:endParaRPr lang="en-US" altLang="zh-CN" dirty="0">
              <a:latin typeface="Times New Roman" panose="02020503050405090304" pitchFamily="18" charset="0"/>
              <a:cs typeface="Times New Roman" panose="02020503050405090304" pitchFamily="18" charset="0"/>
            </a:endParaRPr>
          </a:p>
          <a:p>
            <a:endParaRPr lang="en-US" altLang="zh-CN" dirty="0">
              <a:latin typeface="Times New Roman" panose="02020503050405090304" pitchFamily="18" charset="0"/>
              <a:cs typeface="Times New Roman" panose="02020503050405090304" pitchFamily="18" charset="0"/>
            </a:endParaRPr>
          </a:p>
          <a:p>
            <a:endParaRPr lang="en-US" altLang="zh-CN" dirty="0">
              <a:latin typeface="Times New Roman" panose="02020503050405090304" pitchFamily="18" charset="0"/>
              <a:cs typeface="Times New Roman" panose="02020503050405090304" pitchFamily="18" charset="0"/>
            </a:endParaRPr>
          </a:p>
          <a:p>
            <a:r>
              <a:rPr lang="en-US" altLang="zh-CN" dirty="0">
                <a:latin typeface="Times New Roman" panose="02020503050405090304" pitchFamily="18" charset="0"/>
                <a:cs typeface="Times New Roman" panose="02020503050405090304" pitchFamily="18" charset="0"/>
              </a:rPr>
              <a:t>Higher R² = better regression fit</a:t>
            </a:r>
            <a:endParaRPr lang="zh-CN" altLang="en-US" dirty="0">
              <a:latin typeface="Times New Roman" panose="02020503050405090304" pitchFamily="18" charset="0"/>
              <a:cs typeface="Times New Roman" panose="02020503050405090304" pitchFamily="18" charset="0"/>
            </a:endParaRPr>
          </a:p>
        </p:txBody>
      </p:sp>
      <p:sp>
        <p:nvSpPr>
          <p:cNvPr id="10" name="文本框 9"/>
          <p:cNvSpPr txBox="1"/>
          <p:nvPr/>
        </p:nvSpPr>
        <p:spPr>
          <a:xfrm>
            <a:off x="259910" y="2842368"/>
            <a:ext cx="4778789" cy="1169551"/>
          </a:xfrm>
          <a:prstGeom prst="rect">
            <a:avLst/>
          </a:prstGeom>
          <a:noFill/>
        </p:spPr>
        <p:txBody>
          <a:bodyPr wrap="square" rtlCol="0">
            <a:spAutoFit/>
          </a:bodyPr>
          <a:lstStyle/>
          <a:p>
            <a:r>
              <a:rPr lang="en-US" altLang="zh-CN" b="1" dirty="0">
                <a:latin typeface="Times New Roman" panose="02020503050405090304" pitchFamily="18" charset="0"/>
                <a:cs typeface="Times New Roman" panose="02020503050405090304" pitchFamily="18" charset="0"/>
              </a:rPr>
              <a:t>AUC</a:t>
            </a:r>
            <a:r>
              <a:rPr lang="en-US" altLang="zh-CN" dirty="0">
                <a:latin typeface="Times New Roman" panose="02020503050405090304" pitchFamily="18" charset="0"/>
                <a:cs typeface="Times New Roman" panose="02020503050405090304" pitchFamily="18" charset="0"/>
              </a:rPr>
              <a:t> → The model's ability to distinguish between "stressed" and "normal" states.</a:t>
            </a:r>
            <a:endParaRPr lang="en-US" altLang="zh-CN" dirty="0">
              <a:latin typeface="Times New Roman" panose="02020503050405090304" pitchFamily="18" charset="0"/>
              <a:cs typeface="Times New Roman" panose="02020503050405090304" pitchFamily="18" charset="0"/>
            </a:endParaRPr>
          </a:p>
          <a:p>
            <a:endParaRPr lang="en-US" altLang="zh-CN" b="1" dirty="0">
              <a:latin typeface="Times New Roman" panose="02020503050405090304" pitchFamily="18" charset="0"/>
              <a:cs typeface="Times New Roman" panose="02020503050405090304" pitchFamily="18" charset="0"/>
            </a:endParaRPr>
          </a:p>
          <a:p>
            <a:r>
              <a:rPr lang="en-US" altLang="zh-CN" b="1" dirty="0">
                <a:latin typeface="Times New Roman" panose="02020503050405090304" pitchFamily="18" charset="0"/>
                <a:cs typeface="Times New Roman" panose="02020503050405090304" pitchFamily="18" charset="0"/>
              </a:rPr>
              <a:t>R² </a:t>
            </a:r>
            <a:r>
              <a:rPr lang="en-US" altLang="zh-CN" dirty="0">
                <a:latin typeface="Times New Roman" panose="02020503050405090304" pitchFamily="18" charset="0"/>
                <a:cs typeface="Times New Roman" panose="02020503050405090304" pitchFamily="18" charset="0"/>
              </a:rPr>
              <a:t>→ The model's ability to explain the extent of bank profitability deterioration.</a:t>
            </a:r>
            <a:endParaRPr lang="zh-CN" altLang="en-US" dirty="0">
              <a:latin typeface="Times New Roman" panose="02020503050405090304" pitchFamily="18" charset="0"/>
              <a:cs typeface="Times New Roman" panose="02020503050405090304" pitchFamily="18" charset="0"/>
            </a:endParaRPr>
          </a:p>
        </p:txBody>
      </p:sp>
      <p:sp>
        <p:nvSpPr>
          <p:cNvPr id="14" name="文本框 13"/>
          <p:cNvSpPr txBox="1"/>
          <p:nvPr/>
        </p:nvSpPr>
        <p:spPr>
          <a:xfrm>
            <a:off x="983109" y="4175774"/>
            <a:ext cx="6750490" cy="523220"/>
          </a:xfrm>
          <a:prstGeom prst="rect">
            <a:avLst/>
          </a:prstGeom>
          <a:solidFill>
            <a:schemeClr val="bg2">
              <a:lumMod val="40000"/>
              <a:lumOff val="60000"/>
            </a:schemeClr>
          </a:solidFill>
        </p:spPr>
        <p:txBody>
          <a:bodyPr wrap="square" rtlCol="0">
            <a:spAutoFit/>
          </a:bodyPr>
          <a:lstStyle/>
          <a:p>
            <a:r>
              <a:rPr lang="en-US" altLang="zh-CN" dirty="0"/>
              <a:t>Adding regulatory-news sentiment slightly improves prediction performance, suggesting that news tone contains additional information about banking stress.</a:t>
            </a:r>
            <a:endParaRPr lang="zh-CN" altLang="en-US" dirty="0"/>
          </a:p>
        </p:txBody>
      </p:sp>
      <p:sp>
        <p:nvSpPr>
          <p:cNvPr id="15" name="Google Shape;136;p25"/>
          <p:cNvSpPr txBox="1"/>
          <p:nvPr/>
        </p:nvSpPr>
        <p:spPr>
          <a:xfrm>
            <a:off x="182880" y="4887468"/>
            <a:ext cx="6400800" cy="230792"/>
          </a:xfrm>
          <a:prstGeom prst="rect">
            <a:avLst/>
          </a:prstGeom>
          <a:noFill/>
          <a:ln>
            <a:noFill/>
          </a:ln>
        </p:spPr>
        <p:txBody>
          <a:bodyPr spcFirstLastPara="1" wrap="square" lIns="91425" tIns="45700" rIns="91425" bIns="45700" anchor="t" anchorCtr="0">
            <a:spAutoFit/>
          </a:bodyPr>
          <a:lstStyle/>
          <a:p>
            <a:pPr lvl="0"/>
            <a:r>
              <a:rPr lang="en-US" sz="900" dirty="0">
                <a:solidFill>
                  <a:srgbClr val="FFFFFF"/>
                </a:solidFill>
                <a:latin typeface="Calibri"/>
                <a:ea typeface="Calibri"/>
                <a:cs typeface="Calibri"/>
                <a:sym typeface="Calibri"/>
              </a:rPr>
              <a:t>Data Analytics and Visualization for Public Policy</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0"/>
          <p:cNvSpPr/>
          <p:nvPr/>
        </p:nvSpPr>
        <p:spPr>
          <a:xfrm>
            <a:off x="0" y="0"/>
            <a:ext cx="9144000" cy="502920"/>
          </a:xfrm>
          <a:prstGeom prst="rect">
            <a:avLst/>
          </a:prstGeom>
          <a:solidFill>
            <a:srgbClr val="80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92" name="Google Shape;192;p30" descr="1772584450591_image.png"/>
          <p:cNvPicPr preferRelativeResize="0"/>
          <p:nvPr/>
        </p:nvPicPr>
        <p:blipFill rotWithShape="1">
          <a:blip r:embed="rId1"/>
          <a:srcRect/>
          <a:stretch>
            <a:fillRect/>
          </a:stretch>
        </p:blipFill>
        <p:spPr>
          <a:xfrm>
            <a:off x="0" y="0"/>
            <a:ext cx="9144000" cy="502920"/>
          </a:xfrm>
          <a:prstGeom prst="rect">
            <a:avLst/>
          </a:prstGeom>
          <a:noFill/>
          <a:ln>
            <a:noFill/>
          </a:ln>
        </p:spPr>
      </p:pic>
      <p:sp>
        <p:nvSpPr>
          <p:cNvPr id="193" name="Google Shape;193;p30"/>
          <p:cNvSpPr txBox="1"/>
          <p:nvPr/>
        </p:nvSpPr>
        <p:spPr>
          <a:xfrm>
            <a:off x="0" y="474538"/>
            <a:ext cx="8845147" cy="400069"/>
          </a:xfrm>
          <a:prstGeom prst="rect">
            <a:avLst/>
          </a:prstGeom>
          <a:noFill/>
          <a:ln>
            <a:noFill/>
          </a:ln>
        </p:spPr>
        <p:txBody>
          <a:bodyPr spcFirstLastPara="1" wrap="square" lIns="91425" tIns="45700" rIns="91425" bIns="45700" anchor="t" anchorCtr="0">
            <a:spAutoFit/>
          </a:bodyPr>
          <a:lstStyle/>
          <a:p>
            <a:pPr lvl="0"/>
            <a:r>
              <a:rPr lang="en-US" altLang="zh-CN" sz="2000" b="1" dirty="0">
                <a:solidFill>
                  <a:srgbClr val="800000"/>
                </a:solidFill>
                <a:latin typeface="Calibri"/>
                <a:ea typeface="Calibri"/>
                <a:cs typeface="Calibri"/>
                <a:sym typeface="Calibri"/>
              </a:rPr>
              <a:t>Result 1: </a:t>
            </a:r>
            <a:r>
              <a:rPr lang="en-US" sz="1900" b="1" i="0" u="none" strike="noStrike" cap="none" dirty="0">
                <a:solidFill>
                  <a:srgbClr val="800000"/>
                </a:solidFill>
                <a:latin typeface="Calibri"/>
                <a:ea typeface="Calibri"/>
                <a:cs typeface="Calibri"/>
                <a:sym typeface="Calibri"/>
              </a:rPr>
              <a:t>Is regulatory news sentiment correlated with changes in bank profitability</a:t>
            </a:r>
            <a:r>
              <a:rPr lang="zh-CN" altLang="en-US" sz="1900" b="1" i="0" u="none" strike="noStrike" cap="none" dirty="0">
                <a:solidFill>
                  <a:srgbClr val="800000"/>
                </a:solidFill>
                <a:latin typeface="Calibri"/>
                <a:ea typeface="Calibri"/>
                <a:cs typeface="Calibri"/>
                <a:sym typeface="Calibri"/>
              </a:rPr>
              <a:t>？</a:t>
            </a:r>
            <a:endParaRPr sz="1900" dirty="0"/>
          </a:p>
        </p:txBody>
      </p:sp>
      <p:sp>
        <p:nvSpPr>
          <p:cNvPr id="195" name="Google Shape;195;p30"/>
          <p:cNvSpPr/>
          <p:nvPr/>
        </p:nvSpPr>
        <p:spPr>
          <a:xfrm>
            <a:off x="0" y="4887468"/>
            <a:ext cx="9144000" cy="256032"/>
          </a:xfrm>
          <a:prstGeom prst="rect">
            <a:avLst/>
          </a:prstGeom>
          <a:solidFill>
            <a:srgbClr val="80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7" name="Google Shape;197;p30"/>
          <p:cNvSpPr txBox="1"/>
          <p:nvPr/>
        </p:nvSpPr>
        <p:spPr>
          <a:xfrm>
            <a:off x="6583680" y="4887468"/>
            <a:ext cx="2377440" cy="23079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900" dirty="0">
                <a:solidFill>
                  <a:srgbClr val="FFFFFF"/>
                </a:solidFill>
                <a:latin typeface="Calibri"/>
                <a:ea typeface="Calibri"/>
                <a:cs typeface="Calibri"/>
                <a:sym typeface="Calibri"/>
              </a:rPr>
              <a:t>6</a:t>
            </a:r>
            <a:r>
              <a:rPr lang="en-GB" sz="900" b="0" i="0" u="none" strike="noStrike" cap="none" dirty="0">
                <a:solidFill>
                  <a:srgbClr val="FFFFFF"/>
                </a:solidFill>
                <a:latin typeface="Calibri"/>
                <a:ea typeface="Calibri"/>
                <a:cs typeface="Calibri"/>
                <a:sym typeface="Calibri"/>
              </a:rPr>
              <a:t> / </a:t>
            </a:r>
            <a:r>
              <a:rPr lang="en-GB" sz="900" dirty="0">
                <a:solidFill>
                  <a:srgbClr val="FFFFFF"/>
                </a:solidFill>
                <a:latin typeface="Calibri"/>
                <a:ea typeface="Calibri"/>
                <a:cs typeface="Calibri"/>
                <a:sym typeface="Calibri"/>
              </a:rPr>
              <a:t>8</a:t>
            </a:r>
            <a:endParaRPr dirty="0"/>
          </a:p>
        </p:txBody>
      </p:sp>
      <p:pic>
        <p:nvPicPr>
          <p:cNvPr id="198" name="Google Shape;198;p30" title="uchicago.png"/>
          <p:cNvPicPr preferRelativeResize="0"/>
          <p:nvPr/>
        </p:nvPicPr>
        <p:blipFill>
          <a:blip r:embed="rId2"/>
          <a:stretch>
            <a:fillRect/>
          </a:stretch>
        </p:blipFill>
        <p:spPr>
          <a:xfrm>
            <a:off x="8448621" y="721426"/>
            <a:ext cx="793051" cy="957076"/>
          </a:xfrm>
          <a:prstGeom prst="rect">
            <a:avLst/>
          </a:prstGeom>
          <a:noFill/>
          <a:ln>
            <a:noFill/>
          </a:ln>
        </p:spPr>
      </p:pic>
      <p:sp>
        <p:nvSpPr>
          <p:cNvPr id="2" name="文本框 1"/>
          <p:cNvSpPr txBox="1"/>
          <p:nvPr/>
        </p:nvSpPr>
        <p:spPr>
          <a:xfrm>
            <a:off x="0" y="1050077"/>
            <a:ext cx="2951356" cy="2123658"/>
          </a:xfrm>
          <a:prstGeom prst="rect">
            <a:avLst/>
          </a:prstGeom>
          <a:noFill/>
        </p:spPr>
        <p:txBody>
          <a:bodyPr wrap="square" rtlCol="0">
            <a:spAutoFit/>
          </a:bodyPr>
          <a:lstStyle/>
          <a:p>
            <a:pPr algn="ctr"/>
            <a:r>
              <a:rPr lang="en-US" altLang="zh-CN" sz="1100" dirty="0">
                <a:latin typeface="Times New Roman" panose="02020503050405090304" pitchFamily="18" charset="0"/>
                <a:cs typeface="Times New Roman" panose="02020503050405090304" pitchFamily="18" charset="0"/>
              </a:rPr>
              <a:t>More negative regulatory news sentiment</a:t>
            </a:r>
            <a:endParaRPr lang="en-US" altLang="zh-CN" sz="1100" dirty="0">
              <a:latin typeface="Times New Roman" panose="02020503050405090304" pitchFamily="18" charset="0"/>
              <a:cs typeface="Times New Roman" panose="02020503050405090304" pitchFamily="18" charset="0"/>
            </a:endParaRPr>
          </a:p>
          <a:p>
            <a:pPr algn="ctr"/>
            <a:r>
              <a:rPr lang="en-US" altLang="zh-CN" sz="1100" dirty="0">
                <a:latin typeface="Times New Roman" panose="02020503050405090304" pitchFamily="18" charset="0"/>
                <a:cs typeface="Times New Roman" panose="02020503050405090304" pitchFamily="18" charset="0"/>
              </a:rPr>
              <a:t>↓</a:t>
            </a:r>
            <a:endParaRPr lang="en-US" altLang="zh-CN" sz="1100" dirty="0">
              <a:latin typeface="Times New Roman" panose="02020503050405090304" pitchFamily="18" charset="0"/>
              <a:cs typeface="Times New Roman" panose="02020503050405090304" pitchFamily="18" charset="0"/>
            </a:endParaRPr>
          </a:p>
          <a:p>
            <a:pPr algn="ctr"/>
            <a:r>
              <a:rPr lang="en-US" altLang="zh-CN" sz="1100" dirty="0">
                <a:latin typeface="Times New Roman" panose="02020503050405090304" pitchFamily="18" charset="0"/>
                <a:cs typeface="Times New Roman" panose="02020503050405090304" pitchFamily="18" charset="0"/>
              </a:rPr>
              <a:t>Predicts / Is associated with</a:t>
            </a:r>
            <a:endParaRPr lang="en-US" altLang="zh-CN" sz="1100" dirty="0">
              <a:latin typeface="Times New Roman" panose="02020503050405090304" pitchFamily="18" charset="0"/>
              <a:cs typeface="Times New Roman" panose="02020503050405090304" pitchFamily="18" charset="0"/>
            </a:endParaRPr>
          </a:p>
          <a:p>
            <a:pPr algn="ctr"/>
            <a:r>
              <a:rPr lang="en-US" altLang="zh-CN" sz="1100" dirty="0">
                <a:latin typeface="Times New Roman" panose="02020503050405090304" pitchFamily="18" charset="0"/>
                <a:cs typeface="Times New Roman" panose="02020503050405090304" pitchFamily="18" charset="0"/>
              </a:rPr>
              <a:t>↓</a:t>
            </a:r>
            <a:endParaRPr lang="en-US" altLang="zh-CN" sz="1100" dirty="0">
              <a:latin typeface="Times New Roman" panose="02020503050405090304" pitchFamily="18" charset="0"/>
              <a:cs typeface="Times New Roman" panose="02020503050405090304" pitchFamily="18" charset="0"/>
            </a:endParaRPr>
          </a:p>
          <a:p>
            <a:pPr algn="ctr"/>
            <a:r>
              <a:rPr lang="en-US" altLang="zh-CN" sz="1100" dirty="0">
                <a:latin typeface="Times New Roman" panose="02020503050405090304" pitchFamily="18" charset="0"/>
                <a:cs typeface="Times New Roman" panose="02020503050405090304" pitchFamily="18" charset="0"/>
              </a:rPr>
              <a:t>Deterioration in next-period bank profitability (ROA declines)</a:t>
            </a:r>
            <a:endParaRPr lang="en-US" altLang="zh-CN" sz="1100" dirty="0">
              <a:latin typeface="Times New Roman" panose="02020503050405090304" pitchFamily="18" charset="0"/>
              <a:cs typeface="Times New Roman" panose="02020503050405090304" pitchFamily="18" charset="0"/>
            </a:endParaRPr>
          </a:p>
          <a:p>
            <a:pPr algn="ctr"/>
            <a:r>
              <a:rPr lang="en-US" altLang="zh-CN" sz="1100" dirty="0">
                <a:latin typeface="Times New Roman" panose="02020503050405090304" pitchFamily="18" charset="0"/>
                <a:cs typeface="Times New Roman" panose="02020503050405090304" pitchFamily="18" charset="0"/>
              </a:rPr>
              <a:t>↓</a:t>
            </a:r>
            <a:endParaRPr lang="en-US" altLang="zh-CN" sz="1100" dirty="0">
              <a:latin typeface="Times New Roman" panose="02020503050405090304" pitchFamily="18" charset="0"/>
              <a:cs typeface="Times New Roman" panose="02020503050405090304" pitchFamily="18" charset="0"/>
            </a:endParaRPr>
          </a:p>
          <a:p>
            <a:pPr algn="ctr"/>
            <a:r>
              <a:rPr lang="en-US" altLang="zh-CN" sz="1100" b="1" dirty="0">
                <a:latin typeface="Times New Roman" panose="02020503050405090304" pitchFamily="18" charset="0"/>
                <a:cs typeface="Times New Roman" panose="02020503050405090304" pitchFamily="18" charset="0"/>
              </a:rPr>
              <a:t>If this relationship holds</a:t>
            </a:r>
            <a:endParaRPr lang="en-US" altLang="zh-CN" sz="1100" dirty="0">
              <a:latin typeface="Times New Roman" panose="02020503050405090304" pitchFamily="18" charset="0"/>
              <a:cs typeface="Times New Roman" panose="02020503050405090304" pitchFamily="18" charset="0"/>
            </a:endParaRPr>
          </a:p>
          <a:p>
            <a:pPr algn="ctr"/>
            <a:r>
              <a:rPr lang="en-US" altLang="zh-CN" sz="1100" dirty="0">
                <a:latin typeface="Times New Roman" panose="02020503050405090304" pitchFamily="18" charset="0"/>
                <a:cs typeface="Times New Roman" panose="02020503050405090304" pitchFamily="18" charset="0"/>
              </a:rPr>
              <a:t>↓</a:t>
            </a:r>
            <a:br>
              <a:rPr lang="zh-CN" altLang="en-US" sz="1100" dirty="0">
                <a:latin typeface="Times New Roman" panose="02020503050405090304" pitchFamily="18" charset="0"/>
                <a:cs typeface="Times New Roman" panose="02020503050405090304" pitchFamily="18" charset="0"/>
              </a:rPr>
            </a:br>
            <a:r>
              <a:rPr lang="en-US" altLang="zh-CN" sz="1100" b="1" dirty="0">
                <a:latin typeface="Times New Roman" panose="02020503050405090304" pitchFamily="18" charset="0"/>
                <a:cs typeface="Times New Roman" panose="02020503050405090304" pitchFamily="18" charset="0"/>
              </a:rPr>
              <a:t>News sentiment may serve as an early warning signal of banking stress</a:t>
            </a:r>
            <a:endParaRPr lang="en-US" altLang="zh-CN" sz="1100" dirty="0">
              <a:latin typeface="Times New Roman" panose="02020503050405090304" pitchFamily="18" charset="0"/>
              <a:cs typeface="Times New Roman" panose="02020503050405090304" pitchFamily="18" charset="0"/>
            </a:endParaRPr>
          </a:p>
          <a:p>
            <a:endParaRPr lang="zh-CN" altLang="en-US" sz="1100" dirty="0">
              <a:latin typeface="Times New Roman" panose="02020503050405090304" pitchFamily="18" charset="0"/>
              <a:cs typeface="Times New Roman" panose="02020503050405090304" pitchFamily="18" charset="0"/>
            </a:endParaRPr>
          </a:p>
        </p:txBody>
      </p:sp>
      <p:pic>
        <p:nvPicPr>
          <p:cNvPr id="8" name="图片 7"/>
          <p:cNvPicPr>
            <a:picLocks noChangeAspect="1"/>
          </p:cNvPicPr>
          <p:nvPr/>
        </p:nvPicPr>
        <p:blipFill>
          <a:blip r:embed="rId3"/>
          <a:stretch>
            <a:fillRect/>
          </a:stretch>
        </p:blipFill>
        <p:spPr>
          <a:xfrm>
            <a:off x="3224097" y="788020"/>
            <a:ext cx="4548303" cy="3032202"/>
          </a:xfrm>
          <a:prstGeom prst="rect">
            <a:avLst/>
          </a:prstGeom>
        </p:spPr>
      </p:pic>
      <p:sp>
        <p:nvSpPr>
          <p:cNvPr id="9" name="文本框 8"/>
          <p:cNvSpPr txBox="1"/>
          <p:nvPr/>
        </p:nvSpPr>
        <p:spPr>
          <a:xfrm>
            <a:off x="121920" y="3714855"/>
            <a:ext cx="3261360" cy="954107"/>
          </a:xfrm>
          <a:prstGeom prst="rect">
            <a:avLst/>
          </a:prstGeom>
          <a:noFill/>
          <a:ln>
            <a:solidFill>
              <a:schemeClr val="bg2">
                <a:lumMod val="50000"/>
              </a:schemeClr>
            </a:solidFill>
          </a:ln>
        </p:spPr>
        <p:txBody>
          <a:bodyPr wrap="square" rtlCol="0">
            <a:spAutoFit/>
          </a:bodyPr>
          <a:lstStyle/>
          <a:p>
            <a:r>
              <a:rPr lang="en-US" altLang="zh-CN" dirty="0">
                <a:latin typeface="Times New Roman" panose="02020503050405090304" pitchFamily="18" charset="0"/>
                <a:cs typeface="Times New Roman" panose="02020503050405090304" pitchFamily="18" charset="0"/>
              </a:rPr>
              <a:t>As regulatory news turns more </a:t>
            </a:r>
            <a:r>
              <a:rPr lang="en-US" altLang="zh-CN" dirty="0">
                <a:solidFill>
                  <a:srgbClr val="0070C0"/>
                </a:solidFill>
                <a:latin typeface="Times New Roman" panose="02020503050405090304" pitchFamily="18" charset="0"/>
                <a:cs typeface="Times New Roman" panose="02020503050405090304" pitchFamily="18" charset="0"/>
              </a:rPr>
              <a:t>negative</a:t>
            </a:r>
            <a:endParaRPr lang="en-US" altLang="zh-CN" dirty="0">
              <a:solidFill>
                <a:srgbClr val="0070C0"/>
              </a:solidFill>
              <a:latin typeface="Times New Roman" panose="02020503050405090304" pitchFamily="18" charset="0"/>
              <a:cs typeface="Times New Roman" panose="02020503050405090304" pitchFamily="18" charset="0"/>
            </a:endParaRPr>
          </a:p>
          <a:p>
            <a:endParaRPr lang="en-US" altLang="zh-CN" dirty="0">
              <a:latin typeface="Times New Roman" panose="02020503050405090304" pitchFamily="18" charset="0"/>
              <a:cs typeface="Times New Roman" panose="02020503050405090304" pitchFamily="18" charset="0"/>
            </a:endParaRPr>
          </a:p>
          <a:p>
            <a:r>
              <a:rPr lang="en-US" altLang="zh-CN" dirty="0">
                <a:latin typeface="Times New Roman" panose="02020503050405090304" pitchFamily="18" charset="0"/>
                <a:cs typeface="Times New Roman" panose="02020503050405090304" pitchFamily="18" charset="0"/>
              </a:rPr>
              <a:t>Changes in bank profitability in the following period show a </a:t>
            </a:r>
            <a:r>
              <a:rPr lang="en-US" altLang="zh-CN" dirty="0">
                <a:solidFill>
                  <a:srgbClr val="C00000"/>
                </a:solidFill>
                <a:latin typeface="Times New Roman" panose="02020503050405090304" pitchFamily="18" charset="0"/>
                <a:cs typeface="Times New Roman" panose="02020503050405090304" pitchFamily="18" charset="0"/>
              </a:rPr>
              <a:t>declining</a:t>
            </a:r>
            <a:r>
              <a:rPr lang="en-US" altLang="zh-CN" dirty="0">
                <a:latin typeface="Times New Roman" panose="02020503050405090304" pitchFamily="18" charset="0"/>
                <a:cs typeface="Times New Roman" panose="02020503050405090304" pitchFamily="18" charset="0"/>
              </a:rPr>
              <a:t> trend.</a:t>
            </a:r>
            <a:endParaRPr lang="zh-CN" altLang="en-US" dirty="0">
              <a:latin typeface="Times New Roman" panose="02020503050405090304" pitchFamily="18" charset="0"/>
              <a:cs typeface="Times New Roman" panose="02020503050405090304" pitchFamily="18" charset="0"/>
            </a:endParaRPr>
          </a:p>
        </p:txBody>
      </p:sp>
      <p:cxnSp>
        <p:nvCxnSpPr>
          <p:cNvPr id="11" name="直接箭头连接符 10"/>
          <p:cNvCxnSpPr/>
          <p:nvPr/>
        </p:nvCxnSpPr>
        <p:spPr>
          <a:xfrm flipH="1">
            <a:off x="2243328" y="1999488"/>
            <a:ext cx="2133600" cy="1737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3745992" y="3767539"/>
            <a:ext cx="4657344" cy="954107"/>
          </a:xfrm>
          <a:prstGeom prst="rect">
            <a:avLst/>
          </a:prstGeom>
          <a:noFill/>
        </p:spPr>
        <p:txBody>
          <a:bodyPr wrap="square" rtlCol="0">
            <a:spAutoFit/>
          </a:bodyPr>
          <a:lstStyle/>
          <a:p>
            <a:r>
              <a:rPr lang="en-US" altLang="zh-CN" dirty="0">
                <a:latin typeface="Times New Roman" panose="02020503050405090304" pitchFamily="18" charset="0"/>
                <a:cs typeface="Times New Roman" panose="02020503050405090304" pitchFamily="18" charset="0"/>
              </a:rPr>
              <a:t>More negative regulatory news sentiment is associated with a higher likelihood of deterioration in next-period bank profitability. This reflects a </a:t>
            </a:r>
            <a:r>
              <a:rPr lang="en-US" altLang="zh-CN" b="1" dirty="0">
                <a:latin typeface="Times New Roman" panose="02020503050405090304" pitchFamily="18" charset="0"/>
                <a:cs typeface="Times New Roman" panose="02020503050405090304" pitchFamily="18" charset="0"/>
              </a:rPr>
              <a:t>directional relationship</a:t>
            </a:r>
            <a:r>
              <a:rPr lang="en-US" altLang="zh-CN" dirty="0">
                <a:latin typeface="Times New Roman" panose="02020503050405090304" pitchFamily="18" charset="0"/>
                <a:cs typeface="Times New Roman" panose="02020503050405090304" pitchFamily="18" charset="0"/>
              </a:rPr>
              <a:t>, rather than a </a:t>
            </a:r>
            <a:r>
              <a:rPr lang="en-US" altLang="zh-CN" b="1" dirty="0">
                <a:latin typeface="Times New Roman" panose="02020503050405090304" pitchFamily="18" charset="0"/>
                <a:cs typeface="Times New Roman" panose="02020503050405090304" pitchFamily="18" charset="0"/>
              </a:rPr>
              <a:t>strong linear relationship</a:t>
            </a:r>
            <a:r>
              <a:rPr lang="en-US" altLang="zh-CN" dirty="0">
                <a:latin typeface="Times New Roman" panose="02020503050405090304" pitchFamily="18" charset="0"/>
                <a:cs typeface="Times New Roman" panose="02020503050405090304" pitchFamily="18" charset="0"/>
              </a:rPr>
              <a:t>.</a:t>
            </a:r>
            <a:endParaRPr lang="zh-CN" altLang="en-US" dirty="0">
              <a:latin typeface="Times New Roman" panose="02020503050405090304" pitchFamily="18" charset="0"/>
              <a:cs typeface="Times New Roman" panose="02020503050405090304" pitchFamily="18" charset="0"/>
            </a:endParaRPr>
          </a:p>
        </p:txBody>
      </p:sp>
      <p:sp>
        <p:nvSpPr>
          <p:cNvPr id="13" name="Google Shape;136;p25"/>
          <p:cNvSpPr txBox="1"/>
          <p:nvPr/>
        </p:nvSpPr>
        <p:spPr>
          <a:xfrm>
            <a:off x="182880" y="4887468"/>
            <a:ext cx="6400800" cy="230792"/>
          </a:xfrm>
          <a:prstGeom prst="rect">
            <a:avLst/>
          </a:prstGeom>
          <a:noFill/>
          <a:ln>
            <a:noFill/>
          </a:ln>
        </p:spPr>
        <p:txBody>
          <a:bodyPr spcFirstLastPara="1" wrap="square" lIns="91425" tIns="45700" rIns="91425" bIns="45700" anchor="t" anchorCtr="0">
            <a:spAutoFit/>
          </a:bodyPr>
          <a:lstStyle/>
          <a:p>
            <a:pPr lvl="0"/>
            <a:r>
              <a:rPr lang="en-US" sz="900" dirty="0">
                <a:solidFill>
                  <a:srgbClr val="FFFFFF"/>
                </a:solidFill>
                <a:latin typeface="Calibri"/>
                <a:ea typeface="Calibri"/>
                <a:cs typeface="Calibri"/>
                <a:sym typeface="Calibri"/>
              </a:rPr>
              <a:t>Data Analytics and Visualization for Public Policy</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1"/>
          <p:cNvSpPr/>
          <p:nvPr/>
        </p:nvSpPr>
        <p:spPr>
          <a:xfrm>
            <a:off x="0" y="0"/>
            <a:ext cx="9144000" cy="502920"/>
          </a:xfrm>
          <a:prstGeom prst="rect">
            <a:avLst/>
          </a:prstGeom>
          <a:solidFill>
            <a:srgbClr val="80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04" name="Google Shape;204;p31" descr="1772584450591_image.png"/>
          <p:cNvPicPr preferRelativeResize="0"/>
          <p:nvPr/>
        </p:nvPicPr>
        <p:blipFill rotWithShape="1">
          <a:blip r:embed="rId1"/>
          <a:srcRect/>
          <a:stretch>
            <a:fillRect/>
          </a:stretch>
        </p:blipFill>
        <p:spPr>
          <a:xfrm>
            <a:off x="0" y="0"/>
            <a:ext cx="9144000" cy="502920"/>
          </a:xfrm>
          <a:prstGeom prst="rect">
            <a:avLst/>
          </a:prstGeom>
          <a:noFill/>
          <a:ln>
            <a:noFill/>
          </a:ln>
        </p:spPr>
      </p:pic>
      <p:sp>
        <p:nvSpPr>
          <p:cNvPr id="205" name="Google Shape;205;p31"/>
          <p:cNvSpPr txBox="1"/>
          <p:nvPr/>
        </p:nvSpPr>
        <p:spPr>
          <a:xfrm>
            <a:off x="0" y="477774"/>
            <a:ext cx="8412480"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dirty="0">
                <a:solidFill>
                  <a:srgbClr val="800000"/>
                </a:solidFill>
                <a:latin typeface="Calibri"/>
                <a:ea typeface="Calibri"/>
                <a:cs typeface="Calibri"/>
                <a:sym typeface="Calibri"/>
              </a:rPr>
              <a:t>Result 2: Geographic Distribution of Banking Stress</a:t>
            </a:r>
            <a:endParaRPr sz="1800" dirty="0"/>
          </a:p>
        </p:txBody>
      </p:sp>
      <p:sp>
        <p:nvSpPr>
          <p:cNvPr id="207" name="Google Shape;207;p31"/>
          <p:cNvSpPr/>
          <p:nvPr/>
        </p:nvSpPr>
        <p:spPr>
          <a:xfrm>
            <a:off x="0" y="4887468"/>
            <a:ext cx="9144000" cy="256032"/>
          </a:xfrm>
          <a:prstGeom prst="rect">
            <a:avLst/>
          </a:prstGeom>
          <a:solidFill>
            <a:srgbClr val="80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9" name="Google Shape;209;p31"/>
          <p:cNvSpPr txBox="1"/>
          <p:nvPr/>
        </p:nvSpPr>
        <p:spPr>
          <a:xfrm>
            <a:off x="6583680" y="4887468"/>
            <a:ext cx="2377440" cy="23079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900" b="0" i="0" u="none" strike="noStrike" cap="none" dirty="0">
                <a:solidFill>
                  <a:srgbClr val="FFFFFF"/>
                </a:solidFill>
                <a:latin typeface="Calibri"/>
                <a:ea typeface="Calibri"/>
                <a:cs typeface="Calibri"/>
                <a:sym typeface="Calibri"/>
              </a:rPr>
              <a:t>7/ 8</a:t>
            </a:r>
            <a:endParaRPr dirty="0"/>
          </a:p>
        </p:txBody>
      </p:sp>
      <p:pic>
        <p:nvPicPr>
          <p:cNvPr id="3" name="图片 2"/>
          <p:cNvPicPr>
            <a:picLocks noChangeAspect="1"/>
          </p:cNvPicPr>
          <p:nvPr/>
        </p:nvPicPr>
        <p:blipFill>
          <a:blip r:embed="rId2"/>
          <a:stretch>
            <a:fillRect/>
          </a:stretch>
        </p:blipFill>
        <p:spPr>
          <a:xfrm>
            <a:off x="58004" y="767334"/>
            <a:ext cx="3721516" cy="2571750"/>
          </a:xfrm>
          <a:prstGeom prst="rect">
            <a:avLst/>
          </a:prstGeom>
        </p:spPr>
      </p:pic>
      <p:graphicFrame>
        <p:nvGraphicFramePr>
          <p:cNvPr id="4" name="表格 3"/>
          <p:cNvGraphicFramePr>
            <a:graphicFrameLocks noGrp="1"/>
          </p:cNvGraphicFramePr>
          <p:nvPr/>
        </p:nvGraphicFramePr>
        <p:xfrm>
          <a:off x="3895344" y="1117815"/>
          <a:ext cx="2596896" cy="1889760"/>
        </p:xfrm>
        <a:graphic>
          <a:graphicData uri="http://schemas.openxmlformats.org/drawingml/2006/table">
            <a:tbl>
              <a:tblPr/>
              <a:tblGrid>
                <a:gridCol w="865632"/>
                <a:gridCol w="865632"/>
                <a:gridCol w="865632"/>
              </a:tblGrid>
              <a:tr h="0">
                <a:tc>
                  <a:txBody>
                    <a:bodyPr/>
                    <a:lstStyle/>
                    <a:p>
                      <a:pPr algn="ctr">
                        <a:buNone/>
                      </a:pPr>
                      <a:r>
                        <a:rPr lang="en-US" sz="1100" dirty="0">
                          <a:latin typeface="Times New Roman" panose="02020503050405090304" pitchFamily="18" charset="0"/>
                          <a:cs typeface="Times New Roman" panose="02020503050405090304" pitchFamily="18" charset="0"/>
                        </a:rPr>
                        <a:t>State</a:t>
                      </a:r>
                      <a:endParaRPr lang="en-US" sz="1100" dirty="0">
                        <a:latin typeface="Times New Roman" panose="02020503050405090304" pitchFamily="18" charset="0"/>
                        <a:cs typeface="Times New Roman" panose="02020503050405090304" pitchFamily="18" charset="0"/>
                      </a:endParaRP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buNone/>
                      </a:pPr>
                      <a:r>
                        <a:rPr lang="en-US" sz="1100" dirty="0">
                          <a:latin typeface="Times New Roman" panose="02020503050405090304" pitchFamily="18" charset="0"/>
                          <a:cs typeface="Times New Roman" panose="02020503050405090304" pitchFamily="18" charset="0"/>
                        </a:rPr>
                        <a:t>Bad-Year Share</a:t>
                      </a:r>
                      <a:endParaRPr lang="en-US" sz="1100" dirty="0">
                        <a:latin typeface="Times New Roman" panose="02020503050405090304" pitchFamily="18" charset="0"/>
                        <a:cs typeface="Times New Roman" panose="0202050305040509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buNone/>
                      </a:pPr>
                      <a:r>
                        <a:rPr lang="en-US" sz="1100" dirty="0">
                          <a:latin typeface="Times New Roman" panose="02020503050405090304" pitchFamily="18" charset="0"/>
                          <a:cs typeface="Times New Roman" panose="02020503050405090304" pitchFamily="18" charset="0"/>
                        </a:rPr>
                        <a:t>Worst </a:t>
                      </a:r>
                      <a:r>
                        <a:rPr lang="el-GR" sz="1100" dirty="0">
                          <a:latin typeface="Times New Roman" panose="02020503050405090304" pitchFamily="18" charset="0"/>
                          <a:cs typeface="Times New Roman" panose="02020503050405090304" pitchFamily="18" charset="0"/>
                        </a:rPr>
                        <a:t>Δ</a:t>
                      </a:r>
                      <a:r>
                        <a:rPr lang="en-US" sz="1100" dirty="0">
                          <a:latin typeface="Times New Roman" panose="02020503050405090304" pitchFamily="18" charset="0"/>
                          <a:cs typeface="Times New Roman" panose="02020503050405090304" pitchFamily="18" charset="0"/>
                        </a:rPr>
                        <a:t>ROA</a:t>
                      </a:r>
                      <a:endParaRPr lang="en-US" sz="1100" dirty="0">
                        <a:latin typeface="Times New Roman" panose="02020503050405090304" pitchFamily="18" charset="0"/>
                        <a:cs typeface="Times New Roman" panose="02020503050405090304" pitchFamily="18" charset="0"/>
                      </a:endParaRP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chemeClr val="bg2">
                        <a:lumMod val="40000"/>
                        <a:lumOff val="60000"/>
                      </a:schemeClr>
                    </a:solidFill>
                  </a:tcPr>
                </a:tc>
              </a:tr>
              <a:tr h="0">
                <a:tc>
                  <a:txBody>
                    <a:bodyPr/>
                    <a:lstStyle/>
                    <a:p>
                      <a:pPr algn="ctr">
                        <a:buNone/>
                      </a:pPr>
                      <a:r>
                        <a:rPr lang="en-US" sz="1100">
                          <a:latin typeface="Times New Roman" panose="02020503050405090304" pitchFamily="18" charset="0"/>
                          <a:cs typeface="Times New Roman" panose="02020503050405090304" pitchFamily="18" charset="0"/>
                        </a:rPr>
                        <a:t>Nevada</a:t>
                      </a:r>
                      <a:endParaRPr lang="en-US" sz="1100">
                        <a:latin typeface="Times New Roman" panose="02020503050405090304" pitchFamily="18" charset="0"/>
                        <a:cs typeface="Times New Roman" panose="02020503050405090304" pitchFamily="18"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b="1" dirty="0">
                          <a:latin typeface="Times New Roman" panose="02020503050405090304" pitchFamily="18" charset="0"/>
                          <a:cs typeface="Times New Roman" panose="02020503050405090304" pitchFamily="18" charset="0"/>
                        </a:rPr>
                        <a:t>0.71</a:t>
                      </a:r>
                      <a:endParaRPr lang="zh-CN" altLang="en-US" sz="1100" dirty="0">
                        <a:latin typeface="Times New Roman" panose="02020503050405090304" pitchFamily="18" charset="0"/>
                        <a:cs typeface="Times New Roman" panose="0202050305040509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a:latin typeface="Times New Roman" panose="02020503050405090304" pitchFamily="18" charset="0"/>
                          <a:cs typeface="Times New Roman" panose="02020503050405090304" pitchFamily="18" charset="0"/>
                        </a:rPr>
                        <a:t>-0.0287</a:t>
                      </a:r>
                      <a:endParaRPr lang="en-US" altLang="zh-CN" sz="1100">
                        <a:latin typeface="Times New Roman" panose="02020503050405090304" pitchFamily="18" charset="0"/>
                        <a:cs typeface="Times New Roman" panose="02020503050405090304" pitchFamily="18" charset="0"/>
                      </a:endParaRP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ctr">
                        <a:buNone/>
                      </a:pPr>
                      <a:r>
                        <a:rPr lang="en-US" sz="1100">
                          <a:latin typeface="Times New Roman" panose="02020503050405090304" pitchFamily="18" charset="0"/>
                          <a:cs typeface="Times New Roman" panose="02020503050405090304" pitchFamily="18" charset="0"/>
                        </a:rPr>
                        <a:t>Virginia</a:t>
                      </a:r>
                      <a:endParaRPr lang="en-US" sz="1100">
                        <a:latin typeface="Times New Roman" panose="02020503050405090304" pitchFamily="18" charset="0"/>
                        <a:cs typeface="Times New Roman" panose="02020503050405090304" pitchFamily="18"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b="1" dirty="0">
                          <a:latin typeface="Times New Roman" panose="02020503050405090304" pitchFamily="18" charset="0"/>
                          <a:cs typeface="Times New Roman" panose="02020503050405090304" pitchFamily="18" charset="0"/>
                        </a:rPr>
                        <a:t>0.71</a:t>
                      </a:r>
                      <a:endParaRPr lang="zh-CN" altLang="en-US" sz="1100" dirty="0">
                        <a:latin typeface="Times New Roman" panose="02020503050405090304" pitchFamily="18" charset="0"/>
                        <a:cs typeface="Times New Roman" panose="0202050305040509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a:latin typeface="Times New Roman" panose="02020503050405090304" pitchFamily="18" charset="0"/>
                          <a:cs typeface="Times New Roman" panose="02020503050405090304" pitchFamily="18" charset="0"/>
                        </a:rPr>
                        <a:t>-0.0064</a:t>
                      </a:r>
                      <a:endParaRPr lang="en-US" altLang="zh-CN" sz="1100">
                        <a:latin typeface="Times New Roman" panose="02020503050405090304" pitchFamily="18" charset="0"/>
                        <a:cs typeface="Times New Roman" panose="02020503050405090304" pitchFamily="18" charset="0"/>
                      </a:endParaRP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ctr">
                        <a:buNone/>
                      </a:pPr>
                      <a:r>
                        <a:rPr lang="en-US" sz="1100" dirty="0">
                          <a:latin typeface="Times New Roman" panose="02020503050405090304" pitchFamily="18" charset="0"/>
                          <a:cs typeface="Times New Roman" panose="02020503050405090304" pitchFamily="18" charset="0"/>
                        </a:rPr>
                        <a:t>Delaware</a:t>
                      </a:r>
                      <a:endParaRPr lang="en-US" sz="1100" dirty="0">
                        <a:latin typeface="Times New Roman" panose="02020503050405090304" pitchFamily="18" charset="0"/>
                        <a:cs typeface="Times New Roman" panose="02020503050405090304" pitchFamily="18"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dirty="0">
                          <a:latin typeface="Times New Roman" panose="02020503050405090304" pitchFamily="18" charset="0"/>
                          <a:cs typeface="Times New Roman" panose="02020503050405090304" pitchFamily="18" charset="0"/>
                        </a:rPr>
                        <a:t>0.43</a:t>
                      </a:r>
                      <a:endParaRPr lang="en-US" altLang="zh-CN" sz="1100" dirty="0">
                        <a:latin typeface="Times New Roman" panose="02020503050405090304" pitchFamily="18" charset="0"/>
                        <a:cs typeface="Times New Roman" panose="0202050305040509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dirty="0">
                          <a:latin typeface="Times New Roman" panose="02020503050405090304" pitchFamily="18" charset="0"/>
                          <a:cs typeface="Times New Roman" panose="02020503050405090304" pitchFamily="18" charset="0"/>
                        </a:rPr>
                        <a:t>-0.0080</a:t>
                      </a:r>
                      <a:endParaRPr lang="en-US" altLang="zh-CN" sz="1100" dirty="0">
                        <a:latin typeface="Times New Roman" panose="02020503050405090304" pitchFamily="18" charset="0"/>
                        <a:cs typeface="Times New Roman" panose="02020503050405090304" pitchFamily="18" charset="0"/>
                      </a:endParaRP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ctr">
                        <a:buNone/>
                      </a:pPr>
                      <a:r>
                        <a:rPr lang="en-US" sz="1100" dirty="0">
                          <a:latin typeface="Times New Roman" panose="02020503050405090304" pitchFamily="18" charset="0"/>
                          <a:cs typeface="Times New Roman" panose="02020503050405090304" pitchFamily="18" charset="0"/>
                        </a:rPr>
                        <a:t>South Dakota</a:t>
                      </a:r>
                      <a:endParaRPr lang="en-US" sz="1100" dirty="0">
                        <a:latin typeface="Times New Roman" panose="02020503050405090304" pitchFamily="18" charset="0"/>
                        <a:cs typeface="Times New Roman" panose="02020503050405090304" pitchFamily="18"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dirty="0">
                          <a:latin typeface="Times New Roman" panose="02020503050405090304" pitchFamily="18" charset="0"/>
                          <a:cs typeface="Times New Roman" panose="02020503050405090304" pitchFamily="18" charset="0"/>
                        </a:rPr>
                        <a:t>0.43</a:t>
                      </a:r>
                      <a:endParaRPr lang="en-US" altLang="zh-CN" sz="1100" dirty="0">
                        <a:latin typeface="Times New Roman" panose="02020503050405090304" pitchFamily="18" charset="0"/>
                        <a:cs typeface="Times New Roman" panose="0202050305040509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dirty="0">
                          <a:latin typeface="Times New Roman" panose="02020503050405090304" pitchFamily="18" charset="0"/>
                          <a:cs typeface="Times New Roman" panose="02020503050405090304" pitchFamily="18" charset="0"/>
                        </a:rPr>
                        <a:t>-0.0081</a:t>
                      </a:r>
                      <a:endParaRPr lang="en-US" altLang="zh-CN" sz="1100" dirty="0">
                        <a:latin typeface="Times New Roman" panose="02020503050405090304" pitchFamily="18" charset="0"/>
                        <a:cs typeface="Times New Roman" panose="02020503050405090304" pitchFamily="18" charset="0"/>
                      </a:endParaRP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0">
                <a:tc>
                  <a:txBody>
                    <a:bodyPr/>
                    <a:lstStyle/>
                    <a:p>
                      <a:pPr algn="ctr">
                        <a:buNone/>
                      </a:pPr>
                      <a:r>
                        <a:rPr lang="en-US" sz="1100">
                          <a:latin typeface="Times New Roman" panose="02020503050405090304" pitchFamily="18" charset="0"/>
                          <a:cs typeface="Times New Roman" panose="02020503050405090304" pitchFamily="18" charset="0"/>
                        </a:rPr>
                        <a:t>Alabama</a:t>
                      </a:r>
                      <a:endParaRPr lang="en-US" sz="1100">
                        <a:latin typeface="Times New Roman" panose="02020503050405090304" pitchFamily="18" charset="0"/>
                        <a:cs typeface="Times New Roman" panose="02020503050405090304" pitchFamily="18"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a:buNone/>
                      </a:pPr>
                      <a:r>
                        <a:rPr lang="en-US" altLang="zh-CN" sz="1100" dirty="0">
                          <a:latin typeface="Times New Roman" panose="02020503050405090304" pitchFamily="18" charset="0"/>
                          <a:cs typeface="Times New Roman" panose="02020503050405090304" pitchFamily="18" charset="0"/>
                        </a:rPr>
                        <a:t>0.43</a:t>
                      </a:r>
                      <a:endParaRPr lang="en-US" altLang="zh-CN" sz="1100" dirty="0">
                        <a:latin typeface="Times New Roman" panose="02020503050405090304" pitchFamily="18" charset="0"/>
                        <a:cs typeface="Times New Roman" panose="0202050305040509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a:buNone/>
                      </a:pPr>
                      <a:r>
                        <a:rPr lang="en-US" altLang="zh-CN" sz="1100" dirty="0">
                          <a:latin typeface="Times New Roman" panose="02020503050405090304" pitchFamily="18" charset="0"/>
                          <a:cs typeface="Times New Roman" panose="02020503050405090304" pitchFamily="18" charset="0"/>
                        </a:rPr>
                        <a:t>-0.0100</a:t>
                      </a:r>
                      <a:endParaRPr lang="en-US" altLang="zh-CN" sz="1100" dirty="0">
                        <a:latin typeface="Times New Roman" panose="02020503050405090304" pitchFamily="18" charset="0"/>
                        <a:cs typeface="Times New Roman" panose="02020503050405090304" pitchFamily="18" charset="0"/>
                      </a:endParaRP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tr>
            </a:tbl>
          </a:graphicData>
        </a:graphic>
      </p:graphicFrame>
      <p:sp>
        <p:nvSpPr>
          <p:cNvPr id="6" name="文本框 5"/>
          <p:cNvSpPr txBox="1"/>
          <p:nvPr/>
        </p:nvSpPr>
        <p:spPr>
          <a:xfrm>
            <a:off x="3895344" y="866072"/>
            <a:ext cx="2596896" cy="261610"/>
          </a:xfrm>
          <a:prstGeom prst="rect">
            <a:avLst/>
          </a:prstGeom>
          <a:noFill/>
          <a:ln>
            <a:solidFill>
              <a:schemeClr val="tx1"/>
            </a:solidFill>
          </a:ln>
        </p:spPr>
        <p:txBody>
          <a:bodyPr wrap="square">
            <a:spAutoFit/>
          </a:bodyPr>
          <a:lstStyle/>
          <a:p>
            <a:pPr algn="ctr"/>
            <a:r>
              <a:rPr lang="en-US" altLang="zh-CN" sz="1100" dirty="0"/>
              <a:t>Top Stress States</a:t>
            </a:r>
            <a:endParaRPr lang="zh-CN" altLang="en-US" sz="1100" dirty="0"/>
          </a:p>
        </p:txBody>
      </p:sp>
      <p:graphicFrame>
        <p:nvGraphicFramePr>
          <p:cNvPr id="9" name="表格 8"/>
          <p:cNvGraphicFramePr>
            <a:graphicFrameLocks noGrp="1"/>
          </p:cNvGraphicFramePr>
          <p:nvPr/>
        </p:nvGraphicFramePr>
        <p:xfrm>
          <a:off x="6650736" y="1146689"/>
          <a:ext cx="2493264" cy="1819015"/>
        </p:xfrm>
        <a:graphic>
          <a:graphicData uri="http://schemas.openxmlformats.org/drawingml/2006/table">
            <a:tbl>
              <a:tblPr/>
              <a:tblGrid>
                <a:gridCol w="1246632"/>
                <a:gridCol w="1246632"/>
              </a:tblGrid>
              <a:tr h="382766">
                <a:tc>
                  <a:txBody>
                    <a:bodyPr/>
                    <a:lstStyle/>
                    <a:p>
                      <a:pPr algn="ctr">
                        <a:buNone/>
                      </a:pPr>
                      <a:r>
                        <a:rPr lang="en-US" sz="1100" dirty="0">
                          <a:latin typeface="Times New Roman" panose="02020503050405090304" pitchFamily="18" charset="0"/>
                          <a:cs typeface="Times New Roman" panose="02020503050405090304" pitchFamily="18" charset="0"/>
                        </a:rPr>
                        <a:t>State</a:t>
                      </a:r>
                      <a:endParaRPr lang="en-US" sz="1100" dirty="0">
                        <a:latin typeface="Times New Roman" panose="02020503050405090304" pitchFamily="18" charset="0"/>
                        <a:cs typeface="Times New Roman" panose="02020503050405090304" pitchFamily="18" charset="0"/>
                      </a:endParaRP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buNone/>
                      </a:pPr>
                      <a:r>
                        <a:rPr lang="en-US" sz="1100" dirty="0">
                          <a:latin typeface="Times New Roman" panose="02020503050405090304" pitchFamily="18" charset="0"/>
                          <a:cs typeface="Times New Roman" panose="02020503050405090304" pitchFamily="18" charset="0"/>
                        </a:rPr>
                        <a:t>ΔROA if negative news +10pp</a:t>
                      </a:r>
                      <a:endParaRPr lang="en-US" sz="1100" dirty="0">
                        <a:latin typeface="Times New Roman" panose="02020503050405090304" pitchFamily="18" charset="0"/>
                        <a:cs typeface="Times New Roman" panose="02020503050405090304" pitchFamily="18" charset="0"/>
                      </a:endParaRP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chemeClr val="bg2">
                        <a:lumMod val="40000"/>
                        <a:lumOff val="60000"/>
                      </a:schemeClr>
                    </a:solidFill>
                  </a:tcPr>
                </a:tc>
              </a:tr>
              <a:tr h="278459">
                <a:tc>
                  <a:txBody>
                    <a:bodyPr/>
                    <a:lstStyle/>
                    <a:p>
                      <a:pPr algn="ctr">
                        <a:buNone/>
                      </a:pPr>
                      <a:r>
                        <a:rPr lang="en-US" sz="1100" dirty="0">
                          <a:latin typeface="Times New Roman" panose="02020503050405090304" pitchFamily="18" charset="0"/>
                          <a:cs typeface="Times New Roman" panose="02020503050405090304" pitchFamily="18" charset="0"/>
                        </a:rPr>
                        <a:t>Virginia</a:t>
                      </a:r>
                      <a:endParaRPr lang="en-US" sz="1100" dirty="0">
                        <a:latin typeface="Times New Roman" panose="02020503050405090304" pitchFamily="18" charset="0"/>
                        <a:cs typeface="Times New Roman" panose="02020503050405090304" pitchFamily="18"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b="1">
                          <a:latin typeface="Times New Roman" panose="02020503050405090304" pitchFamily="18" charset="0"/>
                          <a:cs typeface="Times New Roman" panose="02020503050405090304" pitchFamily="18" charset="0"/>
                        </a:rPr>
                        <a:t>-0.0439</a:t>
                      </a:r>
                      <a:endParaRPr lang="zh-CN" altLang="en-US" sz="1100">
                        <a:latin typeface="Times New Roman" panose="02020503050405090304" pitchFamily="18" charset="0"/>
                        <a:cs typeface="Times New Roman" panose="02020503050405090304" pitchFamily="18" charset="0"/>
                      </a:endParaRP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78459">
                <a:tc>
                  <a:txBody>
                    <a:bodyPr/>
                    <a:lstStyle/>
                    <a:p>
                      <a:pPr algn="ctr">
                        <a:buNone/>
                      </a:pPr>
                      <a:r>
                        <a:rPr lang="en-US" sz="1100" dirty="0">
                          <a:latin typeface="Times New Roman" panose="02020503050405090304" pitchFamily="18" charset="0"/>
                          <a:cs typeface="Times New Roman" panose="02020503050405090304" pitchFamily="18" charset="0"/>
                        </a:rPr>
                        <a:t>Tennessee</a:t>
                      </a:r>
                      <a:endParaRPr lang="en-US" sz="1100" dirty="0">
                        <a:latin typeface="Times New Roman" panose="02020503050405090304" pitchFamily="18" charset="0"/>
                        <a:cs typeface="Times New Roman" panose="02020503050405090304" pitchFamily="18"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dirty="0">
                          <a:latin typeface="Times New Roman" panose="02020503050405090304" pitchFamily="18" charset="0"/>
                          <a:cs typeface="Times New Roman" panose="02020503050405090304" pitchFamily="18" charset="0"/>
                        </a:rPr>
                        <a:t>-0.0376</a:t>
                      </a:r>
                      <a:endParaRPr lang="en-US" altLang="zh-CN" sz="1100" dirty="0">
                        <a:latin typeface="Times New Roman" panose="02020503050405090304" pitchFamily="18" charset="0"/>
                        <a:cs typeface="Times New Roman" panose="02020503050405090304" pitchFamily="18" charset="0"/>
                      </a:endParaRP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78459">
                <a:tc>
                  <a:txBody>
                    <a:bodyPr/>
                    <a:lstStyle/>
                    <a:p>
                      <a:pPr algn="ctr">
                        <a:buNone/>
                      </a:pPr>
                      <a:r>
                        <a:rPr lang="en-US" sz="1100" dirty="0">
                          <a:latin typeface="Times New Roman" panose="02020503050405090304" pitchFamily="18" charset="0"/>
                          <a:cs typeface="Times New Roman" panose="02020503050405090304" pitchFamily="18" charset="0"/>
                        </a:rPr>
                        <a:t>South Dakota</a:t>
                      </a:r>
                      <a:endParaRPr lang="en-US" sz="1100" dirty="0">
                        <a:latin typeface="Times New Roman" panose="02020503050405090304" pitchFamily="18" charset="0"/>
                        <a:cs typeface="Times New Roman" panose="02020503050405090304" pitchFamily="18"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a:latin typeface="Times New Roman" panose="02020503050405090304" pitchFamily="18" charset="0"/>
                          <a:cs typeface="Times New Roman" panose="02020503050405090304" pitchFamily="18" charset="0"/>
                        </a:rPr>
                        <a:t>-0.0323</a:t>
                      </a:r>
                      <a:endParaRPr lang="en-US" altLang="zh-CN" sz="1100">
                        <a:latin typeface="Times New Roman" panose="02020503050405090304" pitchFamily="18" charset="0"/>
                        <a:cs typeface="Times New Roman" panose="02020503050405090304" pitchFamily="18" charset="0"/>
                      </a:endParaRP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78459">
                <a:tc>
                  <a:txBody>
                    <a:bodyPr/>
                    <a:lstStyle/>
                    <a:p>
                      <a:pPr algn="ctr">
                        <a:buNone/>
                      </a:pPr>
                      <a:r>
                        <a:rPr lang="en-US" sz="1100" dirty="0">
                          <a:latin typeface="Times New Roman" panose="02020503050405090304" pitchFamily="18" charset="0"/>
                          <a:cs typeface="Times New Roman" panose="02020503050405090304" pitchFamily="18" charset="0"/>
                        </a:rPr>
                        <a:t>South Carolina</a:t>
                      </a:r>
                      <a:endParaRPr lang="en-US" sz="1100" dirty="0">
                        <a:latin typeface="Times New Roman" panose="02020503050405090304" pitchFamily="18" charset="0"/>
                        <a:cs typeface="Times New Roman" panose="02020503050405090304" pitchFamily="18"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100" dirty="0">
                          <a:latin typeface="Times New Roman" panose="02020503050405090304" pitchFamily="18" charset="0"/>
                          <a:cs typeface="Times New Roman" panose="02020503050405090304" pitchFamily="18" charset="0"/>
                        </a:rPr>
                        <a:t>-0.0304</a:t>
                      </a:r>
                      <a:endParaRPr lang="en-US" altLang="zh-CN" sz="1100" dirty="0">
                        <a:latin typeface="Times New Roman" panose="02020503050405090304" pitchFamily="18" charset="0"/>
                        <a:cs typeface="Times New Roman" panose="02020503050405090304" pitchFamily="18" charset="0"/>
                      </a:endParaRP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78459">
                <a:tc>
                  <a:txBody>
                    <a:bodyPr/>
                    <a:lstStyle/>
                    <a:p>
                      <a:pPr algn="ctr">
                        <a:buNone/>
                      </a:pPr>
                      <a:r>
                        <a:rPr lang="en-US" sz="1100" dirty="0">
                          <a:latin typeface="Times New Roman" panose="02020503050405090304" pitchFamily="18" charset="0"/>
                          <a:cs typeface="Times New Roman" panose="02020503050405090304" pitchFamily="18" charset="0"/>
                        </a:rPr>
                        <a:t>Delaware</a:t>
                      </a:r>
                      <a:endParaRPr lang="en-US" sz="1100" dirty="0">
                        <a:latin typeface="Times New Roman" panose="02020503050405090304" pitchFamily="18" charset="0"/>
                        <a:cs typeface="Times New Roman" panose="02020503050405090304" pitchFamily="18"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ctr">
                        <a:buNone/>
                      </a:pPr>
                      <a:r>
                        <a:rPr lang="en-US" altLang="zh-CN" sz="1100" dirty="0">
                          <a:latin typeface="Times New Roman" panose="02020503050405090304" pitchFamily="18" charset="0"/>
                          <a:cs typeface="Times New Roman" panose="02020503050405090304" pitchFamily="18" charset="0"/>
                        </a:rPr>
                        <a:t>-0.0279</a:t>
                      </a:r>
                      <a:endParaRPr lang="en-US" altLang="zh-CN" sz="1100" dirty="0">
                        <a:latin typeface="Times New Roman" panose="02020503050405090304" pitchFamily="18" charset="0"/>
                        <a:cs typeface="Times New Roman" panose="02020503050405090304" pitchFamily="18" charset="0"/>
                      </a:endParaRP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tr>
            </a:tbl>
          </a:graphicData>
        </a:graphic>
      </p:graphicFrame>
      <p:sp>
        <p:nvSpPr>
          <p:cNvPr id="10" name="文本框 9"/>
          <p:cNvSpPr txBox="1"/>
          <p:nvPr/>
        </p:nvSpPr>
        <p:spPr>
          <a:xfrm>
            <a:off x="6672072" y="883091"/>
            <a:ext cx="2471928" cy="261610"/>
          </a:xfrm>
          <a:prstGeom prst="rect">
            <a:avLst/>
          </a:prstGeom>
          <a:noFill/>
          <a:ln>
            <a:solidFill>
              <a:schemeClr val="tx1"/>
            </a:solidFill>
          </a:ln>
        </p:spPr>
        <p:txBody>
          <a:bodyPr wrap="square">
            <a:spAutoFit/>
          </a:bodyPr>
          <a:lstStyle/>
          <a:p>
            <a:pPr algn="ctr"/>
            <a:r>
              <a:rPr lang="en-US" altLang="zh-CN" sz="1100" dirty="0"/>
              <a:t>Most Sentiment-Sensitive States</a:t>
            </a:r>
            <a:endParaRPr lang="zh-CN" altLang="en-US" sz="1100" dirty="0"/>
          </a:p>
        </p:txBody>
      </p:sp>
      <p:sp>
        <p:nvSpPr>
          <p:cNvPr id="14" name="文本框 13"/>
          <p:cNvSpPr txBox="1"/>
          <p:nvPr/>
        </p:nvSpPr>
        <p:spPr>
          <a:xfrm>
            <a:off x="38100" y="3638708"/>
            <a:ext cx="8923020" cy="954107"/>
          </a:xfrm>
          <a:prstGeom prst="rect">
            <a:avLst/>
          </a:prstGeom>
          <a:noFill/>
        </p:spPr>
        <p:txBody>
          <a:bodyPr wrap="square">
            <a:spAutoFit/>
          </a:bodyPr>
          <a:lstStyle/>
          <a:p>
            <a:pPr marL="285750" indent="-285750">
              <a:buFont typeface="Arial" panose="020B0604020202090204" pitchFamily="34" charset="0"/>
              <a:buChar char="•"/>
            </a:pPr>
            <a:r>
              <a:rPr lang="en-US" altLang="zh-CN" dirty="0"/>
              <a:t>Nevada and Virginia show the highest frequency of stress years in the sample.</a:t>
            </a:r>
            <a:endParaRPr lang="en-US" altLang="zh-CN" dirty="0"/>
          </a:p>
          <a:p>
            <a:pPr marL="285750" indent="-285750">
              <a:buFont typeface="Arial" panose="020B0604020202090204" pitchFamily="34" charset="0"/>
              <a:buChar char="•"/>
            </a:pPr>
            <a:endParaRPr lang="en-US" altLang="zh-CN" dirty="0"/>
          </a:p>
          <a:p>
            <a:pPr marL="285750" indent="-285750">
              <a:buFont typeface="Arial" panose="020B0604020202090204" pitchFamily="34" charset="0"/>
              <a:buChar char="•"/>
            </a:pPr>
            <a:r>
              <a:rPr lang="en-US" altLang="zh-CN" dirty="0"/>
              <a:t>The lagged impact of negative regulatory news on profitability is strongest in VA, TN, SD, and SC, highlighting these states' heightened sensitivity to sentiment shocks. </a:t>
            </a:r>
            <a:endParaRPr lang="zh-CN" altLang="en-US" dirty="0"/>
          </a:p>
        </p:txBody>
      </p:sp>
      <p:pic>
        <p:nvPicPr>
          <p:cNvPr id="24" name="图片 23"/>
          <p:cNvPicPr>
            <a:picLocks noChangeAspect="1"/>
          </p:cNvPicPr>
          <p:nvPr/>
        </p:nvPicPr>
        <p:blipFill>
          <a:blip r:embed="rId3"/>
          <a:stretch>
            <a:fillRect/>
          </a:stretch>
        </p:blipFill>
        <p:spPr>
          <a:xfrm>
            <a:off x="182880" y="847065"/>
            <a:ext cx="3038938" cy="1855710"/>
          </a:xfrm>
          <a:prstGeom prst="rect">
            <a:avLst/>
          </a:prstGeom>
        </p:spPr>
      </p:pic>
      <p:pic>
        <p:nvPicPr>
          <p:cNvPr id="26" name="图片 25"/>
          <p:cNvPicPr>
            <a:picLocks noChangeAspect="1"/>
          </p:cNvPicPr>
          <p:nvPr/>
        </p:nvPicPr>
        <p:blipFill>
          <a:blip r:embed="rId4"/>
          <a:stretch>
            <a:fillRect/>
          </a:stretch>
        </p:blipFill>
        <p:spPr>
          <a:xfrm>
            <a:off x="182880" y="2535495"/>
            <a:ext cx="891725" cy="787044"/>
          </a:xfrm>
          <a:prstGeom prst="rect">
            <a:avLst/>
          </a:prstGeom>
        </p:spPr>
      </p:pic>
      <p:sp>
        <p:nvSpPr>
          <p:cNvPr id="27" name="Google Shape;136;p25"/>
          <p:cNvSpPr txBox="1"/>
          <p:nvPr/>
        </p:nvSpPr>
        <p:spPr>
          <a:xfrm>
            <a:off x="182880" y="4887468"/>
            <a:ext cx="6400800" cy="230792"/>
          </a:xfrm>
          <a:prstGeom prst="rect">
            <a:avLst/>
          </a:prstGeom>
          <a:noFill/>
          <a:ln>
            <a:noFill/>
          </a:ln>
        </p:spPr>
        <p:txBody>
          <a:bodyPr spcFirstLastPara="1" wrap="square" lIns="91425" tIns="45700" rIns="91425" bIns="45700" anchor="t" anchorCtr="0">
            <a:spAutoFit/>
          </a:bodyPr>
          <a:lstStyle/>
          <a:p>
            <a:pPr lvl="0"/>
            <a:r>
              <a:rPr lang="en-US" sz="900" dirty="0">
                <a:solidFill>
                  <a:srgbClr val="FFFFFF"/>
                </a:solidFill>
                <a:latin typeface="Calibri"/>
                <a:ea typeface="Calibri"/>
                <a:cs typeface="Calibri"/>
                <a:sym typeface="Calibri"/>
              </a:rPr>
              <a:t>Data Analytics and Visualization for Public Policy</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2"/>
          <p:cNvSpPr/>
          <p:nvPr/>
        </p:nvSpPr>
        <p:spPr>
          <a:xfrm>
            <a:off x="0" y="0"/>
            <a:ext cx="9144000" cy="502920"/>
          </a:xfrm>
          <a:prstGeom prst="rect">
            <a:avLst/>
          </a:prstGeom>
          <a:solidFill>
            <a:srgbClr val="80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15" name="Google Shape;215;p32" descr="1772584450591_image.png"/>
          <p:cNvPicPr preferRelativeResize="0"/>
          <p:nvPr/>
        </p:nvPicPr>
        <p:blipFill rotWithShape="1">
          <a:blip r:embed="rId1"/>
          <a:srcRect/>
          <a:stretch>
            <a:fillRect/>
          </a:stretch>
        </p:blipFill>
        <p:spPr>
          <a:xfrm>
            <a:off x="0" y="-45720"/>
            <a:ext cx="9144000" cy="502920"/>
          </a:xfrm>
          <a:prstGeom prst="rect">
            <a:avLst/>
          </a:prstGeom>
          <a:noFill/>
          <a:ln>
            <a:noFill/>
          </a:ln>
        </p:spPr>
      </p:pic>
      <p:sp>
        <p:nvSpPr>
          <p:cNvPr id="216" name="Google Shape;216;p32"/>
          <p:cNvSpPr txBox="1"/>
          <p:nvPr/>
        </p:nvSpPr>
        <p:spPr>
          <a:xfrm>
            <a:off x="91440" y="534384"/>
            <a:ext cx="8412480" cy="43084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i="0" u="none" strike="noStrike" cap="none" dirty="0">
                <a:solidFill>
                  <a:srgbClr val="800000"/>
                </a:solidFill>
                <a:latin typeface="Calibri"/>
                <a:ea typeface="Calibri"/>
                <a:cs typeface="Calibri"/>
                <a:sym typeface="Calibri"/>
              </a:rPr>
              <a:t>Live Monitoring Dashboard &amp; Key Takeaway</a:t>
            </a:r>
            <a:r>
              <a:rPr lang="en-GB" sz="2200" b="1" i="0" u="none" strike="noStrike" cap="none" dirty="0">
                <a:solidFill>
                  <a:srgbClr val="800000"/>
                </a:solidFill>
                <a:latin typeface="Calibri"/>
                <a:ea typeface="Calibri"/>
                <a:cs typeface="Calibri"/>
                <a:sym typeface="Calibri"/>
              </a:rPr>
              <a:t>s</a:t>
            </a:r>
            <a:endParaRPr dirty="0"/>
          </a:p>
        </p:txBody>
      </p:sp>
      <p:sp>
        <p:nvSpPr>
          <p:cNvPr id="218" name="Google Shape;218;p32"/>
          <p:cNvSpPr/>
          <p:nvPr/>
        </p:nvSpPr>
        <p:spPr>
          <a:xfrm>
            <a:off x="0" y="4887468"/>
            <a:ext cx="9144000" cy="256032"/>
          </a:xfrm>
          <a:prstGeom prst="rect">
            <a:avLst/>
          </a:prstGeom>
          <a:solidFill>
            <a:srgbClr val="80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0" name="Google Shape;220;p32"/>
          <p:cNvSpPr txBox="1"/>
          <p:nvPr/>
        </p:nvSpPr>
        <p:spPr>
          <a:xfrm>
            <a:off x="6583680" y="4887468"/>
            <a:ext cx="2377440" cy="23079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900" dirty="0">
                <a:solidFill>
                  <a:srgbClr val="FFFFFF"/>
                </a:solidFill>
                <a:latin typeface="Calibri"/>
                <a:ea typeface="Calibri"/>
                <a:cs typeface="Calibri"/>
                <a:sym typeface="Calibri"/>
              </a:rPr>
              <a:t>8</a:t>
            </a:r>
            <a:r>
              <a:rPr lang="en-GB" sz="900" b="0" i="0" u="none" strike="noStrike" cap="none" dirty="0">
                <a:solidFill>
                  <a:srgbClr val="FFFFFF"/>
                </a:solidFill>
                <a:latin typeface="Calibri"/>
                <a:ea typeface="Calibri"/>
                <a:cs typeface="Calibri"/>
                <a:sym typeface="Calibri"/>
              </a:rPr>
              <a:t> / </a:t>
            </a:r>
            <a:r>
              <a:rPr lang="en-GB" sz="900" dirty="0">
                <a:solidFill>
                  <a:srgbClr val="FFFFFF"/>
                </a:solidFill>
                <a:latin typeface="Calibri"/>
                <a:ea typeface="Calibri"/>
                <a:cs typeface="Calibri"/>
                <a:sym typeface="Calibri"/>
              </a:rPr>
              <a:t>8</a:t>
            </a:r>
            <a:endParaRPr dirty="0"/>
          </a:p>
        </p:txBody>
      </p:sp>
      <p:pic>
        <p:nvPicPr>
          <p:cNvPr id="3" name="图片 2"/>
          <p:cNvPicPr>
            <a:picLocks noChangeAspect="1"/>
          </p:cNvPicPr>
          <p:nvPr/>
        </p:nvPicPr>
        <p:blipFill>
          <a:blip r:embed="rId2"/>
          <a:stretch>
            <a:fillRect/>
          </a:stretch>
        </p:blipFill>
        <p:spPr>
          <a:xfrm>
            <a:off x="2609088" y="965231"/>
            <a:ext cx="2902285" cy="3781044"/>
          </a:xfrm>
          <a:prstGeom prst="rect">
            <a:avLst/>
          </a:prstGeom>
        </p:spPr>
      </p:pic>
      <p:pic>
        <p:nvPicPr>
          <p:cNvPr id="5" name="图片 4"/>
          <p:cNvPicPr>
            <a:picLocks noChangeAspect="1"/>
          </p:cNvPicPr>
          <p:nvPr/>
        </p:nvPicPr>
        <p:blipFill>
          <a:blip r:embed="rId3"/>
          <a:stretch>
            <a:fillRect/>
          </a:stretch>
        </p:blipFill>
        <p:spPr>
          <a:xfrm>
            <a:off x="3474720" y="4400280"/>
            <a:ext cx="1743456" cy="416591"/>
          </a:xfrm>
          <a:prstGeom prst="rect">
            <a:avLst/>
          </a:prstGeom>
        </p:spPr>
      </p:pic>
      <p:sp>
        <p:nvSpPr>
          <p:cNvPr id="7" name="文本框 6"/>
          <p:cNvSpPr txBox="1"/>
          <p:nvPr/>
        </p:nvSpPr>
        <p:spPr>
          <a:xfrm>
            <a:off x="182880" y="965231"/>
            <a:ext cx="2090339" cy="553998"/>
          </a:xfrm>
          <a:prstGeom prst="rect">
            <a:avLst/>
          </a:prstGeom>
          <a:noFill/>
        </p:spPr>
        <p:txBody>
          <a:bodyPr wrap="square">
            <a:spAutoFit/>
          </a:bodyPr>
          <a:lstStyle/>
          <a:p>
            <a:r>
              <a:rPr lang="zh-CN" altLang="en-US" sz="1000" dirty="0">
                <a:latin typeface="Times New Roman" panose="02020503050405090304" pitchFamily="18" charset="0"/>
                <a:cs typeface="Times New Roman" panose="02020503050405090304" pitchFamily="18" charset="0"/>
              </a:rPr>
              <a:t>❶ </a:t>
            </a:r>
            <a:r>
              <a:rPr lang="en-US" altLang="zh-CN" sz="1000" dirty="0">
                <a:latin typeface="Times New Roman" panose="02020503050405090304" pitchFamily="18" charset="0"/>
                <a:cs typeface="Times New Roman" panose="02020503050405090304" pitchFamily="18" charset="0"/>
              </a:rPr>
              <a:t>Users can select the </a:t>
            </a:r>
            <a:r>
              <a:rPr lang="en-US" altLang="zh-CN" sz="1000" b="1" dirty="0">
                <a:latin typeface="Times New Roman" panose="02020503050405090304" pitchFamily="18" charset="0"/>
                <a:cs typeface="Times New Roman" panose="02020503050405090304" pitchFamily="18" charset="0"/>
              </a:rPr>
              <a:t>year</a:t>
            </a:r>
            <a:r>
              <a:rPr lang="en-US" altLang="zh-CN" sz="1000" dirty="0">
                <a:latin typeface="Times New Roman" panose="02020503050405090304" pitchFamily="18" charset="0"/>
                <a:cs typeface="Times New Roman" panose="02020503050405090304" pitchFamily="18" charset="0"/>
              </a:rPr>
              <a:t> and </a:t>
            </a:r>
            <a:r>
              <a:rPr lang="en-US" altLang="zh-CN" sz="1000" b="1" dirty="0">
                <a:latin typeface="Times New Roman" panose="02020503050405090304" pitchFamily="18" charset="0"/>
                <a:cs typeface="Times New Roman" panose="02020503050405090304" pitchFamily="18" charset="0"/>
              </a:rPr>
              <a:t>map</a:t>
            </a:r>
            <a:r>
              <a:rPr lang="en-US" altLang="zh-CN" sz="1000" dirty="0">
                <a:latin typeface="Times New Roman" panose="02020503050405090304" pitchFamily="18" charset="0"/>
                <a:cs typeface="Times New Roman" panose="02020503050405090304" pitchFamily="18" charset="0"/>
              </a:rPr>
              <a:t> metrics for </a:t>
            </a:r>
            <a:r>
              <a:rPr lang="en-US" altLang="zh-CN" sz="1000" b="1" dirty="0">
                <a:latin typeface="Times New Roman" panose="02020503050405090304" pitchFamily="18" charset="0"/>
                <a:cs typeface="Times New Roman" panose="02020503050405090304" pitchFamily="18" charset="0"/>
              </a:rPr>
              <a:t>each state </a:t>
            </a:r>
            <a:r>
              <a:rPr lang="en-US" altLang="zh-CN" sz="1000" dirty="0">
                <a:latin typeface="Times New Roman" panose="02020503050405090304" pitchFamily="18" charset="0"/>
                <a:cs typeface="Times New Roman" panose="02020503050405090304" pitchFamily="18" charset="0"/>
              </a:rPr>
              <a:t>on the left panel.</a:t>
            </a:r>
            <a:r>
              <a:rPr lang="zh-CN" altLang="en-US" sz="1000" dirty="0">
                <a:latin typeface="Times New Roman" panose="02020503050405090304" pitchFamily="18" charset="0"/>
                <a:cs typeface="Times New Roman" panose="02020503050405090304" pitchFamily="18" charset="0"/>
              </a:rPr>
              <a:t> </a:t>
            </a:r>
            <a:endParaRPr lang="zh-CN" altLang="en-US" sz="1000" dirty="0">
              <a:latin typeface="Times New Roman" panose="02020503050405090304" pitchFamily="18" charset="0"/>
              <a:cs typeface="Times New Roman" panose="02020503050405090304" pitchFamily="18" charset="0"/>
            </a:endParaRPr>
          </a:p>
        </p:txBody>
      </p:sp>
      <p:sp>
        <p:nvSpPr>
          <p:cNvPr id="10" name="矩形: 圆角 9"/>
          <p:cNvSpPr/>
          <p:nvPr/>
        </p:nvSpPr>
        <p:spPr>
          <a:xfrm>
            <a:off x="2516764" y="965231"/>
            <a:ext cx="847344" cy="731520"/>
          </a:xfrm>
          <a:prstGeom prst="round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11"/>
          <p:cNvCxnSpPr>
            <a:stCxn id="10" idx="1"/>
          </p:cNvCxnSpPr>
          <p:nvPr/>
        </p:nvCxnSpPr>
        <p:spPr>
          <a:xfrm flipH="1" flipV="1">
            <a:off x="1705996" y="1312703"/>
            <a:ext cx="810768" cy="182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5764357" y="1738361"/>
            <a:ext cx="3542365" cy="600164"/>
          </a:xfrm>
          <a:prstGeom prst="rect">
            <a:avLst/>
          </a:prstGeom>
          <a:noFill/>
        </p:spPr>
        <p:txBody>
          <a:bodyPr wrap="square">
            <a:spAutoFit/>
          </a:bodyPr>
          <a:lstStyle/>
          <a:p>
            <a:r>
              <a:rPr lang="zh-CN" altLang="en-US" sz="1100" dirty="0">
                <a:latin typeface="Times New Roman" panose="02020503050405090304" pitchFamily="18" charset="0"/>
                <a:cs typeface="Times New Roman" panose="02020503050405090304" pitchFamily="18" charset="0"/>
              </a:rPr>
              <a:t>❷ </a:t>
            </a:r>
            <a:r>
              <a:rPr lang="en-US" altLang="zh-CN" sz="1100" dirty="0">
                <a:latin typeface="Times New Roman" panose="02020503050405090304" pitchFamily="18" charset="0"/>
                <a:cs typeface="Times New Roman" panose="02020503050405090304" pitchFamily="18" charset="0"/>
              </a:rPr>
              <a:t>The right panel visualizes the relationship between </a:t>
            </a:r>
            <a:r>
              <a:rPr lang="en-US" altLang="zh-CN" sz="1100" b="1" dirty="0">
                <a:latin typeface="Times New Roman" panose="02020503050405090304" pitchFamily="18" charset="0"/>
                <a:cs typeface="Times New Roman" panose="02020503050405090304" pitchFamily="18" charset="0"/>
              </a:rPr>
              <a:t>regulatory news sentiment </a:t>
            </a:r>
            <a:r>
              <a:rPr lang="en-US" altLang="zh-CN" sz="1100" dirty="0">
                <a:latin typeface="Times New Roman" panose="02020503050405090304" pitchFamily="18" charset="0"/>
                <a:cs typeface="Times New Roman" panose="02020503050405090304" pitchFamily="18" charset="0"/>
              </a:rPr>
              <a:t>and </a:t>
            </a:r>
            <a:r>
              <a:rPr lang="en-US" altLang="zh-CN" sz="1100" b="1" dirty="0">
                <a:latin typeface="Times New Roman" panose="02020503050405090304" pitchFamily="18" charset="0"/>
                <a:cs typeface="Times New Roman" panose="02020503050405090304" pitchFamily="18" charset="0"/>
              </a:rPr>
              <a:t>bank profitability changes.</a:t>
            </a:r>
            <a:endParaRPr lang="zh-CN" altLang="en-US" sz="1100" b="1" dirty="0">
              <a:latin typeface="Times New Roman" panose="02020503050405090304" pitchFamily="18" charset="0"/>
              <a:cs typeface="Times New Roman" panose="02020503050405090304" pitchFamily="18" charset="0"/>
            </a:endParaRPr>
          </a:p>
        </p:txBody>
      </p:sp>
      <p:sp>
        <p:nvSpPr>
          <p:cNvPr id="15" name="椭圆 14"/>
          <p:cNvSpPr/>
          <p:nvPr/>
        </p:nvSpPr>
        <p:spPr>
          <a:xfrm>
            <a:off x="3187911" y="1464294"/>
            <a:ext cx="2415786" cy="1176528"/>
          </a:xfrm>
          <a:prstGeom prst="ellipse">
            <a:avLst/>
          </a:prstGeom>
          <a:noFill/>
          <a:ln w="63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箭头连接符 16"/>
          <p:cNvCxnSpPr>
            <a:stCxn id="15" idx="6"/>
          </p:cNvCxnSpPr>
          <p:nvPr/>
        </p:nvCxnSpPr>
        <p:spPr>
          <a:xfrm>
            <a:off x="5603697" y="2052558"/>
            <a:ext cx="2789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182880" y="3043734"/>
            <a:ext cx="1956816" cy="1015663"/>
          </a:xfrm>
          <a:prstGeom prst="rect">
            <a:avLst/>
          </a:prstGeom>
          <a:noFill/>
        </p:spPr>
        <p:txBody>
          <a:bodyPr wrap="square">
            <a:spAutoFit/>
          </a:bodyPr>
          <a:lstStyle/>
          <a:p>
            <a:pPr algn="ctr"/>
            <a:r>
              <a:rPr lang="zh-CN" altLang="en-US" sz="1000" dirty="0">
                <a:latin typeface="Times New Roman" panose="02020503050405090304" pitchFamily="18" charset="0"/>
                <a:cs typeface="Times New Roman" panose="02020503050405090304" pitchFamily="18" charset="0"/>
              </a:rPr>
              <a:t>❸</a:t>
            </a:r>
            <a:r>
              <a:rPr lang="en-US" altLang="zh-CN" sz="1000" b="1" dirty="0">
                <a:latin typeface="Times New Roman" panose="02020503050405090304" pitchFamily="18" charset="0"/>
                <a:cs typeface="Times New Roman" panose="02020503050405090304" pitchFamily="18" charset="0"/>
              </a:rPr>
              <a:t>It also shows the geographic distribution of banking stress across states. Interactive charts allow users to explore risk patterns across states.</a:t>
            </a:r>
            <a:endParaRPr lang="en-US" altLang="zh-CN" sz="1000" dirty="0">
              <a:latin typeface="Times New Roman" panose="02020503050405090304" pitchFamily="18" charset="0"/>
              <a:cs typeface="Times New Roman" panose="02020503050405090304" pitchFamily="18" charset="0"/>
            </a:endParaRPr>
          </a:p>
          <a:p>
            <a:pPr algn="ctr"/>
            <a:endParaRPr lang="zh-CN" altLang="en-US" sz="1000" dirty="0">
              <a:latin typeface="Times New Roman" panose="02020503050405090304" pitchFamily="18" charset="0"/>
              <a:cs typeface="Times New Roman" panose="02020503050405090304" pitchFamily="18" charset="0"/>
            </a:endParaRPr>
          </a:p>
        </p:txBody>
      </p:sp>
      <p:cxnSp>
        <p:nvCxnSpPr>
          <p:cNvPr id="21" name="直接箭头连接符 20"/>
          <p:cNvCxnSpPr>
            <a:endCxn id="19" idx="3"/>
          </p:cNvCxnSpPr>
          <p:nvPr/>
        </p:nvCxnSpPr>
        <p:spPr>
          <a:xfrm flipH="1">
            <a:off x="2139696" y="3551565"/>
            <a:ext cx="133502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5882640" y="4416762"/>
            <a:ext cx="2902286" cy="400110"/>
          </a:xfrm>
          <a:prstGeom prst="rect">
            <a:avLst/>
          </a:prstGeom>
          <a:noFill/>
        </p:spPr>
        <p:txBody>
          <a:bodyPr wrap="square">
            <a:spAutoFit/>
          </a:bodyPr>
          <a:lstStyle/>
          <a:p>
            <a:pPr>
              <a:buNone/>
            </a:pPr>
            <a:r>
              <a:rPr lang="zh-CN" altLang="en-US" sz="1000" dirty="0">
                <a:latin typeface="Times New Roman" panose="02020503050405090304" pitchFamily="18" charset="0"/>
                <a:cs typeface="Times New Roman" panose="02020503050405090304" pitchFamily="18" charset="0"/>
              </a:rPr>
              <a:t>❹</a:t>
            </a:r>
            <a:r>
              <a:rPr lang="en-US" altLang="zh-CN" sz="1000" b="1" dirty="0">
                <a:latin typeface="Times New Roman" panose="02020503050405090304" pitchFamily="18" charset="0"/>
                <a:cs typeface="Times New Roman" panose="02020503050405090304" pitchFamily="18" charset="0"/>
              </a:rPr>
              <a:t>The bottom section displays the corresponding state-level data outputs.</a:t>
            </a:r>
            <a:endParaRPr lang="en-US" altLang="zh-CN" sz="1000" dirty="0">
              <a:latin typeface="Times New Roman" panose="02020503050405090304" pitchFamily="18" charset="0"/>
              <a:cs typeface="Times New Roman" panose="02020503050405090304" pitchFamily="18" charset="0"/>
            </a:endParaRPr>
          </a:p>
        </p:txBody>
      </p:sp>
      <p:sp>
        <p:nvSpPr>
          <p:cNvPr id="24" name="矩形: 圆角 23"/>
          <p:cNvSpPr/>
          <p:nvPr/>
        </p:nvSpPr>
        <p:spPr>
          <a:xfrm>
            <a:off x="3243072" y="4163568"/>
            <a:ext cx="2151888" cy="697828"/>
          </a:xfrm>
          <a:prstGeom prst="roundRect">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箭头连接符 25"/>
          <p:cNvCxnSpPr/>
          <p:nvPr/>
        </p:nvCxnSpPr>
        <p:spPr>
          <a:xfrm>
            <a:off x="5394960" y="4535424"/>
            <a:ext cx="5913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5974080" y="952535"/>
            <a:ext cx="2621280" cy="307777"/>
          </a:xfrm>
          <a:prstGeom prst="rect">
            <a:avLst/>
          </a:prstGeom>
          <a:noFill/>
        </p:spPr>
        <p:txBody>
          <a:bodyPr wrap="square" rtlCol="0">
            <a:spAutoFit/>
          </a:bodyPr>
          <a:lstStyle/>
          <a:p>
            <a:r>
              <a:rPr lang="en-US" altLang="zh-CN" dirty="0">
                <a:hlinkClick r:id="rId4"/>
              </a:rPr>
              <a:t>http://localhost:/</a:t>
            </a:r>
            <a:endParaRPr lang="en-US" altLang="zh-CN" dirty="0"/>
          </a:p>
        </p:txBody>
      </p:sp>
      <p:sp>
        <p:nvSpPr>
          <p:cNvPr id="29" name="Google Shape;136;p25"/>
          <p:cNvSpPr txBox="1"/>
          <p:nvPr/>
        </p:nvSpPr>
        <p:spPr>
          <a:xfrm>
            <a:off x="182880" y="4887468"/>
            <a:ext cx="6400800" cy="230792"/>
          </a:xfrm>
          <a:prstGeom prst="rect">
            <a:avLst/>
          </a:prstGeom>
          <a:noFill/>
          <a:ln>
            <a:noFill/>
          </a:ln>
        </p:spPr>
        <p:txBody>
          <a:bodyPr spcFirstLastPara="1" wrap="square" lIns="91425" tIns="45700" rIns="91425" bIns="45700" anchor="t" anchorCtr="0">
            <a:spAutoFit/>
          </a:bodyPr>
          <a:lstStyle/>
          <a:p>
            <a:pPr lvl="0"/>
            <a:r>
              <a:rPr lang="en-US" sz="900" dirty="0">
                <a:solidFill>
                  <a:srgbClr val="FFFFFF"/>
                </a:solidFill>
                <a:latin typeface="Calibri"/>
                <a:ea typeface="Calibri"/>
                <a:cs typeface="Calibri"/>
                <a:sym typeface="Calibri"/>
              </a:rPr>
              <a:t>Data Analytics and Visualization for Public Policy</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6"/>
          <p:cNvSpPr/>
          <p:nvPr/>
        </p:nvSpPr>
        <p:spPr>
          <a:xfrm>
            <a:off x="0" y="0"/>
            <a:ext cx="9144000" cy="502920"/>
          </a:xfrm>
          <a:prstGeom prst="rect">
            <a:avLst/>
          </a:prstGeom>
          <a:solidFill>
            <a:srgbClr val="80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44" name="Google Shape;144;p26" descr="1772584450591_image.png"/>
          <p:cNvPicPr preferRelativeResize="0"/>
          <p:nvPr/>
        </p:nvPicPr>
        <p:blipFill rotWithShape="1">
          <a:blip r:embed="rId1"/>
          <a:srcRect/>
          <a:stretch>
            <a:fillRect/>
          </a:stretch>
        </p:blipFill>
        <p:spPr>
          <a:xfrm>
            <a:off x="0" y="0"/>
            <a:ext cx="9144000" cy="502920"/>
          </a:xfrm>
          <a:prstGeom prst="rect">
            <a:avLst/>
          </a:prstGeom>
          <a:noFill/>
          <a:ln>
            <a:noFill/>
          </a:ln>
        </p:spPr>
      </p:pic>
      <p:sp>
        <p:nvSpPr>
          <p:cNvPr id="145" name="Google Shape;145;p26"/>
          <p:cNvSpPr txBox="1"/>
          <p:nvPr/>
        </p:nvSpPr>
        <p:spPr>
          <a:xfrm>
            <a:off x="365760" y="548640"/>
            <a:ext cx="8412480" cy="4286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en-GB" sz="2200" b="1" i="0" u="none" strike="noStrike" cap="none">
                <a:solidFill>
                  <a:srgbClr val="800000"/>
                </a:solidFill>
                <a:latin typeface="Calibri"/>
                <a:ea typeface="Calibri"/>
                <a:cs typeface="Calibri"/>
                <a:sym typeface="Calibri"/>
              </a:rPr>
              <a:t>Connection to </a:t>
            </a:r>
            <a:r>
              <a:rPr lang="en-US" altLang="en-GB" sz="2200" b="1" i="0" u="none" strike="noStrike" cap="none">
                <a:solidFill>
                  <a:srgbClr val="800000"/>
                </a:solidFill>
                <a:latin typeface="Calibri"/>
                <a:ea typeface="Calibri"/>
                <a:cs typeface="Calibri"/>
                <a:sym typeface="Calibri"/>
              </a:rPr>
              <a:t>Policy</a:t>
            </a:r>
            <a:endParaRPr lang="en-US" altLang="en-GB" sz="2200" b="1" i="0" u="none" strike="noStrike" cap="none">
              <a:solidFill>
                <a:srgbClr val="800000"/>
              </a:solidFill>
              <a:latin typeface="Calibri"/>
              <a:ea typeface="Calibri"/>
              <a:cs typeface="Calibri"/>
              <a:sym typeface="Calibri"/>
            </a:endParaRPr>
          </a:p>
        </p:txBody>
      </p:sp>
      <p:sp>
        <p:nvSpPr>
          <p:cNvPr id="146" name="Google Shape;146;p26"/>
          <p:cNvSpPr txBox="1"/>
          <p:nvPr/>
        </p:nvSpPr>
        <p:spPr>
          <a:xfrm>
            <a:off x="365700" y="1692716"/>
            <a:ext cx="8412600" cy="2479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zh-CN" sz="1350" dirty="0">
                <a:latin typeface="Times New Roman" panose="02020503050405090304" pitchFamily="18" charset="0"/>
                <a:ea typeface="Calibri"/>
                <a:cs typeface="Times New Roman" panose="02020503050405090304" pitchFamily="18" charset="0"/>
                <a:sym typeface="Calibri"/>
              </a:rPr>
              <a:t>Regulatory perspective, not trading</a:t>
            </a:r>
            <a:endParaRPr lang="en-US" altLang="zh-CN" sz="1350" dirty="0">
              <a:latin typeface="Times New Roman" panose="02020503050405090304" pitchFamily="18" charset="0"/>
              <a:ea typeface="Calibri"/>
              <a:cs typeface="Times New Roman" panose="02020503050405090304" pitchFamily="18" charset="0"/>
              <a:sym typeface="Calibri"/>
            </a:endParaRPr>
          </a:p>
          <a:p>
            <a:pPr marL="0" lvl="0" indent="0" algn="l" rtl="0">
              <a:lnSpc>
                <a:spcPct val="150000"/>
              </a:lnSpc>
              <a:spcBef>
                <a:spcPts val="0"/>
              </a:spcBef>
              <a:spcAft>
                <a:spcPts val="0"/>
              </a:spcAft>
              <a:buClr>
                <a:schemeClr val="dk1"/>
              </a:buClr>
              <a:buSzPts val="1100"/>
              <a:buFont typeface="Arial" panose="020B0604020202090204"/>
              <a:buNone/>
            </a:pPr>
            <a:r>
              <a:rPr lang="en-US" altLang="zh-CN" sz="1350" b="0" i="0" u="none" strike="noStrike" cap="none" dirty="0">
                <a:solidFill>
                  <a:srgbClr val="000000"/>
                </a:solidFill>
                <a:latin typeface="Times New Roman" panose="02020503050405090304" pitchFamily="18" charset="0"/>
                <a:ea typeface="Calibri"/>
                <a:cs typeface="Times New Roman" panose="02020503050405090304" pitchFamily="18" charset="0"/>
                <a:sym typeface="Calibri"/>
              </a:rPr>
              <a:t>StressScore as a targeting tool under limited attention</a:t>
            </a:r>
            <a:endParaRPr lang="en-US" altLang="zh-CN" sz="1350" b="0" i="0" u="none" strike="noStrike" cap="none" dirty="0">
              <a:solidFill>
                <a:srgbClr val="000000"/>
              </a:solidFill>
              <a:latin typeface="Times New Roman" panose="02020503050405090304" pitchFamily="18" charset="0"/>
              <a:ea typeface="Calibri"/>
              <a:cs typeface="Times New Roman" panose="02020503050405090304" pitchFamily="18" charset="0"/>
              <a:sym typeface="Calibri"/>
            </a:endParaRPr>
          </a:p>
          <a:p>
            <a:pPr marL="0" lvl="0" indent="0" algn="l" rtl="0">
              <a:lnSpc>
                <a:spcPct val="150000"/>
              </a:lnSpc>
              <a:spcBef>
                <a:spcPts val="0"/>
              </a:spcBef>
              <a:spcAft>
                <a:spcPts val="0"/>
              </a:spcAft>
              <a:buClr>
                <a:schemeClr val="dk1"/>
              </a:buClr>
              <a:buSzPts val="1100"/>
              <a:buFont typeface="Arial" panose="020B0604020202090204"/>
              <a:buNone/>
            </a:pPr>
            <a:r>
              <a:rPr lang="en-US" altLang="zh-CN" sz="1350" b="0" i="0" u="none" strike="noStrike" cap="none" dirty="0">
                <a:solidFill>
                  <a:srgbClr val="000000"/>
                </a:solidFill>
                <a:latin typeface="Times New Roman" panose="02020503050405090304" pitchFamily="18" charset="0"/>
                <a:ea typeface="Calibri"/>
                <a:cs typeface="Times New Roman" panose="02020503050405090304" pitchFamily="18" charset="0"/>
                <a:sym typeface="Calibri"/>
              </a:rPr>
              <a:t>Geographic concentration of risk and early intervention</a:t>
            </a:r>
            <a:endParaRPr lang="en-US" altLang="zh-CN" sz="1350" b="0" i="0" u="none" strike="noStrike" cap="none" dirty="0">
              <a:solidFill>
                <a:srgbClr val="000000"/>
              </a:solidFill>
              <a:latin typeface="Times New Roman" panose="02020503050405090304" pitchFamily="18" charset="0"/>
              <a:ea typeface="Calibri"/>
              <a:cs typeface="Times New Roman" panose="02020503050405090304" pitchFamily="18" charset="0"/>
              <a:sym typeface="Calibri"/>
            </a:endParaRPr>
          </a:p>
          <a:p>
            <a:pPr marL="0" lvl="0" indent="0" algn="l" rtl="0">
              <a:lnSpc>
                <a:spcPct val="150000"/>
              </a:lnSpc>
              <a:spcBef>
                <a:spcPts val="0"/>
              </a:spcBef>
              <a:spcAft>
                <a:spcPts val="0"/>
              </a:spcAft>
              <a:buClr>
                <a:schemeClr val="dk1"/>
              </a:buClr>
              <a:buSzPts val="1100"/>
              <a:buFont typeface="Arial" panose="020B0604020202090204"/>
              <a:buNone/>
            </a:pPr>
            <a:endParaRPr lang="en-US" altLang="zh-CN" sz="1350" b="0" i="0" u="none" strike="noStrike" cap="none" dirty="0">
              <a:solidFill>
                <a:srgbClr val="000000"/>
              </a:solidFill>
              <a:latin typeface="Times New Roman" panose="02020503050405090304" pitchFamily="18" charset="0"/>
              <a:ea typeface="Calibri"/>
              <a:cs typeface="Times New Roman" panose="02020503050405090304" pitchFamily="18" charset="0"/>
              <a:sym typeface="Calibri"/>
            </a:endParaRPr>
          </a:p>
          <a:p>
            <a:pPr marL="0" lvl="0" indent="0" algn="l" rtl="0">
              <a:lnSpc>
                <a:spcPct val="150000"/>
              </a:lnSpc>
              <a:spcBef>
                <a:spcPts val="0"/>
              </a:spcBef>
              <a:spcAft>
                <a:spcPts val="0"/>
              </a:spcAft>
              <a:buClr>
                <a:schemeClr val="dk1"/>
              </a:buClr>
              <a:buSzPts val="1100"/>
              <a:buFont typeface="Arial" panose="020B0604020202090204"/>
              <a:buNone/>
            </a:pPr>
            <a:endParaRPr lang="en-US" altLang="zh-CN" sz="1350" b="0" i="0" u="none" strike="noStrike" cap="none" dirty="0">
              <a:solidFill>
                <a:srgbClr val="000000"/>
              </a:solidFill>
              <a:latin typeface="Times New Roman" panose="02020503050405090304" pitchFamily="18" charset="0"/>
              <a:ea typeface="Calibri"/>
              <a:cs typeface="Times New Roman" panose="02020503050405090304" pitchFamily="18" charset="0"/>
              <a:sym typeface="Calibri"/>
            </a:endParaRPr>
          </a:p>
          <a:p>
            <a:pPr marL="0" lvl="0" indent="0" algn="l" rtl="0">
              <a:lnSpc>
                <a:spcPct val="150000"/>
              </a:lnSpc>
              <a:spcBef>
                <a:spcPts val="0"/>
              </a:spcBef>
              <a:spcAft>
                <a:spcPts val="0"/>
              </a:spcAft>
              <a:buClr>
                <a:schemeClr val="dk1"/>
              </a:buClr>
              <a:buSzPts val="1100"/>
              <a:buFont typeface="Arial" panose="020B0604020202090204"/>
              <a:buNone/>
            </a:pPr>
            <a:endParaRPr lang="en-US" altLang="zh-CN" sz="1350" b="0" i="0" u="none" strike="noStrike" cap="none" dirty="0">
              <a:solidFill>
                <a:srgbClr val="000000"/>
              </a:solidFill>
              <a:latin typeface="Times New Roman" panose="02020503050405090304" pitchFamily="18" charset="0"/>
              <a:ea typeface="Calibri"/>
              <a:cs typeface="Times New Roman" panose="02020503050405090304" pitchFamily="18" charset="0"/>
              <a:sym typeface="Calibri"/>
            </a:endParaRPr>
          </a:p>
          <a:p>
            <a:pPr marL="0" lvl="0" indent="0" algn="l" rtl="0">
              <a:lnSpc>
                <a:spcPct val="150000"/>
              </a:lnSpc>
              <a:spcBef>
                <a:spcPts val="0"/>
              </a:spcBef>
              <a:spcAft>
                <a:spcPts val="0"/>
              </a:spcAft>
              <a:buClr>
                <a:schemeClr val="dk1"/>
              </a:buClr>
              <a:buSzPts val="1100"/>
              <a:buFont typeface="Arial" panose="020B0604020202090204"/>
              <a:buNone/>
            </a:pPr>
            <a:r>
              <a:rPr lang="en-US" altLang="zh-CN" sz="1350" b="1" dirty="0">
                <a:latin typeface="Times New Roman" panose="02020503050405090304" pitchFamily="18" charset="0"/>
                <a:ea typeface="Calibri"/>
                <a:cs typeface="Times New Roman" panose="02020503050405090304" pitchFamily="18" charset="0"/>
                <a:sym typeface="Calibri"/>
              </a:rPr>
              <a:t>It is not just an ML/LLM prediction exercise, it </a:t>
            </a:r>
            <a:r>
              <a:rPr lang="en-US" altLang="zh-CN" sz="1350" b="1" dirty="0">
                <a:latin typeface="Times New Roman" panose="02020503050405090304" pitchFamily="18" charset="0"/>
                <a:ea typeface="Calibri"/>
                <a:cs typeface="Times New Roman" panose="02020503050405090304" pitchFamily="18" charset="0"/>
                <a:sym typeface="Calibri"/>
              </a:rPr>
              <a:t>is also a prototype for how to allocate scarce supervisory resources more intelligently.</a:t>
            </a:r>
            <a:endParaRPr sz="1350" dirty="0">
              <a:latin typeface="Calibri"/>
              <a:ea typeface="Calibri"/>
              <a:cs typeface="Calibri"/>
              <a:sym typeface="Calibri"/>
            </a:endParaRPr>
          </a:p>
        </p:txBody>
      </p:sp>
      <p:sp>
        <p:nvSpPr>
          <p:cNvPr id="147" name="Google Shape;147;p26"/>
          <p:cNvSpPr/>
          <p:nvPr/>
        </p:nvSpPr>
        <p:spPr>
          <a:xfrm>
            <a:off x="0" y="4887468"/>
            <a:ext cx="9144000" cy="256032"/>
          </a:xfrm>
          <a:prstGeom prst="rect">
            <a:avLst/>
          </a:prstGeom>
          <a:solidFill>
            <a:srgbClr val="800000"/>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26"/>
          <p:cNvSpPr txBox="1"/>
          <p:nvPr/>
        </p:nvSpPr>
        <p:spPr>
          <a:xfrm>
            <a:off x="6583680" y="4887468"/>
            <a:ext cx="2377440" cy="23079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900" b="0" i="0" u="none" strike="noStrike" cap="none" dirty="0">
                <a:solidFill>
                  <a:srgbClr val="FFFFFF"/>
                </a:solidFill>
                <a:latin typeface="Calibri"/>
                <a:ea typeface="Calibri"/>
                <a:cs typeface="Calibri"/>
                <a:sym typeface="Calibri"/>
              </a:rPr>
              <a:t>2 / </a:t>
            </a:r>
            <a:r>
              <a:rPr lang="en-GB" sz="900" dirty="0">
                <a:solidFill>
                  <a:srgbClr val="FFFFFF"/>
                </a:solidFill>
                <a:latin typeface="Calibri"/>
                <a:ea typeface="Calibri"/>
                <a:cs typeface="Calibri"/>
                <a:sym typeface="Calibri"/>
              </a:rPr>
              <a:t>8</a:t>
            </a:r>
            <a:endParaRPr dirty="0"/>
          </a:p>
        </p:txBody>
      </p:sp>
      <p:pic>
        <p:nvPicPr>
          <p:cNvPr id="150" name="Google Shape;150;p26" title="uchicago.png"/>
          <p:cNvPicPr preferRelativeResize="0"/>
          <p:nvPr/>
        </p:nvPicPr>
        <p:blipFill>
          <a:blip r:embed="rId2"/>
          <a:stretch>
            <a:fillRect/>
          </a:stretch>
        </p:blipFill>
        <p:spPr>
          <a:xfrm>
            <a:off x="8350949" y="502925"/>
            <a:ext cx="793051" cy="957076"/>
          </a:xfrm>
          <a:prstGeom prst="rect">
            <a:avLst/>
          </a:prstGeom>
          <a:noFill/>
          <a:ln>
            <a:noFill/>
          </a:ln>
        </p:spPr>
      </p:pic>
      <p:sp>
        <p:nvSpPr>
          <p:cNvPr id="3" name="Google Shape;136;p25"/>
          <p:cNvSpPr txBox="1"/>
          <p:nvPr/>
        </p:nvSpPr>
        <p:spPr>
          <a:xfrm>
            <a:off x="182880" y="4887468"/>
            <a:ext cx="6400800" cy="230792"/>
          </a:xfrm>
          <a:prstGeom prst="rect">
            <a:avLst/>
          </a:prstGeom>
          <a:noFill/>
          <a:ln>
            <a:noFill/>
          </a:ln>
        </p:spPr>
        <p:txBody>
          <a:bodyPr spcFirstLastPara="1" wrap="square" lIns="91425" tIns="45700" rIns="91425" bIns="45700" anchor="t" anchorCtr="0">
            <a:spAutoFit/>
          </a:bodyPr>
          <a:lstStyle/>
          <a:p>
            <a:pPr lvl="0"/>
            <a:r>
              <a:rPr lang="en-US" sz="900" dirty="0">
                <a:solidFill>
                  <a:srgbClr val="FFFFFF"/>
                </a:solidFill>
                <a:latin typeface="Calibri"/>
                <a:ea typeface="Calibri"/>
                <a:cs typeface="Calibri"/>
                <a:sym typeface="Calibri"/>
              </a:rPr>
              <a:t>Data Analytics and Visualization for PublicPolicy</a:t>
            </a:r>
            <a:endParaRPr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5594</Words>
  <Application>WPS 演示</Application>
  <PresentationFormat>全屏显示(16:9)</PresentationFormat>
  <Paragraphs>251</Paragraphs>
  <Slides>9</Slides>
  <Notes>8</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9</vt:i4>
      </vt:variant>
    </vt:vector>
  </HeadingPairs>
  <TitlesOfParts>
    <vt:vector size="28" baseType="lpstr">
      <vt:lpstr>Arial</vt:lpstr>
      <vt:lpstr>宋体</vt:lpstr>
      <vt:lpstr>Wingdings</vt:lpstr>
      <vt:lpstr>Arial</vt:lpstr>
      <vt:lpstr>Calibri</vt:lpstr>
      <vt:lpstr>Helvetica Neue</vt:lpstr>
      <vt:lpstr>Times New Roman</vt:lpstr>
      <vt:lpstr>Courier New</vt:lpstr>
      <vt:lpstr>Times New Roman</vt:lpstr>
      <vt:lpstr>微软雅黑</vt:lpstr>
      <vt:lpstr>汉仪旗黑</vt:lpstr>
      <vt:lpstr>宋体</vt:lpstr>
      <vt:lpstr>Arial Unicode MS</vt:lpstr>
      <vt:lpstr>汉仪书宋二KW</vt:lpstr>
      <vt:lpstr>Courier New</vt:lpstr>
      <vt:lpstr>Hiragino Kaku Gothic ProN</vt:lpstr>
      <vt:lpstr>苹方-简</vt:lpstr>
      <vt:lpstr>Simple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songyi huang</dc:creator>
  <cp:lastModifiedBy>loomboo</cp:lastModifiedBy>
  <cp:revision>18</cp:revision>
  <dcterms:created xsi:type="dcterms:W3CDTF">2026-03-04T17:08:41Z</dcterms:created>
  <dcterms:modified xsi:type="dcterms:W3CDTF">2026-03-04T17:08:41Z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2052-12.1.25195.25195</vt:lpwstr>
  </property>
  <property fmtid="{D5CDD505-2E9C-101B-9397-08002B2CF9AE}" pid="3" name="ICV">
    <vt:lpwstr>20E548AF79D095B4CB4BA869F8E20FA5_43</vt:lpwstr>
  </property>
</Properties>
</file>